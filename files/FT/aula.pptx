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87" r:id="rId8"/>
    <p:sldId id="288" r:id="rId9"/>
    <p:sldId id="289" r:id="rId10"/>
    <p:sldId id="290" r:id="rId11"/>
    <p:sldId id="291" r:id="rId12"/>
    <p:sldId id="283" r:id="rId13"/>
    <p:sldId id="292" r:id="rId14"/>
    <p:sldId id="293" r:id="rId15"/>
    <p:sldId id="294" r:id="rId16"/>
    <p:sldId id="295" r:id="rId17"/>
    <p:sldId id="296" r:id="rId18"/>
    <p:sldId id="306" r:id="rId19"/>
    <p:sldId id="297" r:id="rId20"/>
    <p:sldId id="298" r:id="rId21"/>
    <p:sldId id="266" r:id="rId22"/>
    <p:sldId id="299" r:id="rId23"/>
    <p:sldId id="300" r:id="rId24"/>
    <p:sldId id="265" r:id="rId25"/>
    <p:sldId id="301" r:id="rId26"/>
    <p:sldId id="302" r:id="rId27"/>
    <p:sldId id="284" r:id="rId28"/>
    <p:sldId id="267" r:id="rId29"/>
    <p:sldId id="262" r:id="rId30"/>
    <p:sldId id="263" r:id="rId31"/>
    <p:sldId id="264" r:id="rId32"/>
    <p:sldId id="303" r:id="rId33"/>
    <p:sldId id="268" r:id="rId34"/>
    <p:sldId id="270" r:id="rId35"/>
    <p:sldId id="285" r:id="rId36"/>
    <p:sldId id="272" r:id="rId37"/>
    <p:sldId id="273" r:id="rId38"/>
    <p:sldId id="286" r:id="rId39"/>
    <p:sldId id="274" r:id="rId40"/>
    <p:sldId id="275" r:id="rId41"/>
    <p:sldId id="305" r:id="rId42"/>
    <p:sldId id="276" r:id="rId43"/>
    <p:sldId id="277" r:id="rId44"/>
    <p:sldId id="278" r:id="rId45"/>
    <p:sldId id="279" r:id="rId46"/>
    <p:sldId id="280" r:id="rId47"/>
    <p:sldId id="281" r:id="rId48"/>
    <p:sldId id="282"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602C"/>
    <a:srgbClr val="EEF5F7"/>
    <a:srgbClr val="FFFFFF"/>
    <a:srgbClr val="035A81"/>
    <a:srgbClr val="0FA3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61"/>
    <p:restoredTop sz="88827"/>
  </p:normalViewPr>
  <p:slideViewPr>
    <p:cSldViewPr snapToGrid="0" snapToObjects="1">
      <p:cViewPr varScale="1">
        <p:scale>
          <a:sx n="180" d="100"/>
          <a:sy n="180" d="100"/>
        </p:scale>
        <p:origin x="22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692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(dizer em voz alta, ~1 min). Cumprimentar a banca e agradecer a oportunidade. Frase de abertura sugerida: 'Bom dia. A aula de hoje trata da transferência de calor por convecção, um dos três mecanismos de transferência de calor estudados em Fenômenos de Transporte, com foco na Lei de Resfriamento de Newton e nos coeficientes convectivos. Ao longo da aula vou destacar aplicações diretas na atuação do Engenheiro Ambiental, como torres de resfriamento, poluição térmica de corpos hídricos e dispersão atmosférica de poluentes.' Informar a duração prevista (50-60 min) e que haverá um estudo de caso aplicado.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Apresentar o roteiro rapidamente (1 min), sem ler todos os itens - apenas orientar a banca sobre a estrutura. Reforçar que a estrutura segue uma lógica: do conceito -&gt; para a lei matemática -&gt; para números adimensionais -&gt; para aplicação prática. Isso demonstra planejamento e organização (critério III da avaliação).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que a aula está inserida em um fio condutor lógico da disciplina - isso atende diretamente ao critério I (adequação ao tema e coerência com o conteúdo programático). Explicar: já foram vistos fluidos em repouso e em movimento, e as equações de conservação (massa, quantidade de movimento, energia). A partir da equação da energia, chega-se aos três mecanismos de transferência de calor: condução (aula anterior), convecção (hoje) e radiação (próxima aula). Depois vem transferência de massa e análise dimensional.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motivação. Objetivo: mostrar à banca que a aula foi pensada para o público de Engenharia Ambiental, não é uma aula genérica de Fenômenos de Transporte. Passar por cada item rapidamente, com 1 frase cada. Esse é o fio condutor que será retomado no estudo de caso.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Revisão rápida (não é o foco da aula, apenas orientação). Explicar as 3 formas de transferência de calor e destacar que a aula anterior tratou de condução (Lei de Fourier) e que hoje o foco é convecção. Radiação fica para a próxima aula. Isso mostra domínio do encadeamento do conteúdo (critério I e II).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é o slide de definição formal. Explicar que a convecção é, na verdade, a soma de dois mecanismos: condução, nas camadas de fluido mais próximas da parede (praticamente paradas), e advecção, o transporte de energia pelo movimento em massa do fluido. Usar o esquema à direita: parede quente (Ts), fluido escoando (T infinito), setas de movimento levando calor embora. Enfatizar: sem movimento de fluido não existe convecção — seria só condução.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59E35-5815-4D34-EDC4-F70D8F2BE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4511C3-16E2-439D-E36C-29DFE0E487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B0C1F7-DD87-C901-3B7E-5D42F904B77C}"/>
              </a:ext>
            </a:extLst>
          </p:cNvPr>
          <p:cNvSpPr>
            <a:spLocks noGrp="1"/>
          </p:cNvSpPr>
          <p:nvPr>
            <p:ph type="body" idx="1"/>
          </p:nvPr>
        </p:nvSpPr>
        <p:spPr/>
        <p:txBody>
          <a:bodyPr/>
          <a:lstStyle/>
          <a:p>
            <a:r>
              <a:rPr lang="en-US" dirty="0"/>
              <a:t>Este é o slide de definição formal. Explicar que a convecção é, na verdade, a soma de dois mecanismos: condução, nas camadas de fluido mais próximas da parede (praticamente paradas), e advecção, o transporte de energia pelo movimento em massa do fluido. Usar o esquema à direita: parede quente (Ts), fluido escoando (T infinito), setas de movimento levando calor embora. Enfatizar: sem movimento de fluido não existe convecção — seria só condução.</a:t>
            </a:r>
          </a:p>
        </p:txBody>
      </p:sp>
      <p:sp>
        <p:nvSpPr>
          <p:cNvPr id="4" name="Slide Number Placeholder 3">
            <a:extLst>
              <a:ext uri="{FF2B5EF4-FFF2-40B4-BE49-F238E27FC236}">
                <a16:creationId xmlns:a16="http://schemas.microsoft.com/office/drawing/2014/main" id="{6C821240-3C6A-E56D-E721-D36696B28BF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999211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922DF-C310-DDBE-1A40-192D586F68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A2B1F-61C3-D3C2-DAEC-68859E3A4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262FB3-2085-9B8C-A433-C4493BD23830}"/>
              </a:ext>
            </a:extLst>
          </p:cNvPr>
          <p:cNvSpPr>
            <a:spLocks noGrp="1"/>
          </p:cNvSpPr>
          <p:nvPr>
            <p:ph type="body" idx="1"/>
          </p:nvPr>
        </p:nvSpPr>
        <p:spPr/>
        <p:txBody>
          <a:bodyPr/>
          <a:lstStyle/>
          <a:p>
            <a:r>
              <a:rPr lang="en-US" dirty="0"/>
              <a:t>Este é o slide de definição formal. Explicar que a convecção é, na verdade, a soma de dois mecanismos: condução, nas camadas de fluido mais próximas da parede (praticamente paradas), e advecção, o transporte de energia pelo movimento em massa do fluido. Usar o esquema à direita: parede quente (Ts), fluido escoando (T infinito), setas de movimento levando calor embora. Enfatizar: sem movimento de fluido não existe convecção — seria só condução.</a:t>
            </a:r>
          </a:p>
        </p:txBody>
      </p:sp>
      <p:sp>
        <p:nvSpPr>
          <p:cNvPr id="4" name="Slide Number Placeholder 3">
            <a:extLst>
              <a:ext uri="{FF2B5EF4-FFF2-40B4-BE49-F238E27FC236}">
                <a16:creationId xmlns:a16="http://schemas.microsoft.com/office/drawing/2014/main" id="{C880B651-1B52-0DA1-0B96-B702E04F296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8631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CE954-34F7-F6C6-A970-6347A76198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7E3C5-7365-8DBC-D28C-D347F39872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465F1-8867-A548-7F5B-B93CD5EB53D2}"/>
              </a:ext>
            </a:extLst>
          </p:cNvPr>
          <p:cNvSpPr>
            <a:spLocks noGrp="1"/>
          </p:cNvSpPr>
          <p:nvPr>
            <p:ph type="body" idx="1"/>
          </p:nvPr>
        </p:nvSpPr>
        <p:spPr/>
        <p:txBody>
          <a:bodyPr/>
          <a:lstStyle/>
          <a:p>
            <a:r>
              <a:rPr lang="en-US" dirty="0"/>
              <a:t>Este é o slide de definição formal. Explicar que a convecção é, na verdade, a soma de dois mecanismos: condução, nas camadas de fluido mais próximas da parede (praticamente paradas), e advecção, o transporte de energia pelo movimento em massa do fluido. Usar o esquema à direita: parede quente (Ts), fluido escoando (T infinito), setas de movimento levando calor embora. Enfatizar: sem movimento de fluido não existe convecção — seria só condução.</a:t>
            </a:r>
          </a:p>
        </p:txBody>
      </p:sp>
      <p:sp>
        <p:nvSpPr>
          <p:cNvPr id="4" name="Slide Number Placeholder 3">
            <a:extLst>
              <a:ext uri="{FF2B5EF4-FFF2-40B4-BE49-F238E27FC236}">
                <a16:creationId xmlns:a16="http://schemas.microsoft.com/office/drawing/2014/main" id="{931BDDB0-F1CA-26AE-E10C-BCA0611C1446}"/>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882667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84147-B079-7A9A-4C46-CE50CDDCE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20A1-403B-F79C-0C74-09D9A5B560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199C1-7F5D-5A22-E033-E2D8F869016E}"/>
              </a:ext>
            </a:extLst>
          </p:cNvPr>
          <p:cNvSpPr>
            <a:spLocks noGrp="1"/>
          </p:cNvSpPr>
          <p:nvPr>
            <p:ph type="body" idx="1"/>
          </p:nvPr>
        </p:nvSpPr>
        <p:spPr/>
        <p:txBody>
          <a:bodyPr/>
          <a:lstStyle/>
          <a:p>
            <a:r>
              <a:rPr lang="en-US" dirty="0"/>
              <a:t>Este é o slide de definição formal. Explicar que a convecção é, na verdade, a soma de dois mecanismos: condução, nas camadas de fluido mais próximas da parede (praticamente paradas), e advecção, o transporte de energia pelo movimento em massa do fluido. Usar o esquema à direita: parede quente (Ts), fluido escoando (T infinito), setas de movimento levando calor embora. Enfatizar: sem movimento de fluido não existe convecção — seria só condução.</a:t>
            </a:r>
          </a:p>
        </p:txBody>
      </p:sp>
      <p:sp>
        <p:nvSpPr>
          <p:cNvPr id="4" name="Slide Number Placeholder 3">
            <a:extLst>
              <a:ext uri="{FF2B5EF4-FFF2-40B4-BE49-F238E27FC236}">
                <a16:creationId xmlns:a16="http://schemas.microsoft.com/office/drawing/2014/main" id="{6404CD3A-E356-C510-7FCD-5AD38D8D3502}"/>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081884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872EF-E002-C17B-E294-C1F466171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9A3A1B-EF00-4343-E98E-1BC0A1D50F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3B5FE-1429-497B-F580-23966FEF81C4}"/>
              </a:ext>
            </a:extLst>
          </p:cNvPr>
          <p:cNvSpPr>
            <a:spLocks noGrp="1"/>
          </p:cNvSpPr>
          <p:nvPr>
            <p:ph type="body" idx="1"/>
          </p:nvPr>
        </p:nvSpPr>
        <p:spPr/>
        <p:txBody>
          <a:bodyPr/>
          <a:lstStyle/>
          <a:p>
            <a:r>
              <a:rPr lang="en-US" dirty="0"/>
              <a:t>Este é o slide de definição formal. Explicar que a convecção é, na verdade, a soma de dois mecanismos: condução, nas camadas de fluido mais próximas da parede (praticamente paradas), e advecção, o transporte de energia pelo movimento em massa do fluido. Usar o esquema à direita: parede quente (Ts), fluido escoando (T infinito), setas de movimento levando calor embora. Enfatizar: sem movimento de fluido não existe convecção — seria só condução.</a:t>
            </a:r>
          </a:p>
        </p:txBody>
      </p:sp>
      <p:sp>
        <p:nvSpPr>
          <p:cNvPr id="4" name="Slide Number Placeholder 3">
            <a:extLst>
              <a:ext uri="{FF2B5EF4-FFF2-40B4-BE49-F238E27FC236}">
                <a16:creationId xmlns:a16="http://schemas.microsoft.com/office/drawing/2014/main" id="{BBC77463-EB5F-8F18-B0C6-02F4C083003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277367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75BCA-F277-646E-3E0A-F99FEE7182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4C325E-7CD2-592C-97D2-9A9E2B4A01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F90E0-5B5E-8D10-8893-6B4A1BFBC388}"/>
              </a:ext>
            </a:extLst>
          </p:cNvPr>
          <p:cNvSpPr>
            <a:spLocks noGrp="1"/>
          </p:cNvSpPr>
          <p:nvPr>
            <p:ph type="body" idx="1"/>
          </p:nvPr>
        </p:nvSpPr>
        <p:spPr/>
        <p:txBody>
          <a:bodyPr/>
          <a:lstStyle/>
          <a:p>
            <a:r>
              <a:rPr lang="en-US" dirty="0"/>
              <a:t>Introduzir o conceito de camada limite hidrodinâmica: região próxima à superfície onde a velocidade do fluido varia de zero (na parede, condição de não escorregamento) até o valor da corrente livre. A espessura dessa camada é delta. Fora dela, o escoamento é praticamente uniforme. Esse conceito é a base física para entender por que h depende do escoamento.</a:t>
            </a:r>
          </a:p>
        </p:txBody>
      </p:sp>
      <p:sp>
        <p:nvSpPr>
          <p:cNvPr id="4" name="Slide Number Placeholder 3">
            <a:extLst>
              <a:ext uri="{FF2B5EF4-FFF2-40B4-BE49-F238E27FC236}">
                <a16:creationId xmlns:a16="http://schemas.microsoft.com/office/drawing/2014/main" id="{4A194799-721C-A98C-14E7-C67851E2BFED}"/>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8705780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82520-ACBC-7A6C-5546-AC23716B6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102E50-359A-F3DF-BF8C-D34173AAC2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E012E3-A8C0-2945-C76D-8E7EB79882CA}"/>
              </a:ext>
            </a:extLst>
          </p:cNvPr>
          <p:cNvSpPr>
            <a:spLocks noGrp="1"/>
          </p:cNvSpPr>
          <p:nvPr>
            <p:ph type="body" idx="1"/>
          </p:nvPr>
        </p:nvSpPr>
        <p:spPr/>
        <p:txBody>
          <a:bodyPr/>
          <a:lstStyle/>
          <a:p>
            <a:r>
              <a:rPr lang="en-US" dirty="0"/>
              <a:t>Introduzir o conceito de camada limite hidrodinâmica: região próxima à superfície onde a velocidade do fluido varia de zero (na parede, condição de não escorregamento) até o valor da corrente livre. A espessura dessa camada é delta. Fora dela, o escoamento é praticamente uniforme. Esse conceito é a base física para entender por que h depende do escoamento.</a:t>
            </a:r>
          </a:p>
        </p:txBody>
      </p:sp>
      <p:sp>
        <p:nvSpPr>
          <p:cNvPr id="4" name="Slide Number Placeholder 3">
            <a:extLst>
              <a:ext uri="{FF2B5EF4-FFF2-40B4-BE49-F238E27FC236}">
                <a16:creationId xmlns:a16="http://schemas.microsoft.com/office/drawing/2014/main" id="{4B69A0E3-B000-C3D4-1697-65D542544B23}"/>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133952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D1885-2F11-05DC-F9E9-15553B6B7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079637-856B-CE36-3D25-29477161B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4EF4E7-3211-4EEE-ED2F-622F21FF673D}"/>
              </a:ext>
            </a:extLst>
          </p:cNvPr>
          <p:cNvSpPr>
            <a:spLocks noGrp="1"/>
          </p:cNvSpPr>
          <p:nvPr>
            <p:ph type="body" idx="1"/>
          </p:nvPr>
        </p:nvSpPr>
        <p:spPr/>
        <p:txBody>
          <a:bodyPr/>
          <a:lstStyle/>
          <a:p>
            <a:r>
              <a:rPr lang="en-US" dirty="0"/>
              <a:t>Introduzir o conceito de camada limite hidrodinâmica: região próxima à superfície onde a velocidade do fluido varia de zero (na parede, condição de não escorregamento) até o valor da corrente livre. A espessura dessa camada é delta. Fora dela, o escoamento é praticamente uniforme. Esse conceito é a base física para entender por que h depende do escoamento.</a:t>
            </a:r>
          </a:p>
        </p:txBody>
      </p:sp>
      <p:sp>
        <p:nvSpPr>
          <p:cNvPr id="4" name="Slide Number Placeholder 3">
            <a:extLst>
              <a:ext uri="{FF2B5EF4-FFF2-40B4-BE49-F238E27FC236}">
                <a16:creationId xmlns:a16="http://schemas.microsoft.com/office/drawing/2014/main" id="{41BD1D1A-027C-8539-80C8-A91E928A1548}"/>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6886711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4FD21-E1CD-86C6-E554-BD1ACC2E2F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1DACE9-CF49-AA7A-E7A0-F1C9E020FF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0E32B3-BC1E-C9A8-B801-E5BD9970D085}"/>
              </a:ext>
            </a:extLst>
          </p:cNvPr>
          <p:cNvSpPr>
            <a:spLocks noGrp="1"/>
          </p:cNvSpPr>
          <p:nvPr>
            <p:ph type="body" idx="1"/>
          </p:nvPr>
        </p:nvSpPr>
        <p:spPr/>
        <p:txBody>
          <a:bodyPr/>
          <a:lstStyle/>
          <a:p>
            <a:r>
              <a:rPr lang="en-US" dirty="0"/>
              <a:t>Introduzir o conceito de camada limite hidrodinâmica: região próxima à superfície onde a velocidade do fluido varia de zero (na parede, condição de não escorregamento) até o valor da corrente livre. A espessura dessa camada é delta. Fora dela, o escoamento é praticamente uniforme. Esse conceito é a base física para entender por que h depende do escoamento.</a:t>
            </a:r>
          </a:p>
        </p:txBody>
      </p:sp>
      <p:sp>
        <p:nvSpPr>
          <p:cNvPr id="4" name="Slide Number Placeholder 3">
            <a:extLst>
              <a:ext uri="{FF2B5EF4-FFF2-40B4-BE49-F238E27FC236}">
                <a16:creationId xmlns:a16="http://schemas.microsoft.com/office/drawing/2014/main" id="{AB5F42AF-12C6-3402-6CD2-A6411BC75875}"/>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2460308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3DDC7-D4A5-4962-3D09-760FCD9EA3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D042E0-25CB-9AEE-1887-397635A7BE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26441B-E91C-05FF-0415-EFCA774C1E80}"/>
              </a:ext>
            </a:extLst>
          </p:cNvPr>
          <p:cNvSpPr>
            <a:spLocks noGrp="1"/>
          </p:cNvSpPr>
          <p:nvPr>
            <p:ph type="body" idx="1"/>
          </p:nvPr>
        </p:nvSpPr>
        <p:spPr/>
        <p:txBody>
          <a:bodyPr/>
          <a:lstStyle/>
          <a:p>
            <a:r>
              <a:rPr lang="en-US" dirty="0"/>
              <a:t>Introduzir o conceito de camada limite hidrodinâmica: região próxima à superfície onde a velocidade do fluido varia de zero (na parede, condição de não escorregamento) até o valor da corrente livre. A espessura dessa camada é delta. Fora dela, o escoamento é praticamente uniforme. Esse conceito é a base física para entender por que h depende do escoamento.</a:t>
            </a:r>
          </a:p>
        </p:txBody>
      </p:sp>
      <p:sp>
        <p:nvSpPr>
          <p:cNvPr id="4" name="Slide Number Placeholder 3">
            <a:extLst>
              <a:ext uri="{FF2B5EF4-FFF2-40B4-BE49-F238E27FC236}">
                <a16:creationId xmlns:a16="http://schemas.microsoft.com/office/drawing/2014/main" id="{2F20AB8A-3E19-D9F6-4F66-2357982CBA5A}"/>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9932465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B8E9C-D79F-1FB9-ECCE-C682C7D10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DC1103-265F-7229-A2B0-94EF7B48F3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9E2CC-4191-E285-84EF-A06E22B85C87}"/>
              </a:ext>
            </a:extLst>
          </p:cNvPr>
          <p:cNvSpPr>
            <a:spLocks noGrp="1"/>
          </p:cNvSpPr>
          <p:nvPr>
            <p:ph type="body" idx="1"/>
          </p:nvPr>
        </p:nvSpPr>
        <p:spPr/>
        <p:txBody>
          <a:bodyPr/>
          <a:lstStyle/>
          <a:p>
            <a:r>
              <a:rPr lang="en-US" dirty="0"/>
              <a:t>Introduzir o conceito de camada limite hidrodinâmica: região próxima à superfície onde a velocidade do fluido varia de zero (na parede, condição de não escorregamento) até o valor da corrente livre. A espessura dessa camada é delta. Fora dela, o escoamento é praticamente uniforme. Esse conceito é a base física para entender por que h depende do escoamento.</a:t>
            </a:r>
          </a:p>
        </p:txBody>
      </p:sp>
      <p:sp>
        <p:nvSpPr>
          <p:cNvPr id="4" name="Slide Number Placeholder 3">
            <a:extLst>
              <a:ext uri="{FF2B5EF4-FFF2-40B4-BE49-F238E27FC236}">
                <a16:creationId xmlns:a16="http://schemas.microsoft.com/office/drawing/2014/main" id="{F7639618-DEE5-4FB0-263A-4F1E3E9F3921}"/>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7603452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131F3-C669-0B26-F6E1-7D4F1E3463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D450E4-74A4-7312-19BB-DFB12DCBF2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5D9C68-C0BA-0B49-086E-9D1ED9F65A79}"/>
              </a:ext>
            </a:extLst>
          </p:cNvPr>
          <p:cNvSpPr>
            <a:spLocks noGrp="1"/>
          </p:cNvSpPr>
          <p:nvPr>
            <p:ph type="body" idx="1"/>
          </p:nvPr>
        </p:nvSpPr>
        <p:spPr/>
        <p:txBody>
          <a:bodyPr/>
          <a:lstStyle/>
          <a:p>
            <a:r>
              <a:rPr lang="en-US" dirty="0"/>
              <a:t>Introduzir o conceito de camada limite hidrodinâmica: região próxima à superfície onde a velocidade do fluido varia de zero (na parede, condição de não escorregamento) até o valor da corrente livre. A espessura dessa camada é delta. Fora dela, o escoamento é praticamente uniforme. Esse conceito é a base física para entender por que h depende do escoamento.</a:t>
            </a:r>
          </a:p>
        </p:txBody>
      </p:sp>
      <p:sp>
        <p:nvSpPr>
          <p:cNvPr id="4" name="Slide Number Placeholder 3">
            <a:extLst>
              <a:ext uri="{FF2B5EF4-FFF2-40B4-BE49-F238E27FC236}">
                <a16:creationId xmlns:a16="http://schemas.microsoft.com/office/drawing/2014/main" id="{B0E6C920-6A49-8EA6-A275-A850CFACEBEE}"/>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5891918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56090-C359-BE7A-DE78-1259625E5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662F4-309B-2FFA-FD86-B27B20E8CE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B8073F-9FF9-02F7-A982-37B5D21B3443}"/>
              </a:ext>
            </a:extLst>
          </p:cNvPr>
          <p:cNvSpPr>
            <a:spLocks noGrp="1"/>
          </p:cNvSpPr>
          <p:nvPr>
            <p:ph type="body" idx="1"/>
          </p:nvPr>
        </p:nvSpPr>
        <p:spPr/>
        <p:txBody>
          <a:bodyPr/>
          <a:lstStyle/>
          <a:p>
            <a:r>
              <a:rPr lang="en-US" dirty="0"/>
              <a:t>Introduzir o conceito de camada limite hidrodinâmica: região próxima à superfície onde a velocidade do fluido varia de zero (na parede, condição de não escorregamento) até o valor da corrente livre. A espessura dessa camada é delta. Fora dela, o escoamento é praticamente uniforme. Esse conceito é a base física para entender por que h depende do escoamento.</a:t>
            </a:r>
          </a:p>
        </p:txBody>
      </p:sp>
      <p:sp>
        <p:nvSpPr>
          <p:cNvPr id="4" name="Slide Number Placeholder 3">
            <a:extLst>
              <a:ext uri="{FF2B5EF4-FFF2-40B4-BE49-F238E27FC236}">
                <a16:creationId xmlns:a16="http://schemas.microsoft.com/office/drawing/2014/main" id="{24A22372-3366-A138-F18A-B8092E19F584}"/>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330423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22957-5018-ED17-B6B3-312BD094E7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1C55B-B6E6-5C36-BB22-2DF5987982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BCD9C7-6C7A-D362-7C3D-D167041348F2}"/>
              </a:ext>
            </a:extLst>
          </p:cNvPr>
          <p:cNvSpPr>
            <a:spLocks noGrp="1"/>
          </p:cNvSpPr>
          <p:nvPr>
            <p:ph type="body" idx="1"/>
          </p:nvPr>
        </p:nvSpPr>
        <p:spPr/>
        <p:txBody>
          <a:bodyPr/>
          <a:lstStyle/>
          <a:p>
            <a:r>
              <a:rPr lang="en-US" dirty="0"/>
              <a:t>Introduzir o conceito de camada limite hidrodinâmica: região próxima à superfície onde a velocidade do fluido varia de zero (na parede, condição de não escorregamento) até o valor da corrente livre. A espessura dessa camada é delta. Fora dela, o escoamento é praticamente uniforme. Esse conceito é a base física para entender por que h depende do escoamento.</a:t>
            </a:r>
          </a:p>
        </p:txBody>
      </p:sp>
      <p:sp>
        <p:nvSpPr>
          <p:cNvPr id="4" name="Slide Number Placeholder 3">
            <a:extLst>
              <a:ext uri="{FF2B5EF4-FFF2-40B4-BE49-F238E27FC236}">
                <a16:creationId xmlns:a16="http://schemas.microsoft.com/office/drawing/2014/main" id="{6BEAB856-D77F-182B-7703-15F62E8CC947}"/>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3759470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Espelhar o conceito anterior para a temperatura: a camada limite térmica é a região onde a temperatura varia de Ts (na parede) até T∞ (na corrente livre), com espessura delta_t. É justamente dentro dessa fina camada que ocorre o maior gradiente de temperatura — e é essa região que controla o valor de h. Se o escoamento é mais 'agressivo' (turbulento, maior velocidade), a camada fica mais fina e h aumenta.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D5F2A-5E28-1278-AA6B-8C1517E4C6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4677E-A7EE-630C-F559-297620E4B8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0D93E9-9F48-7E52-1540-653AB29DFAD4}"/>
              </a:ext>
            </a:extLst>
          </p:cNvPr>
          <p:cNvSpPr>
            <a:spLocks noGrp="1"/>
          </p:cNvSpPr>
          <p:nvPr>
            <p:ph type="body" idx="1"/>
          </p:nvPr>
        </p:nvSpPr>
        <p:spPr/>
        <p:txBody>
          <a:bodyPr/>
          <a:lstStyle/>
          <a:p>
            <a:r>
              <a:rPr lang="en-US" dirty="0"/>
              <a:t>Espelhar o conceito anterior para a temperatura: a camada limite térmica é a região onde a temperatura varia de Ts (na parede) até T∞ (na corrente livre), com espessura delta_t. É justamente dentro dessa fina camada que ocorre o maior gradiente de temperatura — e é essa região que controla o valor de h. Se o escoamento é mais 'agressivo' (turbulento, maior velocidade), a camada fica mais fina e h aumenta.</a:t>
            </a:r>
          </a:p>
        </p:txBody>
      </p:sp>
      <p:sp>
        <p:nvSpPr>
          <p:cNvPr id="4" name="Slide Number Placeholder 3">
            <a:extLst>
              <a:ext uri="{FF2B5EF4-FFF2-40B4-BE49-F238E27FC236}">
                <a16:creationId xmlns:a16="http://schemas.microsoft.com/office/drawing/2014/main" id="{EF0B9164-B01F-35E7-F2D3-C8C1530F3A65}"/>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42580105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82F52-76A5-2DB6-8BF8-DBE839CAEA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DC226C-4BF5-384C-BC03-68A7EADD3C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7BC106-C9DC-515C-6240-DA0CB38F6A5E}"/>
              </a:ext>
            </a:extLst>
          </p:cNvPr>
          <p:cNvSpPr>
            <a:spLocks noGrp="1"/>
          </p:cNvSpPr>
          <p:nvPr>
            <p:ph type="body" idx="1"/>
          </p:nvPr>
        </p:nvSpPr>
        <p:spPr/>
        <p:txBody>
          <a:bodyPr/>
          <a:lstStyle/>
          <a:p>
            <a:r>
              <a:rPr lang="en-US" dirty="0"/>
              <a:t>Espelhar o conceito anterior para a temperatura: a camada limite térmica é a região onde a temperatura varia de Ts (na parede) até T∞ (na corrente livre), com espessura delta_t. É justamente dentro dessa fina camada que ocorre o maior gradiente de temperatura — e é essa região que controla o valor de h. Se o escoamento é mais 'agressivo' (turbulento, maior velocidade), a camada fica mais fina e h aumenta.</a:t>
            </a:r>
          </a:p>
        </p:txBody>
      </p:sp>
      <p:sp>
        <p:nvSpPr>
          <p:cNvPr id="4" name="Slide Number Placeholder 3">
            <a:extLst>
              <a:ext uri="{FF2B5EF4-FFF2-40B4-BE49-F238E27FC236}">
                <a16:creationId xmlns:a16="http://schemas.microsoft.com/office/drawing/2014/main" id="{AE6C2C1D-166B-25BE-9E66-F53A8169CB70}"/>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7929672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Introduzir o conceito de camada limite hidrodinâmica: região próxima à superfície onde a velocidade do fluido varia de zero (na parede, condição de não escorregamento) até o valor da corrente livre. A espessura dessa camada é delta. Fora dela, o escoamento é praticamente uniforme. Esse conceito é a base física para entender por que h depende do escoamento.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F9242-7AE9-FC70-4012-00AA13DCA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05E24A-DC0F-8375-788D-8C3D76CD91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928E3-1A53-2DE9-AC49-468363991FAE}"/>
              </a:ext>
            </a:extLst>
          </p:cNvPr>
          <p:cNvSpPr>
            <a:spLocks noGrp="1"/>
          </p:cNvSpPr>
          <p:nvPr>
            <p:ph type="body" idx="1"/>
          </p:nvPr>
        </p:nvSpPr>
        <p:spPr/>
        <p:txBody>
          <a:bodyPr/>
          <a:lstStyle/>
          <a:p>
            <a:r>
              <a:rPr lang="en-US" dirty="0"/>
              <a:t>Introduzir o conceito de camada limite hidrodinâmica: região próxima à superfície onde a velocidade do fluido varia de zero (na parede, condição de não escorregamento) até o valor da corrente livre. A espessura dessa camada é delta. Fora dela, o escoamento é praticamente uniforme. Esse conceito é a base física para entender por que h depende do escoamento.</a:t>
            </a:r>
          </a:p>
        </p:txBody>
      </p:sp>
      <p:sp>
        <p:nvSpPr>
          <p:cNvPr id="4" name="Slide Number Placeholder 3">
            <a:extLst>
              <a:ext uri="{FF2B5EF4-FFF2-40B4-BE49-F238E27FC236}">
                <a16:creationId xmlns:a16="http://schemas.microsoft.com/office/drawing/2014/main" id="{33F3C637-9499-258E-E971-F9EAF98105B5}"/>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5934916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47386-C25C-0345-CAED-A4ED6C52F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8B6233-374D-CD5F-F447-DABB17FCDA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81CC7-B1E8-7271-3345-5CC539F78190}"/>
              </a:ext>
            </a:extLst>
          </p:cNvPr>
          <p:cNvSpPr>
            <a:spLocks noGrp="1"/>
          </p:cNvSpPr>
          <p:nvPr>
            <p:ph type="body" idx="1"/>
          </p:nvPr>
        </p:nvSpPr>
        <p:spPr/>
        <p:txBody>
          <a:bodyPr/>
          <a:lstStyle/>
          <a:p>
            <a:r>
              <a:rPr lang="en-US" dirty="0"/>
              <a:t>Introduzir o conceito de camada limite hidrodinâmica: região próxima à superfície onde a velocidade do fluido varia de zero (na parede, condição de não escorregamento) até o valor da corrente livre. A espessura dessa camada é delta. Fora dela, o escoamento é praticamente uniforme. Esse conceito é a base física para entender por que h depende do escoamento.</a:t>
            </a:r>
          </a:p>
        </p:txBody>
      </p:sp>
      <p:sp>
        <p:nvSpPr>
          <p:cNvPr id="4" name="Slide Number Placeholder 3">
            <a:extLst>
              <a:ext uri="{FF2B5EF4-FFF2-40B4-BE49-F238E27FC236}">
                <a16:creationId xmlns:a16="http://schemas.microsoft.com/office/drawing/2014/main" id="{557A9B02-E30D-70C2-BE19-64C625C7D53F}"/>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3459895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A6B47-DAE8-1593-4256-BDD6603EB5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3F7980-4B6C-67D1-1890-E3E13844EA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8DC11-DBD6-BAF4-92AC-9A8A2913F795}"/>
              </a:ext>
            </a:extLst>
          </p:cNvPr>
          <p:cNvSpPr>
            <a:spLocks noGrp="1"/>
          </p:cNvSpPr>
          <p:nvPr>
            <p:ph type="body" idx="1"/>
          </p:nvPr>
        </p:nvSpPr>
        <p:spPr/>
        <p:txBody>
          <a:bodyPr/>
          <a:lstStyle/>
          <a:p>
            <a:r>
              <a:rPr lang="en-US" dirty="0"/>
              <a:t>Introduzir o conceito de camada limite hidrodinâmica: região próxima à superfície onde a velocidade do fluido varia de zero (na parede, condição de não escorregamento) até o valor da corrente livre. A espessura dessa camada é delta. Fora dela, o escoamento é praticamente uniforme. Esse conceito é a base física para entender por que h depende do escoamento.</a:t>
            </a:r>
          </a:p>
        </p:txBody>
      </p:sp>
      <p:sp>
        <p:nvSpPr>
          <p:cNvPr id="4" name="Slide Number Placeholder 3">
            <a:extLst>
              <a:ext uri="{FF2B5EF4-FFF2-40B4-BE49-F238E27FC236}">
                <a16:creationId xmlns:a16="http://schemas.microsoft.com/office/drawing/2014/main" id="{260C45F9-6DEB-8537-B9DC-E2F7C5902BB8}"/>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40205722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com o conteúdo já visto na disciplina (escoamento laminar e turbulento, número de Reynolds). Explicar que o regime de escoamento dentro da camada limite influencia diretamente h: no regime turbulento, o transporte de energia é mais intenso (mistura turbulenta soma-se à condução molecular), então a camada limite térmica é mais fina e h é maior do que no regime laminar, para as mesmas condições. Esse é um gancho importante que mostra a coerência entre os temas do programa (critério I).</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a diferença: na convecção natural, o movimento do fluido é causado pelas próprias diferenças de densidade geradas pelo gradiente de temperatura (empuxo/flutuação) — não há agente externo. Na convecção forçada, o movimento é imposto por um agente externo: bomba, ventilador, vento, corrente. Mencionar que, em geral, h é maior na convecção forçada, porque o escoamento é mais intenso.</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1674147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Aprofundar convecção natural com 3 exemplos do dia a dia do Engenheiro Ambiental: estratificação térmica em lagos e reservatórios (importante para eutrofização e qualidade da água), plumas de poluentes atmosféricos que sobem por convecção térmica, e o resfriamento passivo (sem aeração mecânica) de lagoas de estabilização em ETEs.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08384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Espelhar o slide anterior, agora com convecção forçada: torres de resfriamento industriais (o exemplo mais clássico — ar é forçado sobre a água quente por ventiladores), aeradores mecânicos em lagoas de tratamento (forçam o contato ar-água), e a dispersão de poluentes pelo vento (convecção forçada na atmosfera, diferente do exemplo natural do slide anterior).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32418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35921-9498-0BAD-D745-43E578DE75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E9DE3A-C909-08F2-6D62-279CCE2164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C7B1EE-BB5B-41E7-D513-B1E6E39C8C0C}"/>
              </a:ext>
            </a:extLst>
          </p:cNvPr>
          <p:cNvSpPr>
            <a:spLocks noGrp="1"/>
          </p:cNvSpPr>
          <p:nvPr>
            <p:ph type="body" idx="1"/>
          </p:nvPr>
        </p:nvSpPr>
        <p:spPr/>
        <p:txBody>
          <a:bodyPr/>
          <a:lstStyle/>
          <a:p>
            <a:r>
              <a:rPr lang="en-US" dirty="0"/>
              <a:t>SLIDE CENTRAL DA AULA. Enunciar a Lei de Resfriamento de Newton. Escrever e explicar cada termo: q" é o fluxo de calor por convecção (W/m²), h é o coeficiente convectivo (W/m²K), Ts é a temperatura da superfície e T∞ é a temperatura do fluido longe da superfície. A forma com Q (W) usa a área A da superfície. Contar rapidamente o contexto histórico: proposta por Isaac Newton em 1701, de forma empírica — na verdade não é uma lei fundamental como a de Fourier, é praticamente a DEFINIÇÃO do coeficiente h.</a:t>
            </a:r>
          </a:p>
        </p:txBody>
      </p:sp>
      <p:sp>
        <p:nvSpPr>
          <p:cNvPr id="4" name="Slide Number Placeholder 3">
            <a:extLst>
              <a:ext uri="{FF2B5EF4-FFF2-40B4-BE49-F238E27FC236}">
                <a16:creationId xmlns:a16="http://schemas.microsoft.com/office/drawing/2014/main" id="{0117B35E-AE29-F6DF-1121-CBF35BEBC60A}"/>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1569740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CENTRAL DA AULA. Enunciar a Lei de Resfriamento de Newton. Escrever e explicar cada termo: q" é o fluxo de calor por convecção (W/m²), h é o coeficiente convectivo (W/m²K), Ts é a temperatura da superfície e T∞ é a temperatura do fluido longe da superfície. A forma com Q (W) usa a área A da superfície. Contar rapidamente o contexto histórico: proposta por Isaac Newton em 1701, de forma empírica — na verdade não é uma lei fundamental como a de Fourier, é praticamente a DEFINIÇÃO do coeficiente h.</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Ponto-chave da aula: diferente de k (condutividade térmica), h NÃO é uma propriedade do material ou do fluido. É um parâmetro que depende de várias variáveis simultaneamente. Passar por cada fator listado, dando um exemplo rápido de cada. Isso prepara o terreno para os slides seguintes (ordem de grandeza e números adimensionais).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4B786-F5A2-1FA7-AAAB-CD85AC8A2D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02B70-08BF-7B57-531F-B58B2F415D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3BE789-D7E6-DD9B-7E00-452F71D82DFD}"/>
              </a:ext>
            </a:extLst>
          </p:cNvPr>
          <p:cNvSpPr>
            <a:spLocks noGrp="1"/>
          </p:cNvSpPr>
          <p:nvPr>
            <p:ph type="body" idx="1"/>
          </p:nvPr>
        </p:nvSpPr>
        <p:spPr/>
        <p:txBody>
          <a:bodyPr/>
          <a:lstStyle/>
          <a:p>
            <a:r>
              <a:rPr lang="en-US" dirty="0"/>
              <a:t>Mostrar a tabela clássica de ordens de grandeza de h (Incropera / Çengel). Destacar 3 pontos: (1) convecção forçada tem h maior que natural, para o mesmo fluido; (2) líquidos têm h maior que gases, pois têm maior condutividade e capacidade térmica; (3) processos com mudança de fase (ebulição, condensação) têm os maiores valores de h, muito usados em trocadores de calor industriais.</a:t>
            </a:r>
          </a:p>
        </p:txBody>
      </p:sp>
      <p:sp>
        <p:nvSpPr>
          <p:cNvPr id="4" name="Slide Number Placeholder 3">
            <a:extLst>
              <a:ext uri="{FF2B5EF4-FFF2-40B4-BE49-F238E27FC236}">
                <a16:creationId xmlns:a16="http://schemas.microsoft.com/office/drawing/2014/main" id="{9B17E770-F2B8-D14B-BC13-5B1B706BAFA0}"/>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6617070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como h depende de tantas variáveis, ele é determinado experimentalmente e organizado por meio de análise dimensional — aqui está o gancho direto com o próximo tópico do programa da disciplina: análise dimensional e semelhança, Teorema de Buckingham (Pi). Ao invés de trabalhar com muitas variáveis dimensionais separadas, agrupam-se em números adimensionais, reduzindo o problema.</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Apresentar os 3 números adimensionais fundamentais para convecção. Nusselt: razão entre a transferência de calor por convecção e por condução no fluido - quanto maior Nu, mais eficiente a convecção frente à condução pura. Reynolds: já visto na disciplina, razão entre forças de inércia e viscosas, define o regime laminar/turbulento. Prandtl: razão entre a difusividade de momento (viscosidade cinemática) e a difusividade térmica - compara como o momento e o calor se difundem no fluido; para a água Pr é maior que 1, para gases é próximo de 1.</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EE46A-B729-ACAE-35F5-AF1E3F1D75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308FB8-8700-7CD4-9288-8195A07A13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FE6A9F-A2D5-F7B4-4CF9-A91104386561}"/>
              </a:ext>
            </a:extLst>
          </p:cNvPr>
          <p:cNvSpPr>
            <a:spLocks noGrp="1"/>
          </p:cNvSpPr>
          <p:nvPr>
            <p:ph type="body" idx="1"/>
          </p:nvPr>
        </p:nvSpPr>
        <p:spPr/>
        <p:txBody>
          <a:bodyPr/>
          <a:lstStyle/>
          <a:p>
            <a:r>
              <a:rPr lang="en-US" dirty="0"/>
              <a:t>Apresentar os 3 números adimensionais fundamentais para convecção. Nusselt: razão entre a transferência de calor por convecção e por condução no fluido - quanto maior Nu, mais eficiente a convecção frente à condução pura. Reynolds: já visto na disciplina, razão entre forças de inércia e viscosas, define o regime laminar/turbulento. Prandtl: razão entre a difusividade de momento (viscosidade cinemática) e a difusividade térmica - compara como o momento e o calor se difundem no fluido; para a água Pr é maior que 1, para gases é próximo de 1.</a:t>
            </a:r>
          </a:p>
        </p:txBody>
      </p:sp>
      <p:sp>
        <p:nvSpPr>
          <p:cNvPr id="4" name="Slide Number Placeholder 3">
            <a:extLst>
              <a:ext uri="{FF2B5EF4-FFF2-40B4-BE49-F238E27FC236}">
                <a16:creationId xmlns:a16="http://schemas.microsoft.com/office/drawing/2014/main" id="{BD85BC61-F8D3-D98D-FFBF-DFF9521C1943}"/>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7580461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como, na prática de engenharia, h é obtido: a partir de correlações empíricas do tipo Nu = C·Re^m·Pr^n, ajustadas experimentalmente para cada geometria e regime. Dar UM exemplo simples e citado na bibliografia (Incropera): escoamento laminar sobre placa plana, Nu = 0.664 Re^0.5 Pr^(1/3). Deixar claro que cada situação (cilindro, tubo, esfera, natural/forçada) tem sua própria correlação, tabelada nos livros-texto — não é para decorar, é para saber consultar.</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Primeiro exemplo numérico simples e direto, ainda dentro do bloco teórico, para fixar a Lei de Newton antes do estudo de caso maior. Ler o enunciado, mostrar os dados, aplicar a fórmula passo a passo. É um cálculo simples de multiplicação, não deve gerar dúvidas — o objetivo é mostrar domínio tranquilo da equação central da aula.</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1B38D-2406-C0D3-A31C-5F436AAB9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1084E-AF3D-59F3-46DB-F30AD297C5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68DC08-E9E8-41E2-EF6F-99A929003962}"/>
              </a:ext>
            </a:extLst>
          </p:cNvPr>
          <p:cNvSpPr>
            <a:spLocks noGrp="1"/>
          </p:cNvSpPr>
          <p:nvPr>
            <p:ph type="body" idx="1"/>
          </p:nvPr>
        </p:nvSpPr>
        <p:spPr/>
        <p:txBody>
          <a:bodyPr/>
          <a:lstStyle/>
          <a:p>
            <a:r>
              <a:rPr lang="en-US" dirty="0"/>
              <a:t>Primeiro exemplo numérico simples e direto, ainda dentro do bloco teórico, para fixar a Lei de Newton antes do estudo de caso maior. Ler o enunciado, mostrar os dados, aplicar a fórmula passo a passo. É um cálculo simples de multiplicação, não deve gerar dúvidas — o objetivo é mostrar domínio tranquilo da equação central da aula.</a:t>
            </a:r>
          </a:p>
        </p:txBody>
      </p:sp>
      <p:sp>
        <p:nvSpPr>
          <p:cNvPr id="4" name="Slide Number Placeholder 3">
            <a:extLst>
              <a:ext uri="{FF2B5EF4-FFF2-40B4-BE49-F238E27FC236}">
                <a16:creationId xmlns:a16="http://schemas.microsoft.com/office/drawing/2014/main" id="{D9F3E6F9-5BEA-B44D-DFAE-C1A8B214469F}"/>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23923238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Introdução do estudo de caso — o ponto alto da aula, conectando teoria com a atuação do Engenheiro Ambiental. Contextualizar o problema da poluição térmica: indústrias e usinas termelétricas usam água de rios para resfriamento de processos e devolvem essa água aquecida ao corpo hídrico. O aumento de temperatura reduz a solubilidade de oxigênio dissolvido, acelera o metabolismo de organismos aquáticos e pode causar estresse térmico à biota. Apresentar a pergunta que será respondida no próximo slide.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Resolver o caso passo a passo, comparando os dois cenários (natural x forçada) lado a lado. Usar valores de h típicos da tabela já apresentada (natural líquido ~500 W/m²K de água/ar - na verdade para a interface água-ar, considerar valor de convecção natural em líquidos/gases da ordem de dezenas; para efeito didático foi usado h=20 W/m²K para o dia calmo, dentro da faixa de convecção natural gás-líquido em superfície de água, e h=80 W/m²K para o dia com vento, dentro da faixa de convecção forçada). Mostrar que o fluxo é 4x maior no dia com vento — reforçando que a convecção forçada acelera a dissipação de calor.</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Fechar o estudo de caso conectando o resultado numérico com a prática profissional do Engenheiro Ambiental. Discutir: mesmo com a dissipação por convecção, o excesso de calor lançado continuamente por uma indústria pode elevar a temperatura média do corpo hídrico (poluição térmica), reduzindo a solubilidade de oxigênio dissolvido e acelerando o metabolismo da biota aquática, podendo gerar estresse térmico. Mencionar a Resolução CONAMA 357/2005, que estabelece limites de temperatura para lançamento de efluentes (variação de até 3°C no limite da zona de mistura). Este é o ponto onde a física conversa diretamente com a legislação ambiental.</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Fazer o fechamento teórico da aula, retomando os pontos centrais em ordem lógica. Este slide serve como 'cola mental' para a apresentação: se esquecer algo, esse resumo ajuda a recuperar o fio da meada. Passar rápido, é só recapitulação.</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Encerrar mostrando que a aula não é um bloco isolado — mostrar a continuidade lógica com os próximos temas do programa, reforçando o critério I de avaliação mais uma vez, agora olhando para frente. Radiação usa uma lógica parecida (Stefan-Boltzmann, análoga a Newton, mas com T na quarta potência). Transferência de massa (Lei de Fick) tem estrutura matemática análoga à convecção de calor. Análise dimensional será formalizada com o Teorema de Buckingham, já citado nesta aula.</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Citar as referências rapidamente, sem precisar ler todas em detalhe. Basta indicar que a aula seguiu a bibliografia oficial da ementa.</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Encerramento (dizer em voz alta, ~30s). Frase sugerida: 'Encerro agradecendo a atenção da banca. Procurei mostrar que a convecção, embora seja um conteúdo clássico de Fenômenos de Transporte, tem aplicação direta e cotidiana na atuação do Engenheiro Ambiental — de torres de resfriamento a poluição térmica de corpos hídricos. Fico à disposição para perguntas.' Manter tom calmo e postura confiante.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48.xml.rels><?xml version="1.0" encoding="UTF-8" standalone="yes"?>
<Relationships xmlns="http://schemas.openxmlformats.org/package/2006/relationships"><Relationship Id="rId3" Type="http://schemas.openxmlformats.org/officeDocument/2006/relationships/hyperlink" Target="mailto:fonseca@unicamp.br" TargetMode="External"/><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2545"/>
          </a:solidFill>
          <a:ln/>
        </p:spPr>
        <p:txBody>
          <a:bodyPr/>
          <a:lstStyle/>
          <a:p>
            <a:endParaRPr lang="pt-PT" noProof="0" dirty="0"/>
          </a:p>
        </p:txBody>
      </p:sp>
      <p:sp>
        <p:nvSpPr>
          <p:cNvPr id="3" name="Shape 1"/>
          <p:cNvSpPr/>
          <p:nvPr/>
        </p:nvSpPr>
        <p:spPr>
          <a:xfrm>
            <a:off x="8778240" y="-2103120"/>
            <a:ext cx="5943600" cy="5943600"/>
          </a:xfrm>
          <a:prstGeom prst="ellipse">
            <a:avLst/>
          </a:prstGeom>
          <a:solidFill>
            <a:srgbClr val="10345C"/>
          </a:solidFill>
          <a:ln/>
        </p:spPr>
        <p:txBody>
          <a:bodyPr/>
          <a:lstStyle/>
          <a:p>
            <a:endParaRPr lang="pt-PT" noProof="0" dirty="0"/>
          </a:p>
        </p:txBody>
      </p:sp>
      <p:sp>
        <p:nvSpPr>
          <p:cNvPr id="4" name="Shape 2"/>
          <p:cNvSpPr/>
          <p:nvPr/>
        </p:nvSpPr>
        <p:spPr>
          <a:xfrm>
            <a:off x="10058400" y="4206240"/>
            <a:ext cx="3840480" cy="3840480"/>
          </a:xfrm>
          <a:prstGeom prst="ellipse">
            <a:avLst/>
          </a:prstGeom>
          <a:solidFill>
            <a:srgbClr val="0F2E4E"/>
          </a:solidFill>
          <a:ln/>
        </p:spPr>
        <p:txBody>
          <a:bodyPr/>
          <a:lstStyle/>
          <a:p>
            <a:endParaRPr lang="pt-PT" noProof="0" dirty="0"/>
          </a:p>
        </p:txBody>
      </p:sp>
      <p:sp>
        <p:nvSpPr>
          <p:cNvPr id="5" name="Text 3"/>
          <p:cNvSpPr/>
          <p:nvPr/>
        </p:nvSpPr>
        <p:spPr>
          <a:xfrm>
            <a:off x="822960" y="1371600"/>
            <a:ext cx="9144000" cy="365760"/>
          </a:xfrm>
          <a:prstGeom prst="rect">
            <a:avLst/>
          </a:prstGeom>
          <a:noFill/>
          <a:ln/>
        </p:spPr>
        <p:txBody>
          <a:bodyPr wrap="square" rtlCol="0" anchor="ctr"/>
          <a:lstStyle/>
          <a:p>
            <a:r>
              <a:rPr lang="pt-PT" sz="1400" b="1" kern="0" spc="250" noProof="0" dirty="0">
                <a:solidFill>
                  <a:srgbClr val="0FA3B1"/>
                </a:solidFill>
                <a:latin typeface="Calibri" pitchFamily="34" charset="0"/>
                <a:ea typeface="Calibri" pitchFamily="34" charset="-122"/>
                <a:cs typeface="Calibri" pitchFamily="34" charset="-120"/>
              </a:rPr>
              <a:t>EB402 - FENÔMENOS DE TRANSPORTE</a:t>
            </a:r>
            <a:endParaRPr lang="pt-PT" sz="1400" noProof="0" dirty="0">
              <a:solidFill>
                <a:srgbClr val="0FA3B1"/>
              </a:solidFill>
            </a:endParaRPr>
          </a:p>
        </p:txBody>
      </p:sp>
      <p:sp>
        <p:nvSpPr>
          <p:cNvPr id="6" name="Text 4"/>
          <p:cNvSpPr/>
          <p:nvPr/>
        </p:nvSpPr>
        <p:spPr>
          <a:xfrm>
            <a:off x="822960" y="1874520"/>
            <a:ext cx="9875520" cy="1920240"/>
          </a:xfrm>
          <a:prstGeom prst="rect">
            <a:avLst/>
          </a:prstGeom>
          <a:noFill/>
          <a:ln/>
        </p:spPr>
        <p:txBody>
          <a:bodyPr wrap="square" rtlCol="0" anchor="ctr"/>
          <a:lstStyle/>
          <a:p>
            <a:pPr marL="0" indent="0">
              <a:lnSpc>
                <a:spcPts val="5000"/>
              </a:lnSpc>
              <a:buNone/>
            </a:pPr>
            <a:r>
              <a:rPr lang="pt-PT" sz="4400" b="1" noProof="0" dirty="0">
                <a:solidFill>
                  <a:srgbClr val="FFFFFF"/>
                </a:solidFill>
                <a:latin typeface="Cambria" pitchFamily="34" charset="0"/>
                <a:ea typeface="Cambria" pitchFamily="34" charset="-122"/>
                <a:cs typeface="Cambria" pitchFamily="34" charset="-120"/>
              </a:rPr>
              <a:t>Transferência de Calor</a:t>
            </a:r>
            <a:endParaRPr lang="pt-PT" sz="4400" noProof="0" dirty="0"/>
          </a:p>
          <a:p>
            <a:pPr marL="0" indent="0">
              <a:lnSpc>
                <a:spcPts val="5000"/>
              </a:lnSpc>
              <a:buNone/>
            </a:pPr>
            <a:r>
              <a:rPr lang="pt-PT" sz="4400" b="1" noProof="0" dirty="0">
                <a:solidFill>
                  <a:srgbClr val="FFFFFF"/>
                </a:solidFill>
                <a:latin typeface="Cambria" pitchFamily="34" charset="0"/>
                <a:ea typeface="Cambria" pitchFamily="34" charset="-122"/>
                <a:cs typeface="Cambria" pitchFamily="34" charset="-120"/>
              </a:rPr>
              <a:t>por Convecção</a:t>
            </a:r>
            <a:endParaRPr lang="pt-PT" sz="4400" noProof="0" dirty="0"/>
          </a:p>
        </p:txBody>
      </p:sp>
      <p:sp>
        <p:nvSpPr>
          <p:cNvPr id="7" name="Text 5"/>
          <p:cNvSpPr/>
          <p:nvPr/>
        </p:nvSpPr>
        <p:spPr>
          <a:xfrm>
            <a:off x="822960" y="3794760"/>
            <a:ext cx="9144000" cy="548640"/>
          </a:xfrm>
          <a:prstGeom prst="rect">
            <a:avLst/>
          </a:prstGeom>
          <a:noFill/>
          <a:ln/>
        </p:spPr>
        <p:txBody>
          <a:bodyPr wrap="square" rtlCol="0" anchor="ctr"/>
          <a:lstStyle/>
          <a:p>
            <a:pPr marL="0" indent="0">
              <a:buNone/>
            </a:pPr>
            <a:r>
              <a:rPr lang="pt-PT" sz="1900" i="1" noProof="0" dirty="0">
                <a:solidFill>
                  <a:srgbClr val="CFE3EC"/>
                </a:solidFill>
                <a:latin typeface="Calibri" pitchFamily="34" charset="0"/>
                <a:ea typeface="Calibri" pitchFamily="34" charset="-122"/>
                <a:cs typeface="Calibri" pitchFamily="34" charset="-120"/>
              </a:rPr>
              <a:t>Lei de Resfriamento de Newton e Coeficientes Convectivos</a:t>
            </a:r>
            <a:endParaRPr lang="pt-PT" sz="1900" noProof="0" dirty="0"/>
          </a:p>
        </p:txBody>
      </p:sp>
      <p:sp>
        <p:nvSpPr>
          <p:cNvPr id="8" name="Text 6"/>
          <p:cNvSpPr/>
          <p:nvPr/>
        </p:nvSpPr>
        <p:spPr>
          <a:xfrm>
            <a:off x="822960" y="4892040"/>
            <a:ext cx="7315200" cy="731520"/>
          </a:xfrm>
          <a:prstGeom prst="rect">
            <a:avLst/>
          </a:prstGeom>
          <a:noFill/>
          <a:ln/>
        </p:spPr>
        <p:txBody>
          <a:bodyPr wrap="square" rtlCol="0" anchor="ctr"/>
          <a:lstStyle/>
          <a:p>
            <a:pPr marL="0" indent="0">
              <a:lnSpc>
                <a:spcPts val="2400"/>
              </a:lnSpc>
              <a:buNone/>
            </a:pPr>
            <a:r>
              <a:rPr lang="pt-PT" sz="1400" b="1" noProof="0" dirty="0">
                <a:solidFill>
                  <a:srgbClr val="0FA3B1"/>
                </a:solidFill>
                <a:latin typeface="Calibri" pitchFamily="34" charset="0"/>
                <a:ea typeface="Calibri" pitchFamily="34" charset="-122"/>
                <a:cs typeface="Calibri" pitchFamily="34" charset="-120"/>
              </a:rPr>
              <a:t>Disciplina: </a:t>
            </a:r>
            <a:r>
              <a:rPr lang="pt-PT" sz="1400" noProof="0" dirty="0">
                <a:solidFill>
                  <a:srgbClr val="CFE3EC"/>
                </a:solidFill>
                <a:latin typeface="Calibri" pitchFamily="34" charset="0"/>
                <a:ea typeface="Calibri" pitchFamily="34" charset="-122"/>
                <a:cs typeface="Calibri" pitchFamily="34" charset="-120"/>
              </a:rPr>
              <a:t>Fenômenos de Transporte
</a:t>
            </a:r>
            <a:r>
              <a:rPr lang="pt-PT" sz="1400" b="1" noProof="0" dirty="0">
                <a:solidFill>
                  <a:srgbClr val="0FA3B1"/>
                </a:solidFill>
                <a:latin typeface="Calibri" pitchFamily="34" charset="0"/>
                <a:ea typeface="Calibri" pitchFamily="34" charset="-122"/>
                <a:cs typeface="Calibri" pitchFamily="34" charset="-120"/>
              </a:rPr>
              <a:t>Curso: </a:t>
            </a:r>
            <a:r>
              <a:rPr lang="pt-PT" sz="1400" noProof="0" dirty="0">
                <a:solidFill>
                  <a:srgbClr val="CFE3EC"/>
                </a:solidFill>
                <a:latin typeface="Calibri" pitchFamily="34" charset="0"/>
                <a:ea typeface="Calibri" pitchFamily="34" charset="-122"/>
                <a:cs typeface="Calibri" pitchFamily="34" charset="-120"/>
              </a:rPr>
              <a:t>Engenharia Ambiental (graduação)</a:t>
            </a:r>
            <a:endParaRPr lang="pt-PT" sz="1400" noProof="0" dirty="0"/>
          </a:p>
        </p:txBody>
      </p:sp>
      <p:sp>
        <p:nvSpPr>
          <p:cNvPr id="10" name="CaixaDeTexto 11">
            <a:extLst>
              <a:ext uri="{FF2B5EF4-FFF2-40B4-BE49-F238E27FC236}">
                <a16:creationId xmlns:a16="http://schemas.microsoft.com/office/drawing/2014/main" id="{0081C61E-21F9-DC6B-329D-5E68C4989D2E}"/>
              </a:ext>
            </a:extLst>
          </p:cNvPr>
          <p:cNvSpPr txBox="1"/>
          <p:nvPr/>
        </p:nvSpPr>
        <p:spPr>
          <a:xfrm>
            <a:off x="0" y="6096916"/>
            <a:ext cx="12188933" cy="553998"/>
          </a:xfrm>
          <a:prstGeom prst="rect">
            <a:avLst/>
          </a:prstGeom>
          <a:solidFill>
            <a:schemeClr val="bg1"/>
          </a:solidFill>
        </p:spPr>
        <p:txBody>
          <a:bodyPr wrap="square">
            <a:spAutoFit/>
          </a:bodyPr>
          <a:lstStyle/>
          <a:p>
            <a:pPr algn="r"/>
            <a:r>
              <a:rPr lang="pt-PT" b="1" noProof="0" dirty="0">
                <a:solidFill>
                  <a:srgbClr val="0F2D20"/>
                </a:solidFill>
                <a:latin typeface="+mj-lt"/>
              </a:rPr>
              <a:t>Profa. Camila Gomes Marchesini Fonseca</a:t>
            </a:r>
          </a:p>
          <a:p>
            <a:pPr algn="r"/>
            <a:r>
              <a:rPr lang="pt-PT" sz="1200" b="1" noProof="0" dirty="0">
                <a:solidFill>
                  <a:srgbClr val="0F2D20"/>
                </a:solidFill>
              </a:rPr>
              <a:t>2</a:t>
            </a:r>
            <a:r>
              <a:rPr lang="pt-PT" sz="1200" b="1" baseline="30000" noProof="0" dirty="0">
                <a:solidFill>
                  <a:srgbClr val="0F2D20"/>
                </a:solidFill>
              </a:rPr>
              <a:t>o </a:t>
            </a:r>
            <a:r>
              <a:rPr lang="pt-PT" sz="1200" b="1" noProof="0" dirty="0">
                <a:solidFill>
                  <a:srgbClr val="0F2D20"/>
                </a:solidFill>
              </a:rPr>
              <a:t>semestre de 2026</a:t>
            </a:r>
          </a:p>
        </p:txBody>
      </p:sp>
      <p:pic>
        <p:nvPicPr>
          <p:cNvPr id="11" name="Imagem 14" descr="Diagrama&#10;&#10;O conteúdo gerado por IA pode estar incorreto.">
            <a:extLst>
              <a:ext uri="{FF2B5EF4-FFF2-40B4-BE49-F238E27FC236}">
                <a16:creationId xmlns:a16="http://schemas.microsoft.com/office/drawing/2014/main" id="{B7527363-8920-FDF6-95E8-08DFDB8933ED}"/>
              </a:ext>
            </a:extLst>
          </p:cNvPr>
          <p:cNvPicPr>
            <a:picLocks noChangeAspect="1"/>
          </p:cNvPicPr>
          <p:nvPr/>
        </p:nvPicPr>
        <p:blipFill>
          <a:blip r:embed="rId3">
            <a:extLst>
              <a:ext uri="{28A0092B-C50C-407E-A947-70E740481C1C}">
                <a14:useLocalDpi xmlns:a14="http://schemas.microsoft.com/office/drawing/2010/main" val="0"/>
              </a:ext>
            </a:extLst>
          </a:blip>
          <a:srcRect l="26129" r="24624"/>
          <a:stretch/>
        </p:blipFill>
        <p:spPr>
          <a:xfrm>
            <a:off x="206582" y="6112427"/>
            <a:ext cx="433498" cy="476801"/>
          </a:xfrm>
          <a:prstGeom prst="rect">
            <a:avLst/>
          </a:prstGeom>
        </p:spPr>
      </p:pic>
      <p:pic>
        <p:nvPicPr>
          <p:cNvPr id="12" name="Imagem 16">
            <a:extLst>
              <a:ext uri="{FF2B5EF4-FFF2-40B4-BE49-F238E27FC236}">
                <a16:creationId xmlns:a16="http://schemas.microsoft.com/office/drawing/2014/main" id="{3EBB09FA-E6DF-60D2-8376-1392B3DAD9C0}"/>
              </a:ext>
            </a:extLst>
          </p:cNvPr>
          <p:cNvPicPr>
            <a:picLocks noChangeAspect="1"/>
          </p:cNvPicPr>
          <p:nvPr/>
        </p:nvPicPr>
        <p:blipFill>
          <a:blip r:embed="rId4"/>
          <a:srcRect/>
          <a:stretch/>
        </p:blipFill>
        <p:spPr>
          <a:xfrm>
            <a:off x="799162" y="6209486"/>
            <a:ext cx="1496167" cy="3422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ROTEIRO DA AULA</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Sete blocos, do conceito à aplicação prática</a:t>
            </a:r>
            <a:endParaRPr lang="pt-PT" sz="3200" noProof="0" dirty="0"/>
          </a:p>
        </p:txBody>
      </p:sp>
      <p:sp>
        <p:nvSpPr>
          <p:cNvPr id="5" name="Shape 2"/>
          <p:cNvSpPr/>
          <p:nvPr/>
        </p:nvSpPr>
        <p:spPr>
          <a:xfrm>
            <a:off x="640080" y="1783080"/>
            <a:ext cx="5257800" cy="603504"/>
          </a:xfrm>
          <a:prstGeom prst="roundRect">
            <a:avLst>
              <a:gd name="adj" fmla="val 12121"/>
            </a:avLst>
          </a:prstGeom>
          <a:solidFill>
            <a:srgbClr val="EEF4F6"/>
          </a:solidFill>
          <a:ln/>
        </p:spPr>
        <p:txBody>
          <a:bodyPr/>
          <a:lstStyle/>
          <a:p>
            <a:endParaRPr lang="pt-PT" noProof="0" dirty="0"/>
          </a:p>
        </p:txBody>
      </p:sp>
      <p:sp>
        <p:nvSpPr>
          <p:cNvPr id="6" name="Text 3"/>
          <p:cNvSpPr/>
          <p:nvPr/>
        </p:nvSpPr>
        <p:spPr>
          <a:xfrm>
            <a:off x="777240" y="1783080"/>
            <a:ext cx="640080" cy="603504"/>
          </a:xfrm>
          <a:prstGeom prst="rect">
            <a:avLst/>
          </a:prstGeom>
          <a:noFill/>
          <a:ln/>
        </p:spPr>
        <p:txBody>
          <a:bodyPr wrap="square" rtlCol="0" anchor="ctr"/>
          <a:lstStyle/>
          <a:p>
            <a:pPr marL="0" indent="0" algn="ctr">
              <a:buNone/>
            </a:pPr>
            <a:r>
              <a:rPr lang="pt-PT" sz="2000" b="1" noProof="0" dirty="0">
                <a:solidFill>
                  <a:srgbClr val="E8602C"/>
                </a:solidFill>
                <a:latin typeface="Cambria" pitchFamily="34" charset="0"/>
                <a:ea typeface="Cambria" pitchFamily="34" charset="-122"/>
                <a:cs typeface="Cambria" pitchFamily="34" charset="-120"/>
              </a:rPr>
              <a:t>01</a:t>
            </a:r>
            <a:endParaRPr lang="pt-PT" sz="2000" noProof="0" dirty="0"/>
          </a:p>
        </p:txBody>
      </p:sp>
      <p:sp>
        <p:nvSpPr>
          <p:cNvPr id="7" name="Text 4"/>
          <p:cNvSpPr/>
          <p:nvPr/>
        </p:nvSpPr>
        <p:spPr>
          <a:xfrm>
            <a:off x="1508760" y="1828800"/>
            <a:ext cx="3291840" cy="310896"/>
          </a:xfrm>
          <a:prstGeom prst="rect">
            <a:avLst/>
          </a:prstGeom>
          <a:noFill/>
          <a:ln/>
        </p:spPr>
        <p:txBody>
          <a:bodyPr wrap="square" rtlCol="0" anchor="ctr"/>
          <a:lstStyle/>
          <a:p>
            <a:pPr marL="0" indent="0">
              <a:buNone/>
            </a:pPr>
            <a:r>
              <a:rPr lang="pt-PT" sz="1400" b="1" noProof="0" dirty="0">
                <a:solidFill>
                  <a:srgbClr val="0B2545"/>
                </a:solidFill>
                <a:latin typeface="Calibri" pitchFamily="34" charset="0"/>
                <a:ea typeface="Calibri" pitchFamily="34" charset="-122"/>
                <a:cs typeface="Calibri" pitchFamily="34" charset="-120"/>
              </a:rPr>
              <a:t>Contextualização</a:t>
            </a:r>
            <a:endParaRPr lang="pt-PT" sz="1400" noProof="0" dirty="0"/>
          </a:p>
        </p:txBody>
      </p:sp>
      <p:sp>
        <p:nvSpPr>
          <p:cNvPr id="8" name="Text 5"/>
          <p:cNvSpPr/>
          <p:nvPr/>
        </p:nvSpPr>
        <p:spPr>
          <a:xfrm>
            <a:off x="1508760" y="2112264"/>
            <a:ext cx="3291840" cy="237744"/>
          </a:xfrm>
          <a:prstGeom prst="rect">
            <a:avLst/>
          </a:prstGeom>
          <a:noFill/>
          <a:ln/>
        </p:spPr>
        <p:txBody>
          <a:bodyPr wrap="square" rtlCol="0" anchor="ctr"/>
          <a:lstStyle/>
          <a:p>
            <a:pPr marL="0" indent="0">
              <a:buNone/>
            </a:pPr>
            <a:r>
              <a:rPr lang="pt-PT" sz="1200" noProof="0" dirty="0">
                <a:solidFill>
                  <a:srgbClr val="57707A"/>
                </a:solidFill>
                <a:latin typeface="Calibri" pitchFamily="34" charset="0"/>
                <a:ea typeface="Calibri" pitchFamily="34" charset="-122"/>
                <a:cs typeface="Calibri" pitchFamily="34" charset="-120"/>
              </a:rPr>
              <a:t>Onde a convecção se situa na ementa</a:t>
            </a:r>
            <a:endParaRPr lang="pt-PT" sz="1200" noProof="0" dirty="0"/>
          </a:p>
        </p:txBody>
      </p:sp>
      <p:sp>
        <p:nvSpPr>
          <p:cNvPr id="10" name="Shape 7"/>
          <p:cNvSpPr/>
          <p:nvPr/>
        </p:nvSpPr>
        <p:spPr>
          <a:xfrm>
            <a:off x="640080" y="2514600"/>
            <a:ext cx="5257800" cy="603504"/>
          </a:xfrm>
          <a:prstGeom prst="roundRect">
            <a:avLst>
              <a:gd name="adj" fmla="val 12121"/>
            </a:avLst>
          </a:prstGeom>
          <a:solidFill>
            <a:srgbClr val="EEF4F6"/>
          </a:solidFill>
          <a:ln/>
        </p:spPr>
        <p:txBody>
          <a:bodyPr/>
          <a:lstStyle/>
          <a:p>
            <a:endParaRPr lang="pt-PT" noProof="0" dirty="0"/>
          </a:p>
        </p:txBody>
      </p:sp>
      <p:sp>
        <p:nvSpPr>
          <p:cNvPr id="11" name="Text 8"/>
          <p:cNvSpPr/>
          <p:nvPr/>
        </p:nvSpPr>
        <p:spPr>
          <a:xfrm>
            <a:off x="777240" y="2514600"/>
            <a:ext cx="640080" cy="603504"/>
          </a:xfrm>
          <a:prstGeom prst="rect">
            <a:avLst/>
          </a:prstGeom>
          <a:noFill/>
          <a:ln/>
        </p:spPr>
        <p:txBody>
          <a:bodyPr wrap="square" rtlCol="0" anchor="ctr"/>
          <a:lstStyle/>
          <a:p>
            <a:pPr marL="0" indent="0" algn="ctr">
              <a:buNone/>
            </a:pPr>
            <a:r>
              <a:rPr lang="pt-PT" sz="2000" b="1" noProof="0" dirty="0">
                <a:solidFill>
                  <a:srgbClr val="E8602C"/>
                </a:solidFill>
                <a:latin typeface="Cambria" pitchFamily="34" charset="0"/>
                <a:ea typeface="Cambria" pitchFamily="34" charset="-122"/>
                <a:cs typeface="Cambria" pitchFamily="34" charset="-120"/>
              </a:rPr>
              <a:t>02</a:t>
            </a:r>
            <a:endParaRPr lang="pt-PT" sz="2000" noProof="0" dirty="0"/>
          </a:p>
        </p:txBody>
      </p:sp>
      <p:sp>
        <p:nvSpPr>
          <p:cNvPr id="15" name="Shape 12"/>
          <p:cNvSpPr/>
          <p:nvPr/>
        </p:nvSpPr>
        <p:spPr>
          <a:xfrm>
            <a:off x="640080" y="3246120"/>
            <a:ext cx="5257800" cy="603504"/>
          </a:xfrm>
          <a:prstGeom prst="roundRect">
            <a:avLst>
              <a:gd name="adj" fmla="val 12121"/>
            </a:avLst>
          </a:prstGeom>
          <a:solidFill>
            <a:srgbClr val="EEF4F6"/>
          </a:solidFill>
          <a:ln/>
        </p:spPr>
        <p:txBody>
          <a:bodyPr/>
          <a:lstStyle/>
          <a:p>
            <a:endParaRPr lang="pt-PT" noProof="0" dirty="0"/>
          </a:p>
        </p:txBody>
      </p:sp>
      <p:sp>
        <p:nvSpPr>
          <p:cNvPr id="16" name="Text 13"/>
          <p:cNvSpPr/>
          <p:nvPr/>
        </p:nvSpPr>
        <p:spPr>
          <a:xfrm>
            <a:off x="777240" y="3246120"/>
            <a:ext cx="640080" cy="603504"/>
          </a:xfrm>
          <a:prstGeom prst="rect">
            <a:avLst/>
          </a:prstGeom>
          <a:noFill/>
          <a:ln/>
        </p:spPr>
        <p:txBody>
          <a:bodyPr wrap="square" rtlCol="0" anchor="ctr"/>
          <a:lstStyle/>
          <a:p>
            <a:pPr marL="0" indent="0" algn="ctr">
              <a:buNone/>
            </a:pPr>
            <a:r>
              <a:rPr lang="pt-PT" sz="2000" b="1" noProof="0" dirty="0">
                <a:solidFill>
                  <a:srgbClr val="E8602C"/>
                </a:solidFill>
                <a:latin typeface="Cambria" pitchFamily="34" charset="0"/>
                <a:ea typeface="Cambria" pitchFamily="34" charset="-122"/>
                <a:cs typeface="Cambria" pitchFamily="34" charset="-120"/>
              </a:rPr>
              <a:t>03</a:t>
            </a:r>
            <a:endParaRPr lang="pt-PT" sz="2000" noProof="0" dirty="0"/>
          </a:p>
        </p:txBody>
      </p:sp>
      <p:sp>
        <p:nvSpPr>
          <p:cNvPr id="17" name="Text 14"/>
          <p:cNvSpPr/>
          <p:nvPr/>
        </p:nvSpPr>
        <p:spPr>
          <a:xfrm>
            <a:off x="1554480" y="2560320"/>
            <a:ext cx="3291840" cy="310896"/>
          </a:xfrm>
          <a:prstGeom prst="rect">
            <a:avLst/>
          </a:prstGeom>
          <a:noFill/>
          <a:ln/>
        </p:spPr>
        <p:txBody>
          <a:bodyPr wrap="square" rtlCol="0" anchor="ctr"/>
          <a:lstStyle/>
          <a:p>
            <a:pPr marL="0" indent="0">
              <a:buNone/>
            </a:pPr>
            <a:r>
              <a:rPr lang="pt-PT" sz="1400" b="1" noProof="0" dirty="0">
                <a:solidFill>
                  <a:srgbClr val="0B2545"/>
                </a:solidFill>
                <a:latin typeface="Calibri" pitchFamily="34" charset="0"/>
                <a:ea typeface="Calibri" pitchFamily="34" charset="-122"/>
                <a:cs typeface="Calibri" pitchFamily="34" charset="-120"/>
              </a:rPr>
              <a:t>Camada limite</a:t>
            </a:r>
            <a:endParaRPr lang="pt-PT" sz="1400" noProof="0" dirty="0"/>
          </a:p>
        </p:txBody>
      </p:sp>
      <p:sp>
        <p:nvSpPr>
          <p:cNvPr id="18" name="Text 15"/>
          <p:cNvSpPr/>
          <p:nvPr/>
        </p:nvSpPr>
        <p:spPr>
          <a:xfrm>
            <a:off x="1554480" y="2843784"/>
            <a:ext cx="3291840" cy="237744"/>
          </a:xfrm>
          <a:prstGeom prst="rect">
            <a:avLst/>
          </a:prstGeom>
          <a:noFill/>
          <a:ln/>
        </p:spPr>
        <p:txBody>
          <a:bodyPr wrap="square" rtlCol="0" anchor="ctr"/>
          <a:lstStyle/>
          <a:p>
            <a:pPr marL="0" indent="0">
              <a:buNone/>
            </a:pPr>
            <a:r>
              <a:rPr lang="pt-PT" sz="1200" noProof="0" dirty="0">
                <a:solidFill>
                  <a:srgbClr val="57707A"/>
                </a:solidFill>
                <a:latin typeface="Calibri" pitchFamily="34" charset="0"/>
                <a:ea typeface="Calibri" pitchFamily="34" charset="-122"/>
                <a:cs typeface="Calibri" pitchFamily="34" charset="-120"/>
              </a:rPr>
              <a:t>Hidrodinâmica e térmica</a:t>
            </a:r>
            <a:endParaRPr lang="pt-PT" sz="1200" noProof="0" dirty="0"/>
          </a:p>
        </p:txBody>
      </p:sp>
      <p:sp>
        <p:nvSpPr>
          <p:cNvPr id="20" name="Shape 17"/>
          <p:cNvSpPr/>
          <p:nvPr/>
        </p:nvSpPr>
        <p:spPr>
          <a:xfrm>
            <a:off x="640080" y="3977640"/>
            <a:ext cx="5257800" cy="603504"/>
          </a:xfrm>
          <a:prstGeom prst="roundRect">
            <a:avLst>
              <a:gd name="adj" fmla="val 12121"/>
            </a:avLst>
          </a:prstGeom>
          <a:solidFill>
            <a:srgbClr val="EEF4F6"/>
          </a:solidFill>
          <a:ln/>
        </p:spPr>
        <p:txBody>
          <a:bodyPr/>
          <a:lstStyle/>
          <a:p>
            <a:endParaRPr lang="pt-PT" noProof="0" dirty="0"/>
          </a:p>
        </p:txBody>
      </p:sp>
      <p:sp>
        <p:nvSpPr>
          <p:cNvPr id="21" name="Text 18"/>
          <p:cNvSpPr/>
          <p:nvPr/>
        </p:nvSpPr>
        <p:spPr>
          <a:xfrm>
            <a:off x="777240" y="3977640"/>
            <a:ext cx="640080" cy="603504"/>
          </a:xfrm>
          <a:prstGeom prst="rect">
            <a:avLst/>
          </a:prstGeom>
          <a:noFill/>
          <a:ln/>
        </p:spPr>
        <p:txBody>
          <a:bodyPr wrap="square" rtlCol="0" anchor="ctr"/>
          <a:lstStyle/>
          <a:p>
            <a:pPr marL="0" indent="0" algn="ctr">
              <a:buNone/>
            </a:pPr>
            <a:r>
              <a:rPr lang="pt-PT" sz="2000" b="1" noProof="0" dirty="0">
                <a:solidFill>
                  <a:srgbClr val="E8602C"/>
                </a:solidFill>
                <a:latin typeface="Cambria" pitchFamily="34" charset="0"/>
                <a:ea typeface="Cambria" pitchFamily="34" charset="-122"/>
                <a:cs typeface="Cambria" pitchFamily="34" charset="-120"/>
              </a:rPr>
              <a:t>04</a:t>
            </a:r>
            <a:endParaRPr lang="pt-PT" sz="2000" noProof="0" dirty="0"/>
          </a:p>
        </p:txBody>
      </p:sp>
      <p:sp>
        <p:nvSpPr>
          <p:cNvPr id="22" name="Text 19"/>
          <p:cNvSpPr/>
          <p:nvPr/>
        </p:nvSpPr>
        <p:spPr>
          <a:xfrm>
            <a:off x="1508760" y="4023360"/>
            <a:ext cx="4658124" cy="310896"/>
          </a:xfrm>
          <a:prstGeom prst="rect">
            <a:avLst/>
          </a:prstGeom>
          <a:noFill/>
          <a:ln/>
        </p:spPr>
        <p:txBody>
          <a:bodyPr wrap="square" rtlCol="0" anchor="ctr"/>
          <a:lstStyle/>
          <a:p>
            <a:pPr marL="0" indent="0">
              <a:buNone/>
            </a:pPr>
            <a:r>
              <a:rPr lang="pt-PT" sz="1400" b="1" noProof="0" dirty="0">
                <a:solidFill>
                  <a:srgbClr val="0B2545"/>
                </a:solidFill>
                <a:latin typeface="Calibri" pitchFamily="34" charset="0"/>
                <a:ea typeface="Calibri" pitchFamily="34" charset="-122"/>
                <a:cs typeface="Calibri" pitchFamily="34" charset="-120"/>
              </a:rPr>
              <a:t>Lei de Newton e o coeficiente de transferência de calor (h)</a:t>
            </a:r>
            <a:endParaRPr lang="pt-PT" sz="1400" noProof="0" dirty="0"/>
          </a:p>
        </p:txBody>
      </p:sp>
      <p:sp>
        <p:nvSpPr>
          <p:cNvPr id="23" name="Text 20"/>
          <p:cNvSpPr/>
          <p:nvPr/>
        </p:nvSpPr>
        <p:spPr>
          <a:xfrm>
            <a:off x="1508760" y="4306824"/>
            <a:ext cx="3291840" cy="237744"/>
          </a:xfrm>
          <a:prstGeom prst="rect">
            <a:avLst/>
          </a:prstGeom>
          <a:noFill/>
          <a:ln/>
        </p:spPr>
        <p:txBody>
          <a:bodyPr wrap="square" rtlCol="0" anchor="ctr"/>
          <a:lstStyle/>
          <a:p>
            <a:pPr marL="0" indent="0">
              <a:buNone/>
            </a:pPr>
            <a:r>
              <a:rPr lang="pt-PT" sz="1200" noProof="0" dirty="0">
                <a:solidFill>
                  <a:srgbClr val="57707A"/>
                </a:solidFill>
                <a:latin typeface="Calibri" pitchFamily="34" charset="0"/>
                <a:ea typeface="Calibri" pitchFamily="34" charset="-122"/>
                <a:cs typeface="Calibri" pitchFamily="34" charset="-120"/>
              </a:rPr>
              <a:t>A equação central da aula</a:t>
            </a:r>
            <a:endParaRPr lang="pt-PT" sz="1200" noProof="0" dirty="0"/>
          </a:p>
        </p:txBody>
      </p:sp>
      <p:sp>
        <p:nvSpPr>
          <p:cNvPr id="25" name="Shape 22"/>
          <p:cNvSpPr/>
          <p:nvPr/>
        </p:nvSpPr>
        <p:spPr>
          <a:xfrm>
            <a:off x="6263640" y="1783080"/>
            <a:ext cx="5257800" cy="603504"/>
          </a:xfrm>
          <a:prstGeom prst="roundRect">
            <a:avLst>
              <a:gd name="adj" fmla="val 12121"/>
            </a:avLst>
          </a:prstGeom>
          <a:solidFill>
            <a:srgbClr val="EEF4F6"/>
          </a:solidFill>
          <a:ln/>
        </p:spPr>
        <p:txBody>
          <a:bodyPr/>
          <a:lstStyle/>
          <a:p>
            <a:endParaRPr lang="pt-PT" noProof="0" dirty="0"/>
          </a:p>
        </p:txBody>
      </p:sp>
      <p:sp>
        <p:nvSpPr>
          <p:cNvPr id="26" name="Text 23"/>
          <p:cNvSpPr/>
          <p:nvPr/>
        </p:nvSpPr>
        <p:spPr>
          <a:xfrm>
            <a:off x="6400800" y="1783080"/>
            <a:ext cx="640080" cy="603504"/>
          </a:xfrm>
          <a:prstGeom prst="rect">
            <a:avLst/>
          </a:prstGeom>
          <a:noFill/>
          <a:ln/>
        </p:spPr>
        <p:txBody>
          <a:bodyPr wrap="square" rtlCol="0" anchor="ctr"/>
          <a:lstStyle/>
          <a:p>
            <a:pPr marL="0" indent="0" algn="ctr">
              <a:buNone/>
            </a:pPr>
            <a:r>
              <a:rPr lang="pt-PT" sz="2000" b="1" noProof="0" dirty="0">
                <a:solidFill>
                  <a:srgbClr val="E8602C"/>
                </a:solidFill>
                <a:latin typeface="Cambria" pitchFamily="34" charset="0"/>
                <a:ea typeface="Cambria" pitchFamily="34" charset="-122"/>
                <a:cs typeface="Cambria" pitchFamily="34" charset="-120"/>
              </a:rPr>
              <a:t>05</a:t>
            </a:r>
            <a:endParaRPr lang="pt-PT" sz="2000" noProof="0" dirty="0"/>
          </a:p>
        </p:txBody>
      </p:sp>
      <p:sp>
        <p:nvSpPr>
          <p:cNvPr id="27" name="Text 24"/>
          <p:cNvSpPr/>
          <p:nvPr/>
        </p:nvSpPr>
        <p:spPr>
          <a:xfrm>
            <a:off x="7132320" y="1828800"/>
            <a:ext cx="3291840" cy="310896"/>
          </a:xfrm>
          <a:prstGeom prst="rect">
            <a:avLst/>
          </a:prstGeom>
          <a:noFill/>
          <a:ln/>
        </p:spPr>
        <p:txBody>
          <a:bodyPr wrap="square" rtlCol="0" anchor="ctr"/>
          <a:lstStyle/>
          <a:p>
            <a:pPr marL="0" indent="0">
              <a:buNone/>
            </a:pPr>
            <a:r>
              <a:rPr lang="pt-PT" sz="1400" b="1" noProof="0" dirty="0">
                <a:solidFill>
                  <a:srgbClr val="0B2545"/>
                </a:solidFill>
                <a:latin typeface="Calibri" pitchFamily="34" charset="0"/>
                <a:ea typeface="Calibri" pitchFamily="34" charset="-122"/>
                <a:cs typeface="Calibri" pitchFamily="34" charset="-120"/>
              </a:rPr>
              <a:t>Números adimensionais</a:t>
            </a:r>
            <a:endParaRPr lang="pt-PT" sz="1400" noProof="0" dirty="0"/>
          </a:p>
        </p:txBody>
      </p:sp>
      <p:sp>
        <p:nvSpPr>
          <p:cNvPr id="28" name="Text 25"/>
          <p:cNvSpPr/>
          <p:nvPr/>
        </p:nvSpPr>
        <p:spPr>
          <a:xfrm>
            <a:off x="7132320" y="2112264"/>
            <a:ext cx="3291840" cy="237744"/>
          </a:xfrm>
          <a:prstGeom prst="rect">
            <a:avLst/>
          </a:prstGeom>
          <a:noFill/>
          <a:ln/>
        </p:spPr>
        <p:txBody>
          <a:bodyPr wrap="square" rtlCol="0" anchor="ctr"/>
          <a:lstStyle/>
          <a:p>
            <a:pPr marL="0" indent="0">
              <a:buNone/>
            </a:pPr>
            <a:r>
              <a:rPr lang="pt-PT" sz="1200" noProof="0" dirty="0" err="1">
                <a:solidFill>
                  <a:srgbClr val="57707A"/>
                </a:solidFill>
                <a:latin typeface="Calibri" pitchFamily="34" charset="0"/>
                <a:ea typeface="Calibri" pitchFamily="34" charset="-122"/>
                <a:cs typeface="Calibri" pitchFamily="34" charset="-120"/>
              </a:rPr>
              <a:t>Nusselt</a:t>
            </a:r>
            <a:r>
              <a:rPr lang="pt-PT" sz="1200" noProof="0" dirty="0">
                <a:solidFill>
                  <a:srgbClr val="57707A"/>
                </a:solidFill>
                <a:latin typeface="Calibri" pitchFamily="34" charset="0"/>
                <a:ea typeface="Calibri" pitchFamily="34" charset="-122"/>
                <a:cs typeface="Calibri" pitchFamily="34" charset="-120"/>
              </a:rPr>
              <a:t>, Reynolds, </a:t>
            </a:r>
            <a:r>
              <a:rPr lang="pt-PT" sz="1200" noProof="0" dirty="0" err="1">
                <a:solidFill>
                  <a:srgbClr val="57707A"/>
                </a:solidFill>
                <a:latin typeface="Calibri" pitchFamily="34" charset="0"/>
                <a:ea typeface="Calibri" pitchFamily="34" charset="-122"/>
                <a:cs typeface="Calibri" pitchFamily="34" charset="-120"/>
              </a:rPr>
              <a:t>Prandtl</a:t>
            </a:r>
            <a:r>
              <a:rPr lang="pt-PT" sz="1200" noProof="0" dirty="0">
                <a:solidFill>
                  <a:srgbClr val="57707A"/>
                </a:solidFill>
                <a:latin typeface="Calibri" pitchFamily="34" charset="0"/>
                <a:ea typeface="Calibri" pitchFamily="34" charset="-122"/>
                <a:cs typeface="Calibri" pitchFamily="34" charset="-120"/>
              </a:rPr>
              <a:t> e correlações</a:t>
            </a:r>
            <a:endParaRPr lang="pt-PT" sz="1200" noProof="0" dirty="0"/>
          </a:p>
        </p:txBody>
      </p:sp>
      <p:sp>
        <p:nvSpPr>
          <p:cNvPr id="30" name="Shape 27"/>
          <p:cNvSpPr/>
          <p:nvPr/>
        </p:nvSpPr>
        <p:spPr>
          <a:xfrm>
            <a:off x="6263640" y="2514600"/>
            <a:ext cx="5257800" cy="603504"/>
          </a:xfrm>
          <a:prstGeom prst="roundRect">
            <a:avLst>
              <a:gd name="adj" fmla="val 12121"/>
            </a:avLst>
          </a:prstGeom>
          <a:solidFill>
            <a:srgbClr val="EEF4F6"/>
          </a:solidFill>
          <a:ln/>
        </p:spPr>
        <p:txBody>
          <a:bodyPr/>
          <a:lstStyle/>
          <a:p>
            <a:endParaRPr lang="pt-PT" noProof="0" dirty="0"/>
          </a:p>
        </p:txBody>
      </p:sp>
      <p:sp>
        <p:nvSpPr>
          <p:cNvPr id="31" name="Text 28"/>
          <p:cNvSpPr/>
          <p:nvPr/>
        </p:nvSpPr>
        <p:spPr>
          <a:xfrm>
            <a:off x="6400800" y="2514600"/>
            <a:ext cx="640080" cy="603504"/>
          </a:xfrm>
          <a:prstGeom prst="rect">
            <a:avLst/>
          </a:prstGeom>
          <a:noFill/>
          <a:ln/>
        </p:spPr>
        <p:txBody>
          <a:bodyPr wrap="square" rtlCol="0" anchor="ctr"/>
          <a:lstStyle/>
          <a:p>
            <a:pPr marL="0" indent="0" algn="ctr">
              <a:buNone/>
            </a:pPr>
            <a:r>
              <a:rPr lang="pt-PT" sz="2000" b="1" noProof="0" dirty="0">
                <a:solidFill>
                  <a:srgbClr val="E8602C"/>
                </a:solidFill>
                <a:latin typeface="Cambria" pitchFamily="34" charset="0"/>
                <a:ea typeface="Cambria" pitchFamily="34" charset="-122"/>
                <a:cs typeface="Cambria" pitchFamily="34" charset="-120"/>
              </a:rPr>
              <a:t>06</a:t>
            </a:r>
            <a:endParaRPr lang="pt-PT" sz="2000" noProof="0" dirty="0"/>
          </a:p>
        </p:txBody>
      </p:sp>
      <p:sp>
        <p:nvSpPr>
          <p:cNvPr id="32" name="Text 29"/>
          <p:cNvSpPr/>
          <p:nvPr/>
        </p:nvSpPr>
        <p:spPr>
          <a:xfrm>
            <a:off x="7132320" y="2560320"/>
            <a:ext cx="3291840" cy="310896"/>
          </a:xfrm>
          <a:prstGeom prst="rect">
            <a:avLst/>
          </a:prstGeom>
          <a:noFill/>
          <a:ln/>
        </p:spPr>
        <p:txBody>
          <a:bodyPr wrap="square" rtlCol="0" anchor="ctr"/>
          <a:lstStyle/>
          <a:p>
            <a:pPr marL="0" indent="0">
              <a:buNone/>
            </a:pPr>
            <a:r>
              <a:rPr lang="pt-PT" sz="1400" b="1" noProof="0" dirty="0">
                <a:solidFill>
                  <a:srgbClr val="0B2545"/>
                </a:solidFill>
                <a:latin typeface="Calibri" pitchFamily="34" charset="0"/>
                <a:ea typeface="Calibri" pitchFamily="34" charset="-122"/>
                <a:cs typeface="Calibri" pitchFamily="34" charset="-120"/>
              </a:rPr>
              <a:t>Estudo de caso</a:t>
            </a:r>
            <a:endParaRPr lang="pt-PT" sz="1400" noProof="0" dirty="0"/>
          </a:p>
        </p:txBody>
      </p:sp>
      <p:sp>
        <p:nvSpPr>
          <p:cNvPr id="33" name="Text 30"/>
          <p:cNvSpPr/>
          <p:nvPr/>
        </p:nvSpPr>
        <p:spPr>
          <a:xfrm>
            <a:off x="7132320" y="2843784"/>
            <a:ext cx="3291840" cy="237744"/>
          </a:xfrm>
          <a:prstGeom prst="rect">
            <a:avLst/>
          </a:prstGeom>
          <a:noFill/>
          <a:ln/>
        </p:spPr>
        <p:txBody>
          <a:bodyPr wrap="square" rtlCol="0" anchor="ctr"/>
          <a:lstStyle/>
          <a:p>
            <a:pPr marL="0" indent="0">
              <a:buNone/>
            </a:pPr>
            <a:r>
              <a:rPr lang="pt-PT" sz="1200" noProof="0" dirty="0">
                <a:solidFill>
                  <a:srgbClr val="57707A"/>
                </a:solidFill>
                <a:latin typeface="Calibri" pitchFamily="34" charset="0"/>
                <a:ea typeface="Calibri" pitchFamily="34" charset="-122"/>
                <a:cs typeface="Calibri" pitchFamily="34" charset="-120"/>
              </a:rPr>
              <a:t>Poluição térmica em corpo hídrico</a:t>
            </a:r>
            <a:endParaRPr lang="pt-PT" sz="1200" noProof="0" dirty="0"/>
          </a:p>
        </p:txBody>
      </p:sp>
      <p:sp>
        <p:nvSpPr>
          <p:cNvPr id="35" name="Shape 32"/>
          <p:cNvSpPr/>
          <p:nvPr/>
        </p:nvSpPr>
        <p:spPr>
          <a:xfrm>
            <a:off x="6263640" y="3246120"/>
            <a:ext cx="5257800" cy="603504"/>
          </a:xfrm>
          <a:prstGeom prst="roundRect">
            <a:avLst>
              <a:gd name="adj" fmla="val 12121"/>
            </a:avLst>
          </a:prstGeom>
          <a:solidFill>
            <a:srgbClr val="EEF4F6"/>
          </a:solidFill>
          <a:ln/>
        </p:spPr>
        <p:txBody>
          <a:bodyPr/>
          <a:lstStyle/>
          <a:p>
            <a:endParaRPr lang="pt-PT" noProof="0" dirty="0"/>
          </a:p>
        </p:txBody>
      </p:sp>
      <p:sp>
        <p:nvSpPr>
          <p:cNvPr id="36" name="Text 33"/>
          <p:cNvSpPr/>
          <p:nvPr/>
        </p:nvSpPr>
        <p:spPr>
          <a:xfrm>
            <a:off x="6400800" y="3246120"/>
            <a:ext cx="640080" cy="603504"/>
          </a:xfrm>
          <a:prstGeom prst="rect">
            <a:avLst/>
          </a:prstGeom>
          <a:noFill/>
          <a:ln/>
        </p:spPr>
        <p:txBody>
          <a:bodyPr wrap="square" rtlCol="0" anchor="ctr"/>
          <a:lstStyle/>
          <a:p>
            <a:pPr marL="0" indent="0" algn="ctr">
              <a:buNone/>
            </a:pPr>
            <a:r>
              <a:rPr lang="pt-PT" sz="2000" b="1" noProof="0" dirty="0">
                <a:solidFill>
                  <a:srgbClr val="E8602C"/>
                </a:solidFill>
                <a:latin typeface="Cambria" pitchFamily="34" charset="0"/>
                <a:ea typeface="Cambria" pitchFamily="34" charset="-122"/>
                <a:cs typeface="Cambria" pitchFamily="34" charset="-120"/>
              </a:rPr>
              <a:t>07</a:t>
            </a:r>
            <a:endParaRPr lang="pt-PT" sz="2000" noProof="0" dirty="0"/>
          </a:p>
        </p:txBody>
      </p:sp>
      <p:sp>
        <p:nvSpPr>
          <p:cNvPr id="37" name="Text 34"/>
          <p:cNvSpPr/>
          <p:nvPr/>
        </p:nvSpPr>
        <p:spPr>
          <a:xfrm>
            <a:off x="7132320" y="3291840"/>
            <a:ext cx="3291840" cy="310896"/>
          </a:xfrm>
          <a:prstGeom prst="rect">
            <a:avLst/>
          </a:prstGeom>
          <a:noFill/>
          <a:ln/>
        </p:spPr>
        <p:txBody>
          <a:bodyPr wrap="square" rtlCol="0" anchor="ctr"/>
          <a:lstStyle/>
          <a:p>
            <a:pPr marL="0" indent="0">
              <a:buNone/>
            </a:pPr>
            <a:r>
              <a:rPr lang="pt-PT" sz="1400" b="1" noProof="0" dirty="0">
                <a:solidFill>
                  <a:srgbClr val="0B2545"/>
                </a:solidFill>
                <a:latin typeface="Calibri" pitchFamily="34" charset="0"/>
                <a:ea typeface="Calibri" pitchFamily="34" charset="-122"/>
                <a:cs typeface="Calibri" pitchFamily="34" charset="-120"/>
              </a:rPr>
              <a:t>Síntese e conexões</a:t>
            </a:r>
            <a:endParaRPr lang="pt-PT" sz="1400" noProof="0" dirty="0"/>
          </a:p>
        </p:txBody>
      </p:sp>
      <p:sp>
        <p:nvSpPr>
          <p:cNvPr id="38" name="Text 35"/>
          <p:cNvSpPr/>
          <p:nvPr/>
        </p:nvSpPr>
        <p:spPr>
          <a:xfrm>
            <a:off x="7132320" y="3575304"/>
            <a:ext cx="3291840" cy="237744"/>
          </a:xfrm>
          <a:prstGeom prst="rect">
            <a:avLst/>
          </a:prstGeom>
          <a:noFill/>
          <a:ln/>
        </p:spPr>
        <p:txBody>
          <a:bodyPr wrap="square" rtlCol="0" anchor="ctr"/>
          <a:lstStyle/>
          <a:p>
            <a:pPr marL="0" indent="0">
              <a:buNone/>
            </a:pPr>
            <a:r>
              <a:rPr lang="pt-PT" sz="1200" noProof="0" dirty="0">
                <a:solidFill>
                  <a:srgbClr val="57707A"/>
                </a:solidFill>
                <a:latin typeface="Calibri" pitchFamily="34" charset="0"/>
                <a:ea typeface="Calibri" pitchFamily="34" charset="-122"/>
                <a:cs typeface="Calibri" pitchFamily="34" charset="-120"/>
              </a:rPr>
              <a:t>Fechamento e próximos temas</a:t>
            </a:r>
            <a:endParaRPr lang="pt-PT" sz="1200" noProof="0" dirty="0"/>
          </a:p>
        </p:txBody>
      </p:sp>
      <p:sp>
        <p:nvSpPr>
          <p:cNvPr id="40" name="Text 37"/>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41" name="Text 38"/>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Introdução</a:t>
            </a:r>
            <a:endParaRPr lang="pt-PT" sz="950" noProof="0" dirty="0"/>
          </a:p>
        </p:txBody>
      </p:sp>
      <p:sp>
        <p:nvSpPr>
          <p:cNvPr id="42" name="Text 39"/>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1</a:t>
            </a:r>
            <a:endParaRPr lang="pt-PT" sz="950" noProof="0" dirty="0"/>
          </a:p>
        </p:txBody>
      </p:sp>
      <p:sp>
        <p:nvSpPr>
          <p:cNvPr id="12" name="Text 9"/>
          <p:cNvSpPr/>
          <p:nvPr/>
        </p:nvSpPr>
        <p:spPr>
          <a:xfrm>
            <a:off x="1554480" y="3273552"/>
            <a:ext cx="3291840" cy="310896"/>
          </a:xfrm>
          <a:prstGeom prst="rect">
            <a:avLst/>
          </a:prstGeom>
          <a:noFill/>
          <a:ln/>
        </p:spPr>
        <p:txBody>
          <a:bodyPr wrap="square" rtlCol="0" anchor="ctr"/>
          <a:lstStyle/>
          <a:p>
            <a:pPr marL="0" indent="0">
              <a:buNone/>
            </a:pPr>
            <a:r>
              <a:rPr lang="pt-PT" sz="1400" b="1" noProof="0" dirty="0">
                <a:solidFill>
                  <a:srgbClr val="0B2545"/>
                </a:solidFill>
                <a:latin typeface="Calibri" pitchFamily="34" charset="0"/>
                <a:ea typeface="Calibri" pitchFamily="34" charset="-122"/>
                <a:cs typeface="Calibri" pitchFamily="34" charset="-120"/>
              </a:rPr>
              <a:t>Mecanismos e tipos</a:t>
            </a:r>
            <a:endParaRPr lang="pt-PT" sz="1400" noProof="0" dirty="0"/>
          </a:p>
        </p:txBody>
      </p:sp>
      <p:sp>
        <p:nvSpPr>
          <p:cNvPr id="13" name="Text 10"/>
          <p:cNvSpPr/>
          <p:nvPr/>
        </p:nvSpPr>
        <p:spPr>
          <a:xfrm>
            <a:off x="1554480" y="3557016"/>
            <a:ext cx="3291840" cy="237744"/>
          </a:xfrm>
          <a:prstGeom prst="rect">
            <a:avLst/>
          </a:prstGeom>
          <a:noFill/>
          <a:ln/>
        </p:spPr>
        <p:txBody>
          <a:bodyPr wrap="square" rtlCol="0" anchor="ctr"/>
          <a:lstStyle/>
          <a:p>
            <a:pPr marL="0" indent="0">
              <a:buNone/>
            </a:pPr>
            <a:r>
              <a:rPr lang="pt-PT" sz="1200" noProof="0" dirty="0">
                <a:solidFill>
                  <a:srgbClr val="57707A"/>
                </a:solidFill>
                <a:latin typeface="Calibri" pitchFamily="34" charset="0"/>
                <a:ea typeface="Calibri" pitchFamily="34" charset="-122"/>
                <a:cs typeface="Calibri" pitchFamily="34" charset="-120"/>
              </a:rPr>
              <a:t>Convecção natural x forçada</a:t>
            </a:r>
            <a:endParaRPr lang="pt-PT" sz="12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CONTEXTUALIZAÇÃO NA EMENTA</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A convecção dentro do programa da disciplina</a:t>
            </a:r>
            <a:endParaRPr lang="pt-PT" sz="3200" noProof="0" dirty="0"/>
          </a:p>
        </p:txBody>
      </p:sp>
      <p:sp>
        <p:nvSpPr>
          <p:cNvPr id="5" name="Shape 2"/>
          <p:cNvSpPr/>
          <p:nvPr/>
        </p:nvSpPr>
        <p:spPr>
          <a:xfrm>
            <a:off x="685800" y="2884611"/>
            <a:ext cx="1591056" cy="2011480"/>
          </a:xfrm>
          <a:prstGeom prst="roundRect">
            <a:avLst>
              <a:gd name="adj" fmla="val 5161"/>
            </a:avLst>
          </a:prstGeom>
          <a:solidFill>
            <a:srgbClr val="EEF4F6"/>
          </a:solidFill>
          <a:ln/>
        </p:spPr>
        <p:txBody>
          <a:bodyPr/>
          <a:lstStyle/>
          <a:p>
            <a:endParaRPr lang="pt-PT" noProof="0" dirty="0"/>
          </a:p>
        </p:txBody>
      </p:sp>
      <p:sp>
        <p:nvSpPr>
          <p:cNvPr id="6" name="Text 3"/>
          <p:cNvSpPr/>
          <p:nvPr/>
        </p:nvSpPr>
        <p:spPr>
          <a:xfrm>
            <a:off x="758952" y="3012627"/>
            <a:ext cx="1444752" cy="640080"/>
          </a:xfrm>
          <a:prstGeom prst="rect">
            <a:avLst/>
          </a:prstGeom>
          <a:noFill/>
          <a:ln/>
        </p:spPr>
        <p:txBody>
          <a:bodyPr wrap="square" rtlCol="0" anchor="t"/>
          <a:lstStyle/>
          <a:p>
            <a:pPr marL="0" indent="0">
              <a:buNone/>
            </a:pPr>
            <a:r>
              <a:rPr lang="pt-PT" sz="1400" b="1" noProof="0" dirty="0">
                <a:solidFill>
                  <a:srgbClr val="0B2545"/>
                </a:solidFill>
                <a:latin typeface="Calibri" pitchFamily="34" charset="0"/>
                <a:ea typeface="Calibri" pitchFamily="34" charset="-122"/>
                <a:cs typeface="Calibri" pitchFamily="34" charset="-120"/>
              </a:rPr>
              <a:t>Mecânica dos fluidos</a:t>
            </a:r>
            <a:endParaRPr lang="pt-PT" sz="1400" noProof="0" dirty="0"/>
          </a:p>
        </p:txBody>
      </p:sp>
      <p:sp>
        <p:nvSpPr>
          <p:cNvPr id="7" name="Text 4"/>
          <p:cNvSpPr/>
          <p:nvPr/>
        </p:nvSpPr>
        <p:spPr>
          <a:xfrm>
            <a:off x="758952" y="3738591"/>
            <a:ext cx="1444752" cy="594360"/>
          </a:xfrm>
          <a:prstGeom prst="rect">
            <a:avLst/>
          </a:prstGeom>
          <a:noFill/>
          <a:ln/>
        </p:spPr>
        <p:txBody>
          <a:bodyPr wrap="square" rtlCol="0" anchor="t"/>
          <a:lstStyle/>
          <a:p>
            <a:pPr marL="0" indent="0">
              <a:buNone/>
            </a:pPr>
            <a:r>
              <a:rPr lang="pt-PT" sz="1300" noProof="0" dirty="0">
                <a:solidFill>
                  <a:srgbClr val="57707A"/>
                </a:solidFill>
                <a:latin typeface="Calibri" pitchFamily="34" charset="0"/>
                <a:ea typeface="Calibri" pitchFamily="34" charset="-122"/>
                <a:cs typeface="Calibri" pitchFamily="34" charset="-120"/>
              </a:rPr>
              <a:t>Propriedades, estática e cinemática dos fluidos</a:t>
            </a:r>
            <a:endParaRPr lang="pt-PT" sz="1300" noProof="0" dirty="0"/>
          </a:p>
        </p:txBody>
      </p:sp>
      <p:sp>
        <p:nvSpPr>
          <p:cNvPr id="8" name="Text 5"/>
          <p:cNvSpPr/>
          <p:nvPr/>
        </p:nvSpPr>
        <p:spPr>
          <a:xfrm>
            <a:off x="2240280" y="3392103"/>
            <a:ext cx="320040" cy="402336"/>
          </a:xfrm>
          <a:prstGeom prst="rect">
            <a:avLst/>
          </a:prstGeom>
          <a:noFill/>
          <a:ln/>
        </p:spPr>
        <p:txBody>
          <a:bodyPr wrap="square" rtlCol="0" anchor="ctr"/>
          <a:lstStyle/>
          <a:p>
            <a:pPr marL="0" indent="0" algn="ctr">
              <a:buNone/>
            </a:pPr>
            <a:r>
              <a:rPr lang="pt-PT" sz="2200" b="1" noProof="0" dirty="0">
                <a:solidFill>
                  <a:srgbClr val="D6E2E6"/>
                </a:solidFill>
                <a:latin typeface="Calibri" pitchFamily="34" charset="0"/>
                <a:ea typeface="Calibri" pitchFamily="34" charset="-122"/>
                <a:cs typeface="Calibri" pitchFamily="34" charset="-120"/>
              </a:rPr>
              <a:t>›</a:t>
            </a:r>
            <a:endParaRPr lang="pt-PT" sz="2200" noProof="0" dirty="0"/>
          </a:p>
        </p:txBody>
      </p:sp>
      <p:sp>
        <p:nvSpPr>
          <p:cNvPr id="9" name="Shape 6"/>
          <p:cNvSpPr/>
          <p:nvPr/>
        </p:nvSpPr>
        <p:spPr>
          <a:xfrm>
            <a:off x="2441448" y="2884611"/>
            <a:ext cx="1591056" cy="2011480"/>
          </a:xfrm>
          <a:prstGeom prst="roundRect">
            <a:avLst>
              <a:gd name="adj" fmla="val 5161"/>
            </a:avLst>
          </a:prstGeom>
          <a:solidFill>
            <a:srgbClr val="EEF4F6"/>
          </a:solidFill>
          <a:ln/>
        </p:spPr>
        <p:txBody>
          <a:bodyPr/>
          <a:lstStyle/>
          <a:p>
            <a:endParaRPr lang="pt-PT" noProof="0" dirty="0"/>
          </a:p>
        </p:txBody>
      </p:sp>
      <p:sp>
        <p:nvSpPr>
          <p:cNvPr id="10" name="Text 7"/>
          <p:cNvSpPr/>
          <p:nvPr/>
        </p:nvSpPr>
        <p:spPr>
          <a:xfrm>
            <a:off x="2514600" y="3012627"/>
            <a:ext cx="1444752" cy="640080"/>
          </a:xfrm>
          <a:prstGeom prst="rect">
            <a:avLst/>
          </a:prstGeom>
          <a:noFill/>
          <a:ln/>
        </p:spPr>
        <p:txBody>
          <a:bodyPr wrap="square" rtlCol="0" anchor="t"/>
          <a:lstStyle/>
          <a:p>
            <a:pPr marL="0" indent="0">
              <a:buNone/>
            </a:pPr>
            <a:r>
              <a:rPr lang="pt-PT" sz="1400" b="1" noProof="0" dirty="0">
                <a:solidFill>
                  <a:srgbClr val="0B2545"/>
                </a:solidFill>
                <a:latin typeface="Calibri" pitchFamily="34" charset="0"/>
                <a:ea typeface="Calibri" pitchFamily="34" charset="-122"/>
                <a:cs typeface="Calibri" pitchFamily="34" charset="-120"/>
              </a:rPr>
              <a:t>Equações de conservação</a:t>
            </a:r>
            <a:endParaRPr lang="pt-PT" sz="1400" noProof="0" dirty="0"/>
          </a:p>
        </p:txBody>
      </p:sp>
      <p:sp>
        <p:nvSpPr>
          <p:cNvPr id="11" name="Text 8"/>
          <p:cNvSpPr/>
          <p:nvPr/>
        </p:nvSpPr>
        <p:spPr>
          <a:xfrm>
            <a:off x="2514600" y="3738591"/>
            <a:ext cx="1444752" cy="594360"/>
          </a:xfrm>
          <a:prstGeom prst="rect">
            <a:avLst/>
          </a:prstGeom>
          <a:noFill/>
          <a:ln/>
        </p:spPr>
        <p:txBody>
          <a:bodyPr wrap="square" rtlCol="0" anchor="t"/>
          <a:lstStyle/>
          <a:p>
            <a:pPr marL="0" indent="0">
              <a:buNone/>
            </a:pPr>
            <a:r>
              <a:rPr lang="pt-PT" sz="1300" noProof="0" dirty="0">
                <a:solidFill>
                  <a:srgbClr val="57707A"/>
                </a:solidFill>
                <a:latin typeface="Calibri" pitchFamily="34" charset="0"/>
                <a:ea typeface="Calibri" pitchFamily="34" charset="-122"/>
                <a:cs typeface="Calibri" pitchFamily="34" charset="-120"/>
              </a:rPr>
              <a:t>Massa, quantidade de movimento e energia</a:t>
            </a:r>
            <a:endParaRPr lang="pt-PT" sz="1300" noProof="0" dirty="0"/>
          </a:p>
        </p:txBody>
      </p:sp>
      <p:sp>
        <p:nvSpPr>
          <p:cNvPr id="12" name="Text 9"/>
          <p:cNvSpPr/>
          <p:nvPr/>
        </p:nvSpPr>
        <p:spPr>
          <a:xfrm>
            <a:off x="3995928" y="3392103"/>
            <a:ext cx="320040" cy="402336"/>
          </a:xfrm>
          <a:prstGeom prst="rect">
            <a:avLst/>
          </a:prstGeom>
          <a:noFill/>
          <a:ln/>
        </p:spPr>
        <p:txBody>
          <a:bodyPr wrap="square" rtlCol="0" anchor="ctr"/>
          <a:lstStyle/>
          <a:p>
            <a:pPr marL="0" indent="0" algn="ctr">
              <a:buNone/>
            </a:pPr>
            <a:r>
              <a:rPr lang="pt-PT" sz="2200" b="1" noProof="0" dirty="0">
                <a:solidFill>
                  <a:srgbClr val="D6E2E6"/>
                </a:solidFill>
                <a:latin typeface="Calibri" pitchFamily="34" charset="0"/>
                <a:ea typeface="Calibri" pitchFamily="34" charset="-122"/>
                <a:cs typeface="Calibri" pitchFamily="34" charset="-120"/>
              </a:rPr>
              <a:t>›</a:t>
            </a:r>
            <a:endParaRPr lang="pt-PT" sz="2200" noProof="0" dirty="0"/>
          </a:p>
        </p:txBody>
      </p:sp>
      <p:sp>
        <p:nvSpPr>
          <p:cNvPr id="13" name="Shape 10"/>
          <p:cNvSpPr/>
          <p:nvPr/>
        </p:nvSpPr>
        <p:spPr>
          <a:xfrm>
            <a:off x="4197096" y="2884611"/>
            <a:ext cx="1591056" cy="2011480"/>
          </a:xfrm>
          <a:prstGeom prst="roundRect">
            <a:avLst>
              <a:gd name="adj" fmla="val 5161"/>
            </a:avLst>
          </a:prstGeom>
          <a:solidFill>
            <a:srgbClr val="EEF4F6"/>
          </a:solidFill>
          <a:ln/>
        </p:spPr>
        <p:txBody>
          <a:bodyPr/>
          <a:lstStyle/>
          <a:p>
            <a:endParaRPr lang="pt-PT" noProof="0" dirty="0"/>
          </a:p>
        </p:txBody>
      </p:sp>
      <p:sp>
        <p:nvSpPr>
          <p:cNvPr id="14" name="Text 11"/>
          <p:cNvSpPr/>
          <p:nvPr/>
        </p:nvSpPr>
        <p:spPr>
          <a:xfrm>
            <a:off x="4270248" y="3012627"/>
            <a:ext cx="1444752" cy="640080"/>
          </a:xfrm>
          <a:prstGeom prst="rect">
            <a:avLst/>
          </a:prstGeom>
          <a:noFill/>
          <a:ln/>
        </p:spPr>
        <p:txBody>
          <a:bodyPr wrap="square" rtlCol="0" anchor="t"/>
          <a:lstStyle/>
          <a:p>
            <a:pPr marL="0" indent="0">
              <a:buNone/>
            </a:pPr>
            <a:r>
              <a:rPr lang="pt-PT" sz="1400" b="1" noProof="0" dirty="0">
                <a:solidFill>
                  <a:srgbClr val="0B2545"/>
                </a:solidFill>
                <a:latin typeface="Calibri" pitchFamily="34" charset="0"/>
                <a:ea typeface="Calibri" pitchFamily="34" charset="-122"/>
                <a:cs typeface="Calibri" pitchFamily="34" charset="-120"/>
              </a:rPr>
              <a:t>Condução</a:t>
            </a:r>
            <a:endParaRPr lang="pt-PT" sz="1400" noProof="0" dirty="0"/>
          </a:p>
        </p:txBody>
      </p:sp>
      <p:sp>
        <p:nvSpPr>
          <p:cNvPr id="15" name="Text 12"/>
          <p:cNvSpPr/>
          <p:nvPr/>
        </p:nvSpPr>
        <p:spPr>
          <a:xfrm>
            <a:off x="4270248" y="3738591"/>
            <a:ext cx="1444752" cy="594360"/>
          </a:xfrm>
          <a:prstGeom prst="rect">
            <a:avLst/>
          </a:prstGeom>
          <a:noFill/>
          <a:ln/>
        </p:spPr>
        <p:txBody>
          <a:bodyPr wrap="square" rtlCol="0" anchor="t"/>
          <a:lstStyle/>
          <a:p>
            <a:pPr marL="0" indent="0">
              <a:buNone/>
            </a:pPr>
            <a:r>
              <a:rPr lang="pt-PT" sz="1300" noProof="0" dirty="0">
                <a:solidFill>
                  <a:srgbClr val="57707A"/>
                </a:solidFill>
                <a:latin typeface="Calibri" pitchFamily="34" charset="0"/>
                <a:ea typeface="Calibri" pitchFamily="34" charset="-122"/>
                <a:cs typeface="Calibri" pitchFamily="34" charset="-120"/>
              </a:rPr>
              <a:t>Lei de Fourier — já estudada</a:t>
            </a:r>
            <a:endParaRPr lang="pt-PT" sz="1300" noProof="0" dirty="0"/>
          </a:p>
        </p:txBody>
      </p:sp>
      <p:sp>
        <p:nvSpPr>
          <p:cNvPr id="16" name="Text 13"/>
          <p:cNvSpPr/>
          <p:nvPr/>
        </p:nvSpPr>
        <p:spPr>
          <a:xfrm>
            <a:off x="5751576" y="3392103"/>
            <a:ext cx="320040" cy="402336"/>
          </a:xfrm>
          <a:prstGeom prst="rect">
            <a:avLst/>
          </a:prstGeom>
          <a:noFill/>
          <a:ln/>
        </p:spPr>
        <p:txBody>
          <a:bodyPr wrap="square" rtlCol="0" anchor="ctr"/>
          <a:lstStyle/>
          <a:p>
            <a:pPr marL="0" indent="0" algn="ctr">
              <a:buNone/>
            </a:pPr>
            <a:r>
              <a:rPr lang="pt-PT" sz="2200" b="1" noProof="0" dirty="0">
                <a:solidFill>
                  <a:srgbClr val="D6E2E6"/>
                </a:solidFill>
                <a:latin typeface="Calibri" pitchFamily="34" charset="0"/>
                <a:ea typeface="Calibri" pitchFamily="34" charset="-122"/>
                <a:cs typeface="Calibri" pitchFamily="34" charset="-120"/>
              </a:rPr>
              <a:t>›</a:t>
            </a:r>
            <a:endParaRPr lang="pt-PT" sz="2200" noProof="0" dirty="0"/>
          </a:p>
        </p:txBody>
      </p:sp>
      <p:sp>
        <p:nvSpPr>
          <p:cNvPr id="17" name="Shape 14"/>
          <p:cNvSpPr/>
          <p:nvPr/>
        </p:nvSpPr>
        <p:spPr>
          <a:xfrm>
            <a:off x="5952744" y="2884611"/>
            <a:ext cx="1591056" cy="2011480"/>
          </a:xfrm>
          <a:prstGeom prst="roundRect">
            <a:avLst>
              <a:gd name="adj" fmla="val 5161"/>
            </a:avLst>
          </a:prstGeom>
          <a:solidFill>
            <a:srgbClr val="065A82"/>
          </a:solidFill>
          <a:ln/>
          <a:effectLst>
            <a:outerShdw blurRad="101600" dist="38100" dir="5400000" algn="bl" rotWithShape="0">
              <a:srgbClr val="065A82">
                <a:alpha val="35000"/>
              </a:srgbClr>
            </a:outerShdw>
          </a:effectLst>
        </p:spPr>
        <p:txBody>
          <a:bodyPr/>
          <a:lstStyle/>
          <a:p>
            <a:endParaRPr lang="pt-PT" noProof="0" dirty="0"/>
          </a:p>
        </p:txBody>
      </p:sp>
      <p:sp>
        <p:nvSpPr>
          <p:cNvPr id="18" name="Text 15"/>
          <p:cNvSpPr/>
          <p:nvPr/>
        </p:nvSpPr>
        <p:spPr>
          <a:xfrm>
            <a:off x="6025896" y="3012627"/>
            <a:ext cx="1444752" cy="640080"/>
          </a:xfrm>
          <a:prstGeom prst="rect">
            <a:avLst/>
          </a:prstGeom>
          <a:noFill/>
          <a:ln/>
        </p:spPr>
        <p:txBody>
          <a:bodyPr wrap="square" rtlCol="0" anchor="t"/>
          <a:lstStyle/>
          <a:p>
            <a:pPr marL="0" indent="0">
              <a:buNone/>
            </a:pPr>
            <a:r>
              <a:rPr lang="pt-PT" sz="1400" b="1" noProof="0" dirty="0">
                <a:solidFill>
                  <a:srgbClr val="FFFFFF"/>
                </a:solidFill>
                <a:latin typeface="Calibri" pitchFamily="34" charset="0"/>
                <a:ea typeface="Calibri" pitchFamily="34" charset="-122"/>
                <a:cs typeface="Calibri" pitchFamily="34" charset="-120"/>
              </a:rPr>
              <a:t>Convecção</a:t>
            </a:r>
            <a:endParaRPr lang="pt-PT" sz="1400" noProof="0" dirty="0"/>
          </a:p>
        </p:txBody>
      </p:sp>
      <p:sp>
        <p:nvSpPr>
          <p:cNvPr id="19" name="Text 16"/>
          <p:cNvSpPr/>
          <p:nvPr/>
        </p:nvSpPr>
        <p:spPr>
          <a:xfrm>
            <a:off x="6025896" y="3738591"/>
            <a:ext cx="1444752" cy="594360"/>
          </a:xfrm>
          <a:prstGeom prst="rect">
            <a:avLst/>
          </a:prstGeom>
          <a:noFill/>
          <a:ln/>
        </p:spPr>
        <p:txBody>
          <a:bodyPr wrap="square" rtlCol="0" anchor="t"/>
          <a:lstStyle/>
          <a:p>
            <a:pPr marL="0" indent="0">
              <a:buNone/>
            </a:pPr>
            <a:r>
              <a:rPr lang="pt-PT" sz="1300" noProof="0" dirty="0">
                <a:solidFill>
                  <a:srgbClr val="CFE3EC"/>
                </a:solidFill>
                <a:latin typeface="Calibri" pitchFamily="34" charset="0"/>
                <a:ea typeface="Calibri" pitchFamily="34" charset="-122"/>
                <a:cs typeface="Calibri" pitchFamily="34" charset="-120"/>
              </a:rPr>
              <a:t>Lei de Newton do resfriamento — aula de hoje</a:t>
            </a:r>
            <a:endParaRPr lang="pt-PT" sz="1300" noProof="0" dirty="0"/>
          </a:p>
        </p:txBody>
      </p:sp>
      <p:sp>
        <p:nvSpPr>
          <p:cNvPr id="20" name="Text 17"/>
          <p:cNvSpPr/>
          <p:nvPr/>
        </p:nvSpPr>
        <p:spPr>
          <a:xfrm>
            <a:off x="7507224" y="3392103"/>
            <a:ext cx="320040" cy="402336"/>
          </a:xfrm>
          <a:prstGeom prst="rect">
            <a:avLst/>
          </a:prstGeom>
          <a:noFill/>
          <a:ln/>
        </p:spPr>
        <p:txBody>
          <a:bodyPr wrap="square" rtlCol="0" anchor="ctr"/>
          <a:lstStyle/>
          <a:p>
            <a:pPr marL="0" indent="0" algn="ctr">
              <a:buNone/>
            </a:pPr>
            <a:r>
              <a:rPr lang="pt-PT" sz="2200" b="1" noProof="0" dirty="0">
                <a:solidFill>
                  <a:srgbClr val="D6E2E6"/>
                </a:solidFill>
                <a:latin typeface="Calibri" pitchFamily="34" charset="0"/>
                <a:ea typeface="Calibri" pitchFamily="34" charset="-122"/>
                <a:cs typeface="Calibri" pitchFamily="34" charset="-120"/>
              </a:rPr>
              <a:t>›</a:t>
            </a:r>
            <a:endParaRPr lang="pt-PT" sz="2200" noProof="0" dirty="0"/>
          </a:p>
        </p:txBody>
      </p:sp>
      <p:sp>
        <p:nvSpPr>
          <p:cNvPr id="21" name="Shape 18"/>
          <p:cNvSpPr/>
          <p:nvPr/>
        </p:nvSpPr>
        <p:spPr>
          <a:xfrm>
            <a:off x="7708392" y="2884611"/>
            <a:ext cx="1591056" cy="2011480"/>
          </a:xfrm>
          <a:prstGeom prst="roundRect">
            <a:avLst>
              <a:gd name="adj" fmla="val 5161"/>
            </a:avLst>
          </a:prstGeom>
          <a:solidFill>
            <a:srgbClr val="EEF4F6"/>
          </a:solidFill>
          <a:ln/>
        </p:spPr>
        <p:txBody>
          <a:bodyPr/>
          <a:lstStyle/>
          <a:p>
            <a:endParaRPr lang="pt-PT" noProof="0" dirty="0"/>
          </a:p>
        </p:txBody>
      </p:sp>
      <p:sp>
        <p:nvSpPr>
          <p:cNvPr id="22" name="Text 19"/>
          <p:cNvSpPr/>
          <p:nvPr/>
        </p:nvSpPr>
        <p:spPr>
          <a:xfrm>
            <a:off x="7781544" y="3012627"/>
            <a:ext cx="1444752" cy="640080"/>
          </a:xfrm>
          <a:prstGeom prst="rect">
            <a:avLst/>
          </a:prstGeom>
          <a:noFill/>
          <a:ln/>
        </p:spPr>
        <p:txBody>
          <a:bodyPr wrap="square" rtlCol="0" anchor="t"/>
          <a:lstStyle/>
          <a:p>
            <a:pPr marL="0" indent="0">
              <a:buNone/>
            </a:pPr>
            <a:r>
              <a:rPr lang="pt-PT" sz="1400" b="1" noProof="0" dirty="0">
                <a:solidFill>
                  <a:srgbClr val="0B2545"/>
                </a:solidFill>
                <a:latin typeface="Calibri" pitchFamily="34" charset="0"/>
                <a:ea typeface="Calibri" pitchFamily="34" charset="-122"/>
                <a:cs typeface="Calibri" pitchFamily="34" charset="-120"/>
              </a:rPr>
              <a:t>Radiação</a:t>
            </a:r>
            <a:endParaRPr lang="pt-PT" sz="1400" noProof="0" dirty="0"/>
          </a:p>
        </p:txBody>
      </p:sp>
      <p:sp>
        <p:nvSpPr>
          <p:cNvPr id="23" name="Text 20"/>
          <p:cNvSpPr/>
          <p:nvPr/>
        </p:nvSpPr>
        <p:spPr>
          <a:xfrm>
            <a:off x="7781544" y="3738591"/>
            <a:ext cx="1444752" cy="594360"/>
          </a:xfrm>
          <a:prstGeom prst="rect">
            <a:avLst/>
          </a:prstGeom>
          <a:noFill/>
          <a:ln/>
        </p:spPr>
        <p:txBody>
          <a:bodyPr wrap="square" rtlCol="0" anchor="t"/>
          <a:lstStyle/>
          <a:p>
            <a:pPr marL="0" indent="0">
              <a:buNone/>
            </a:pPr>
            <a:r>
              <a:rPr lang="pt-PT" sz="1300" noProof="0" dirty="0">
                <a:solidFill>
                  <a:srgbClr val="57707A"/>
                </a:solidFill>
                <a:latin typeface="Calibri" pitchFamily="34" charset="0"/>
                <a:ea typeface="Calibri" pitchFamily="34" charset="-122"/>
                <a:cs typeface="Calibri" pitchFamily="34" charset="-120"/>
              </a:rPr>
              <a:t>Lei de Stefan-</a:t>
            </a:r>
            <a:r>
              <a:rPr lang="pt-PT" sz="1300" noProof="0" dirty="0" err="1">
                <a:solidFill>
                  <a:srgbClr val="57707A"/>
                </a:solidFill>
                <a:latin typeface="Calibri" pitchFamily="34" charset="0"/>
                <a:ea typeface="Calibri" pitchFamily="34" charset="-122"/>
                <a:cs typeface="Calibri" pitchFamily="34" charset="-120"/>
              </a:rPr>
              <a:t>Boltzmann</a:t>
            </a:r>
            <a:r>
              <a:rPr lang="pt-PT" sz="1300" noProof="0" dirty="0">
                <a:solidFill>
                  <a:srgbClr val="57707A"/>
                </a:solidFill>
                <a:latin typeface="Calibri" pitchFamily="34" charset="0"/>
                <a:ea typeface="Calibri" pitchFamily="34" charset="-122"/>
                <a:cs typeface="Calibri" pitchFamily="34" charset="-120"/>
              </a:rPr>
              <a:t> — próxima aula</a:t>
            </a:r>
            <a:endParaRPr lang="pt-PT" sz="1300" noProof="0" dirty="0"/>
          </a:p>
        </p:txBody>
      </p:sp>
      <p:sp>
        <p:nvSpPr>
          <p:cNvPr id="24" name="Text 21"/>
          <p:cNvSpPr/>
          <p:nvPr/>
        </p:nvSpPr>
        <p:spPr>
          <a:xfrm>
            <a:off x="9262872" y="3392103"/>
            <a:ext cx="320040" cy="402336"/>
          </a:xfrm>
          <a:prstGeom prst="rect">
            <a:avLst/>
          </a:prstGeom>
          <a:noFill/>
          <a:ln/>
        </p:spPr>
        <p:txBody>
          <a:bodyPr wrap="square" rtlCol="0" anchor="ctr"/>
          <a:lstStyle/>
          <a:p>
            <a:pPr marL="0" indent="0" algn="ctr">
              <a:buNone/>
            </a:pPr>
            <a:r>
              <a:rPr lang="pt-PT" sz="2200" b="1" noProof="0" dirty="0">
                <a:solidFill>
                  <a:srgbClr val="D6E2E6"/>
                </a:solidFill>
                <a:latin typeface="Calibri" pitchFamily="34" charset="0"/>
                <a:ea typeface="Calibri" pitchFamily="34" charset="-122"/>
                <a:cs typeface="Calibri" pitchFamily="34" charset="-120"/>
              </a:rPr>
              <a:t>›</a:t>
            </a:r>
            <a:endParaRPr lang="pt-PT" sz="2200" noProof="0" dirty="0"/>
          </a:p>
        </p:txBody>
      </p:sp>
      <p:sp>
        <p:nvSpPr>
          <p:cNvPr id="25" name="Shape 22"/>
          <p:cNvSpPr/>
          <p:nvPr/>
        </p:nvSpPr>
        <p:spPr>
          <a:xfrm>
            <a:off x="9464040" y="2884611"/>
            <a:ext cx="1591056" cy="2011480"/>
          </a:xfrm>
          <a:prstGeom prst="roundRect">
            <a:avLst>
              <a:gd name="adj" fmla="val 5161"/>
            </a:avLst>
          </a:prstGeom>
          <a:solidFill>
            <a:srgbClr val="EEF4F6"/>
          </a:solidFill>
          <a:ln/>
        </p:spPr>
        <p:txBody>
          <a:bodyPr/>
          <a:lstStyle/>
          <a:p>
            <a:endParaRPr lang="pt-PT" noProof="0" dirty="0"/>
          </a:p>
        </p:txBody>
      </p:sp>
      <p:sp>
        <p:nvSpPr>
          <p:cNvPr id="26" name="Text 23"/>
          <p:cNvSpPr/>
          <p:nvPr/>
        </p:nvSpPr>
        <p:spPr>
          <a:xfrm>
            <a:off x="9537192" y="3012627"/>
            <a:ext cx="1444752" cy="640080"/>
          </a:xfrm>
          <a:prstGeom prst="rect">
            <a:avLst/>
          </a:prstGeom>
          <a:noFill/>
          <a:ln/>
        </p:spPr>
        <p:txBody>
          <a:bodyPr wrap="square" rtlCol="0" anchor="t"/>
          <a:lstStyle/>
          <a:p>
            <a:pPr marL="0" indent="0">
              <a:buNone/>
            </a:pPr>
            <a:r>
              <a:rPr lang="pt-PT" sz="1400" b="1" noProof="0" dirty="0" err="1">
                <a:solidFill>
                  <a:srgbClr val="0B2545"/>
                </a:solidFill>
                <a:latin typeface="Calibri" pitchFamily="34" charset="0"/>
                <a:ea typeface="Calibri" pitchFamily="34" charset="-122"/>
                <a:cs typeface="Calibri" pitchFamily="34" charset="-120"/>
              </a:rPr>
              <a:t>Transf</a:t>
            </a:r>
            <a:r>
              <a:rPr lang="pt-PT" sz="1400" b="1" noProof="0" dirty="0">
                <a:solidFill>
                  <a:srgbClr val="0B2545"/>
                </a:solidFill>
                <a:latin typeface="Calibri" pitchFamily="34" charset="0"/>
                <a:ea typeface="Calibri" pitchFamily="34" charset="-122"/>
                <a:cs typeface="Calibri" pitchFamily="34" charset="-120"/>
              </a:rPr>
              <a:t>. de massa e análise dimensional</a:t>
            </a:r>
            <a:endParaRPr lang="pt-PT" sz="1400" noProof="0" dirty="0"/>
          </a:p>
        </p:txBody>
      </p:sp>
      <p:sp>
        <p:nvSpPr>
          <p:cNvPr id="27" name="Text 24"/>
          <p:cNvSpPr/>
          <p:nvPr/>
        </p:nvSpPr>
        <p:spPr>
          <a:xfrm>
            <a:off x="9537192" y="3738591"/>
            <a:ext cx="1444752" cy="594360"/>
          </a:xfrm>
          <a:prstGeom prst="rect">
            <a:avLst/>
          </a:prstGeom>
          <a:noFill/>
          <a:ln/>
        </p:spPr>
        <p:txBody>
          <a:bodyPr wrap="square" rtlCol="0" anchor="t"/>
          <a:lstStyle/>
          <a:p>
            <a:pPr marL="0" indent="0">
              <a:buNone/>
            </a:pPr>
            <a:r>
              <a:rPr lang="pt-PT" sz="1300" noProof="0" dirty="0">
                <a:solidFill>
                  <a:srgbClr val="57707A"/>
                </a:solidFill>
                <a:latin typeface="Calibri" pitchFamily="34" charset="0"/>
                <a:ea typeface="Calibri" pitchFamily="34" charset="-122"/>
                <a:cs typeface="Calibri" pitchFamily="34" charset="-120"/>
              </a:rPr>
              <a:t>Lei de </a:t>
            </a:r>
            <a:r>
              <a:rPr lang="pt-PT" sz="1300" noProof="0" dirty="0" err="1">
                <a:solidFill>
                  <a:srgbClr val="57707A"/>
                </a:solidFill>
                <a:latin typeface="Calibri" pitchFamily="34" charset="0"/>
                <a:ea typeface="Calibri" pitchFamily="34" charset="-122"/>
                <a:cs typeface="Calibri" pitchFamily="34" charset="-120"/>
              </a:rPr>
              <a:t>Fick</a:t>
            </a:r>
            <a:r>
              <a:rPr lang="pt-PT" sz="1300" noProof="0" dirty="0">
                <a:solidFill>
                  <a:srgbClr val="57707A"/>
                </a:solidFill>
                <a:latin typeface="Calibri" pitchFamily="34" charset="0"/>
                <a:ea typeface="Calibri" pitchFamily="34" charset="-122"/>
                <a:cs typeface="Calibri" pitchFamily="34" charset="-120"/>
              </a:rPr>
              <a:t>, Buckingham Pi</a:t>
            </a:r>
            <a:endParaRPr lang="pt-PT" sz="1300" noProof="0" dirty="0"/>
          </a:p>
        </p:txBody>
      </p:sp>
      <p:sp>
        <p:nvSpPr>
          <p:cNvPr id="29" name="Text 26"/>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30" name="Text 27"/>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Introdução</a:t>
            </a:r>
            <a:endParaRPr lang="pt-PT" sz="950" noProof="0" dirty="0"/>
          </a:p>
        </p:txBody>
      </p:sp>
      <p:sp>
        <p:nvSpPr>
          <p:cNvPr id="31" name="Text 28"/>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2</a:t>
            </a:r>
            <a:endParaRPr lang="pt-PT" sz="95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MOTIVAÇÃO</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Onde o Engenheiro Ambiental encontra a convecção?</a:t>
            </a:r>
            <a:endParaRPr lang="pt-PT" sz="3200" noProof="0" dirty="0"/>
          </a:p>
        </p:txBody>
      </p:sp>
      <p:sp>
        <p:nvSpPr>
          <p:cNvPr id="5" name="Shape 2"/>
          <p:cNvSpPr/>
          <p:nvPr/>
        </p:nvSpPr>
        <p:spPr>
          <a:xfrm>
            <a:off x="640080" y="1783080"/>
            <a:ext cx="3429000" cy="1737360"/>
          </a:xfrm>
          <a:prstGeom prst="roundRect">
            <a:avLst>
              <a:gd name="adj" fmla="val 4737"/>
            </a:avLst>
          </a:prstGeom>
          <a:solidFill>
            <a:srgbClr val="EEF4F6"/>
          </a:solidFill>
          <a:ln/>
        </p:spPr>
        <p:txBody>
          <a:bodyPr/>
          <a:lstStyle/>
          <a:p>
            <a:endParaRPr lang="pt-PT" noProof="0" dirty="0"/>
          </a:p>
        </p:txBody>
      </p:sp>
      <p:sp>
        <p:nvSpPr>
          <p:cNvPr id="6" name="Shape 3"/>
          <p:cNvSpPr/>
          <p:nvPr/>
        </p:nvSpPr>
        <p:spPr>
          <a:xfrm>
            <a:off x="841248" y="1984248"/>
            <a:ext cx="457200" cy="457200"/>
          </a:xfrm>
          <a:prstGeom prst="ellipse">
            <a:avLst/>
          </a:prstGeom>
          <a:solidFill>
            <a:srgbClr val="065A82"/>
          </a:solidFill>
          <a:ln/>
        </p:spPr>
        <p:txBody>
          <a:bodyPr/>
          <a:lstStyle/>
          <a:p>
            <a:endParaRPr lang="pt-PT" noProof="0" dirty="0"/>
          </a:p>
        </p:txBody>
      </p:sp>
      <p:sp>
        <p:nvSpPr>
          <p:cNvPr id="7" name="Text 4"/>
          <p:cNvSpPr/>
          <p:nvPr/>
        </p:nvSpPr>
        <p:spPr>
          <a:xfrm>
            <a:off x="841248" y="1984248"/>
            <a:ext cx="457200" cy="457200"/>
          </a:xfrm>
          <a:prstGeom prst="rect">
            <a:avLst/>
          </a:prstGeom>
          <a:noFill/>
          <a:ln/>
        </p:spPr>
        <p:txBody>
          <a:bodyPr wrap="square" rtlCol="0" anchor="ctr"/>
          <a:lstStyle/>
          <a:p>
            <a:pPr marL="0" indent="0" algn="ctr">
              <a:buNone/>
            </a:pPr>
            <a:r>
              <a:rPr lang="pt-PT" sz="1400" b="1" noProof="0" dirty="0">
                <a:solidFill>
                  <a:srgbClr val="FFFFFF"/>
                </a:solidFill>
                <a:latin typeface="Calibri" pitchFamily="34" charset="0"/>
                <a:ea typeface="Calibri" pitchFamily="34" charset="-122"/>
                <a:cs typeface="Calibri" pitchFamily="34" charset="-120"/>
              </a:rPr>
              <a:t>1</a:t>
            </a:r>
            <a:endParaRPr lang="pt-PT" sz="1400" noProof="0" dirty="0"/>
          </a:p>
        </p:txBody>
      </p:sp>
      <p:sp>
        <p:nvSpPr>
          <p:cNvPr id="8" name="Text 5"/>
          <p:cNvSpPr/>
          <p:nvPr/>
        </p:nvSpPr>
        <p:spPr>
          <a:xfrm>
            <a:off x="841248" y="2560320"/>
            <a:ext cx="3063240" cy="365760"/>
          </a:xfrm>
          <a:prstGeom prst="rect">
            <a:avLst/>
          </a:prstGeom>
          <a:noFill/>
          <a:ln/>
        </p:spPr>
        <p:txBody>
          <a:bodyPr wrap="square" rtlCol="0" anchor="ctr"/>
          <a:lstStyle/>
          <a:p>
            <a:pPr marL="0" indent="0">
              <a:buNone/>
            </a:pPr>
            <a:r>
              <a:rPr lang="pt-PT" sz="1600" b="1" noProof="0" dirty="0">
                <a:solidFill>
                  <a:srgbClr val="0B2545"/>
                </a:solidFill>
                <a:latin typeface="Calibri" pitchFamily="34" charset="0"/>
                <a:ea typeface="Calibri" pitchFamily="34" charset="-122"/>
                <a:cs typeface="Calibri" pitchFamily="34" charset="-120"/>
              </a:rPr>
              <a:t>Torres de resfriamento</a:t>
            </a:r>
            <a:endParaRPr lang="pt-PT" sz="1600" noProof="0" dirty="0"/>
          </a:p>
        </p:txBody>
      </p:sp>
      <p:sp>
        <p:nvSpPr>
          <p:cNvPr id="9" name="Text 6"/>
          <p:cNvSpPr/>
          <p:nvPr/>
        </p:nvSpPr>
        <p:spPr>
          <a:xfrm>
            <a:off x="841248" y="2916936"/>
            <a:ext cx="3063240" cy="530352"/>
          </a:xfrm>
          <a:prstGeom prst="rect">
            <a:avLst/>
          </a:prstGeom>
          <a:noFill/>
          <a:ln/>
        </p:spPr>
        <p:txBody>
          <a:bodyPr wrap="square" rtlCol="0" anchor="ctr"/>
          <a:lstStyle/>
          <a:p>
            <a:r>
              <a:rPr lang="pt-PT" sz="1200" noProof="0" dirty="0">
                <a:solidFill>
                  <a:srgbClr val="57707A"/>
                </a:solidFill>
                <a:latin typeface="Calibri" pitchFamily="34" charset="0"/>
                <a:ea typeface="Calibri" pitchFamily="34" charset="-122"/>
                <a:cs typeface="Calibri" pitchFamily="34" charset="-120"/>
              </a:rPr>
              <a:t>Indústrias para resfriar água de processo — convecção forçada ar/água</a:t>
            </a:r>
            <a:endParaRPr lang="pt-PT" sz="1200" noProof="0" dirty="0"/>
          </a:p>
        </p:txBody>
      </p:sp>
      <p:sp>
        <p:nvSpPr>
          <p:cNvPr id="10" name="Shape 7"/>
          <p:cNvSpPr/>
          <p:nvPr/>
        </p:nvSpPr>
        <p:spPr>
          <a:xfrm>
            <a:off x="4343400" y="1783080"/>
            <a:ext cx="3429000" cy="1737360"/>
          </a:xfrm>
          <a:prstGeom prst="roundRect">
            <a:avLst>
              <a:gd name="adj" fmla="val 4737"/>
            </a:avLst>
          </a:prstGeom>
          <a:solidFill>
            <a:srgbClr val="EEF4F6"/>
          </a:solidFill>
          <a:ln/>
        </p:spPr>
        <p:txBody>
          <a:bodyPr/>
          <a:lstStyle/>
          <a:p>
            <a:endParaRPr lang="pt-PT" noProof="0" dirty="0"/>
          </a:p>
        </p:txBody>
      </p:sp>
      <p:sp>
        <p:nvSpPr>
          <p:cNvPr id="11" name="Shape 8"/>
          <p:cNvSpPr/>
          <p:nvPr/>
        </p:nvSpPr>
        <p:spPr>
          <a:xfrm>
            <a:off x="4544568" y="1984248"/>
            <a:ext cx="457200" cy="457200"/>
          </a:xfrm>
          <a:prstGeom prst="ellipse">
            <a:avLst/>
          </a:prstGeom>
          <a:solidFill>
            <a:srgbClr val="065A82"/>
          </a:solidFill>
          <a:ln/>
        </p:spPr>
        <p:txBody>
          <a:bodyPr/>
          <a:lstStyle/>
          <a:p>
            <a:endParaRPr lang="pt-PT" noProof="0" dirty="0"/>
          </a:p>
        </p:txBody>
      </p:sp>
      <p:sp>
        <p:nvSpPr>
          <p:cNvPr id="12" name="Text 9"/>
          <p:cNvSpPr/>
          <p:nvPr/>
        </p:nvSpPr>
        <p:spPr>
          <a:xfrm>
            <a:off x="4544568" y="1984248"/>
            <a:ext cx="457200" cy="457200"/>
          </a:xfrm>
          <a:prstGeom prst="rect">
            <a:avLst/>
          </a:prstGeom>
          <a:noFill/>
          <a:ln/>
        </p:spPr>
        <p:txBody>
          <a:bodyPr wrap="square" rtlCol="0" anchor="ctr"/>
          <a:lstStyle/>
          <a:p>
            <a:pPr marL="0" indent="0" algn="ctr">
              <a:buNone/>
            </a:pPr>
            <a:r>
              <a:rPr lang="pt-PT" sz="1400" b="1" noProof="0" dirty="0">
                <a:solidFill>
                  <a:srgbClr val="FFFFFF"/>
                </a:solidFill>
                <a:latin typeface="Calibri" pitchFamily="34" charset="0"/>
                <a:ea typeface="Calibri" pitchFamily="34" charset="-122"/>
                <a:cs typeface="Calibri" pitchFamily="34" charset="-120"/>
              </a:rPr>
              <a:t>2</a:t>
            </a:r>
            <a:endParaRPr lang="pt-PT" sz="1400" noProof="0" dirty="0"/>
          </a:p>
        </p:txBody>
      </p:sp>
      <p:sp>
        <p:nvSpPr>
          <p:cNvPr id="13" name="Text 10"/>
          <p:cNvSpPr/>
          <p:nvPr/>
        </p:nvSpPr>
        <p:spPr>
          <a:xfrm>
            <a:off x="4544568" y="2560320"/>
            <a:ext cx="3063240" cy="365760"/>
          </a:xfrm>
          <a:prstGeom prst="rect">
            <a:avLst/>
          </a:prstGeom>
          <a:noFill/>
          <a:ln/>
        </p:spPr>
        <p:txBody>
          <a:bodyPr wrap="square" rtlCol="0" anchor="ctr"/>
          <a:lstStyle/>
          <a:p>
            <a:pPr marL="0" indent="0">
              <a:buNone/>
            </a:pPr>
            <a:r>
              <a:rPr lang="pt-PT" sz="1600" b="1" noProof="0" dirty="0">
                <a:solidFill>
                  <a:srgbClr val="0B2545"/>
                </a:solidFill>
                <a:latin typeface="Calibri" pitchFamily="34" charset="0"/>
                <a:ea typeface="Calibri" pitchFamily="34" charset="-122"/>
                <a:cs typeface="Calibri" pitchFamily="34" charset="-120"/>
              </a:rPr>
              <a:t>Poluição térmica</a:t>
            </a:r>
            <a:endParaRPr lang="pt-PT" sz="1600" noProof="0" dirty="0"/>
          </a:p>
        </p:txBody>
      </p:sp>
      <p:sp>
        <p:nvSpPr>
          <p:cNvPr id="14" name="Text 11"/>
          <p:cNvSpPr/>
          <p:nvPr/>
        </p:nvSpPr>
        <p:spPr>
          <a:xfrm>
            <a:off x="4544568" y="2916936"/>
            <a:ext cx="3063240" cy="530352"/>
          </a:xfrm>
          <a:prstGeom prst="rect">
            <a:avLst/>
          </a:prstGeom>
          <a:noFill/>
          <a:ln/>
        </p:spPr>
        <p:txBody>
          <a:bodyPr wrap="square" rtlCol="0" anchor="ctr"/>
          <a:lstStyle/>
          <a:p>
            <a:r>
              <a:rPr lang="pt-PT" sz="1200" noProof="0" dirty="0">
                <a:solidFill>
                  <a:srgbClr val="57707A"/>
                </a:solidFill>
                <a:latin typeface="Calibri" pitchFamily="34" charset="0"/>
                <a:ea typeface="Calibri" pitchFamily="34" charset="-122"/>
                <a:cs typeface="Calibri" pitchFamily="34" charset="-120"/>
              </a:rPr>
              <a:t>Lançamento de </a:t>
            </a:r>
            <a:r>
              <a:rPr lang="pt-PT" sz="1200" dirty="0">
                <a:solidFill>
                  <a:srgbClr val="57707A"/>
                </a:solidFill>
                <a:latin typeface="Calibri" pitchFamily="34" charset="0"/>
                <a:ea typeface="Calibri" pitchFamily="34" charset="-122"/>
                <a:cs typeface="Calibri" pitchFamily="34" charset="-120"/>
              </a:rPr>
              <a:t>efluentes quentes por </a:t>
            </a:r>
            <a:r>
              <a:rPr lang="pt-PT" sz="1200" noProof="0" dirty="0">
                <a:solidFill>
                  <a:srgbClr val="57707A"/>
                </a:solidFill>
                <a:latin typeface="Calibri" pitchFamily="34" charset="0"/>
                <a:ea typeface="Calibri" pitchFamily="34" charset="-122"/>
                <a:cs typeface="Calibri" pitchFamily="34" charset="-120"/>
              </a:rPr>
              <a:t>indústrias ou usinas termelétricas em rios,  lagos e oceanos</a:t>
            </a:r>
            <a:endParaRPr lang="pt-PT" sz="1200" noProof="0" dirty="0"/>
          </a:p>
        </p:txBody>
      </p:sp>
      <p:sp>
        <p:nvSpPr>
          <p:cNvPr id="15" name="Shape 12"/>
          <p:cNvSpPr/>
          <p:nvPr/>
        </p:nvSpPr>
        <p:spPr>
          <a:xfrm>
            <a:off x="8046720" y="1783080"/>
            <a:ext cx="3429000" cy="1737360"/>
          </a:xfrm>
          <a:prstGeom prst="roundRect">
            <a:avLst>
              <a:gd name="adj" fmla="val 4737"/>
            </a:avLst>
          </a:prstGeom>
          <a:solidFill>
            <a:srgbClr val="EEF4F6"/>
          </a:solidFill>
          <a:ln/>
        </p:spPr>
        <p:txBody>
          <a:bodyPr/>
          <a:lstStyle/>
          <a:p>
            <a:endParaRPr lang="pt-PT" noProof="0" dirty="0"/>
          </a:p>
        </p:txBody>
      </p:sp>
      <p:sp>
        <p:nvSpPr>
          <p:cNvPr id="16" name="Shape 13"/>
          <p:cNvSpPr/>
          <p:nvPr/>
        </p:nvSpPr>
        <p:spPr>
          <a:xfrm>
            <a:off x="8247888" y="1984248"/>
            <a:ext cx="457200" cy="457200"/>
          </a:xfrm>
          <a:prstGeom prst="ellipse">
            <a:avLst/>
          </a:prstGeom>
          <a:solidFill>
            <a:srgbClr val="065A82"/>
          </a:solidFill>
          <a:ln/>
        </p:spPr>
        <p:txBody>
          <a:bodyPr/>
          <a:lstStyle/>
          <a:p>
            <a:endParaRPr lang="pt-PT" noProof="0" dirty="0"/>
          </a:p>
        </p:txBody>
      </p:sp>
      <p:sp>
        <p:nvSpPr>
          <p:cNvPr id="17" name="Text 14"/>
          <p:cNvSpPr/>
          <p:nvPr/>
        </p:nvSpPr>
        <p:spPr>
          <a:xfrm>
            <a:off x="8247888" y="1984248"/>
            <a:ext cx="457200" cy="457200"/>
          </a:xfrm>
          <a:prstGeom prst="rect">
            <a:avLst/>
          </a:prstGeom>
          <a:noFill/>
          <a:ln/>
        </p:spPr>
        <p:txBody>
          <a:bodyPr wrap="square" rtlCol="0" anchor="ctr"/>
          <a:lstStyle/>
          <a:p>
            <a:pPr marL="0" indent="0" algn="ctr">
              <a:buNone/>
            </a:pPr>
            <a:r>
              <a:rPr lang="pt-PT" sz="1400" b="1" noProof="0" dirty="0">
                <a:solidFill>
                  <a:srgbClr val="FFFFFF"/>
                </a:solidFill>
                <a:latin typeface="Calibri" pitchFamily="34" charset="0"/>
                <a:ea typeface="Calibri" pitchFamily="34" charset="-122"/>
                <a:cs typeface="Calibri" pitchFamily="34" charset="-120"/>
              </a:rPr>
              <a:t>3</a:t>
            </a:r>
            <a:endParaRPr lang="pt-PT" sz="1400" noProof="0" dirty="0"/>
          </a:p>
        </p:txBody>
      </p:sp>
      <p:sp>
        <p:nvSpPr>
          <p:cNvPr id="18" name="Text 15"/>
          <p:cNvSpPr/>
          <p:nvPr/>
        </p:nvSpPr>
        <p:spPr>
          <a:xfrm>
            <a:off x="8247888" y="2560320"/>
            <a:ext cx="3063240" cy="365760"/>
          </a:xfrm>
          <a:prstGeom prst="rect">
            <a:avLst/>
          </a:prstGeom>
          <a:noFill/>
          <a:ln/>
        </p:spPr>
        <p:txBody>
          <a:bodyPr wrap="square" rtlCol="0" anchor="ctr"/>
          <a:lstStyle/>
          <a:p>
            <a:pPr marL="0" indent="0">
              <a:buNone/>
            </a:pPr>
            <a:r>
              <a:rPr lang="pt-PT" sz="1600" b="1" noProof="0" dirty="0">
                <a:solidFill>
                  <a:srgbClr val="0B2545"/>
                </a:solidFill>
                <a:latin typeface="Calibri" pitchFamily="34" charset="0"/>
                <a:ea typeface="Calibri" pitchFamily="34" charset="-122"/>
                <a:cs typeface="Calibri" pitchFamily="34" charset="-120"/>
              </a:rPr>
              <a:t>Dispersão atmosférica</a:t>
            </a:r>
            <a:endParaRPr lang="pt-PT" sz="1600" noProof="0" dirty="0"/>
          </a:p>
        </p:txBody>
      </p:sp>
      <p:sp>
        <p:nvSpPr>
          <p:cNvPr id="19" name="Text 16"/>
          <p:cNvSpPr/>
          <p:nvPr/>
        </p:nvSpPr>
        <p:spPr>
          <a:xfrm>
            <a:off x="8247888" y="2916936"/>
            <a:ext cx="3063240" cy="530352"/>
          </a:xfrm>
          <a:prstGeom prst="rect">
            <a:avLst/>
          </a:prstGeom>
          <a:noFill/>
          <a:ln/>
        </p:spPr>
        <p:txBody>
          <a:bodyPr wrap="square" rtlCol="0" anchor="ctr"/>
          <a:lstStyle/>
          <a:p>
            <a:pPr marL="0" indent="0">
              <a:buNone/>
            </a:pPr>
            <a:r>
              <a:rPr lang="pt-PT" sz="1200" noProof="0" dirty="0">
                <a:solidFill>
                  <a:srgbClr val="57707A"/>
                </a:solidFill>
                <a:latin typeface="Calibri" pitchFamily="34" charset="0"/>
                <a:ea typeface="Calibri" pitchFamily="34" charset="-122"/>
                <a:cs typeface="Calibri" pitchFamily="34" charset="-120"/>
              </a:rPr>
              <a:t>Convecção natural na camada limite atmosférica ajuda (ou dificulta) a dispersão de poluentes</a:t>
            </a:r>
            <a:endParaRPr lang="pt-PT" sz="1200" noProof="0" dirty="0"/>
          </a:p>
        </p:txBody>
      </p:sp>
      <p:sp>
        <p:nvSpPr>
          <p:cNvPr id="20" name="Shape 17"/>
          <p:cNvSpPr/>
          <p:nvPr/>
        </p:nvSpPr>
        <p:spPr>
          <a:xfrm>
            <a:off x="640080" y="3749040"/>
            <a:ext cx="3429000" cy="1737360"/>
          </a:xfrm>
          <a:prstGeom prst="roundRect">
            <a:avLst>
              <a:gd name="adj" fmla="val 4737"/>
            </a:avLst>
          </a:prstGeom>
          <a:solidFill>
            <a:srgbClr val="EEF4F6"/>
          </a:solidFill>
          <a:ln/>
        </p:spPr>
        <p:txBody>
          <a:bodyPr/>
          <a:lstStyle/>
          <a:p>
            <a:endParaRPr lang="pt-PT" noProof="0" dirty="0"/>
          </a:p>
        </p:txBody>
      </p:sp>
      <p:sp>
        <p:nvSpPr>
          <p:cNvPr id="21" name="Shape 18"/>
          <p:cNvSpPr/>
          <p:nvPr/>
        </p:nvSpPr>
        <p:spPr>
          <a:xfrm>
            <a:off x="841248" y="3950208"/>
            <a:ext cx="457200" cy="457200"/>
          </a:xfrm>
          <a:prstGeom prst="ellipse">
            <a:avLst/>
          </a:prstGeom>
          <a:solidFill>
            <a:srgbClr val="065A82"/>
          </a:solidFill>
          <a:ln/>
        </p:spPr>
        <p:txBody>
          <a:bodyPr/>
          <a:lstStyle/>
          <a:p>
            <a:endParaRPr lang="pt-PT" noProof="0" dirty="0"/>
          </a:p>
        </p:txBody>
      </p:sp>
      <p:sp>
        <p:nvSpPr>
          <p:cNvPr id="22" name="Text 19"/>
          <p:cNvSpPr/>
          <p:nvPr/>
        </p:nvSpPr>
        <p:spPr>
          <a:xfrm>
            <a:off x="841248" y="3950208"/>
            <a:ext cx="457200" cy="457200"/>
          </a:xfrm>
          <a:prstGeom prst="rect">
            <a:avLst/>
          </a:prstGeom>
          <a:noFill/>
          <a:ln/>
        </p:spPr>
        <p:txBody>
          <a:bodyPr wrap="square" rtlCol="0" anchor="ctr"/>
          <a:lstStyle/>
          <a:p>
            <a:pPr marL="0" indent="0" algn="ctr">
              <a:buNone/>
            </a:pPr>
            <a:r>
              <a:rPr lang="pt-PT" sz="1400" b="1" noProof="0" dirty="0">
                <a:solidFill>
                  <a:srgbClr val="FFFFFF"/>
                </a:solidFill>
                <a:latin typeface="Calibri" pitchFamily="34" charset="0"/>
                <a:ea typeface="Calibri" pitchFamily="34" charset="-122"/>
                <a:cs typeface="Calibri" pitchFamily="34" charset="-120"/>
              </a:rPr>
              <a:t>4</a:t>
            </a:r>
            <a:endParaRPr lang="pt-PT" sz="1400" noProof="0" dirty="0"/>
          </a:p>
        </p:txBody>
      </p:sp>
      <p:sp>
        <p:nvSpPr>
          <p:cNvPr id="23" name="Text 20"/>
          <p:cNvSpPr/>
          <p:nvPr/>
        </p:nvSpPr>
        <p:spPr>
          <a:xfrm>
            <a:off x="841248" y="4526280"/>
            <a:ext cx="3063240" cy="365760"/>
          </a:xfrm>
          <a:prstGeom prst="rect">
            <a:avLst/>
          </a:prstGeom>
          <a:noFill/>
          <a:ln/>
        </p:spPr>
        <p:txBody>
          <a:bodyPr wrap="square" rtlCol="0" anchor="ctr"/>
          <a:lstStyle/>
          <a:p>
            <a:pPr marL="0" indent="0">
              <a:buNone/>
            </a:pPr>
            <a:r>
              <a:rPr lang="pt-PT" sz="1600" b="1" noProof="0" dirty="0">
                <a:solidFill>
                  <a:srgbClr val="0B2545"/>
                </a:solidFill>
                <a:latin typeface="Calibri" pitchFamily="34" charset="0"/>
                <a:ea typeface="Calibri" pitchFamily="34" charset="-122"/>
                <a:cs typeface="Calibri" pitchFamily="34" charset="-120"/>
              </a:rPr>
              <a:t>Ilhas de calor urbanas</a:t>
            </a:r>
            <a:endParaRPr lang="pt-PT" sz="1600" noProof="0" dirty="0"/>
          </a:p>
        </p:txBody>
      </p:sp>
      <p:sp>
        <p:nvSpPr>
          <p:cNvPr id="24" name="Text 21"/>
          <p:cNvSpPr/>
          <p:nvPr/>
        </p:nvSpPr>
        <p:spPr>
          <a:xfrm>
            <a:off x="841248" y="4882896"/>
            <a:ext cx="3063240" cy="530352"/>
          </a:xfrm>
          <a:prstGeom prst="rect">
            <a:avLst/>
          </a:prstGeom>
          <a:noFill/>
          <a:ln/>
        </p:spPr>
        <p:txBody>
          <a:bodyPr wrap="square" rtlCol="0" anchor="ctr"/>
          <a:lstStyle/>
          <a:p>
            <a:pPr marL="0" indent="0">
              <a:buNone/>
            </a:pPr>
            <a:r>
              <a:rPr lang="pt-PT" sz="1200" noProof="0" dirty="0">
                <a:solidFill>
                  <a:srgbClr val="57707A"/>
                </a:solidFill>
                <a:latin typeface="Calibri" pitchFamily="34" charset="0"/>
                <a:ea typeface="Calibri" pitchFamily="34" charset="-122"/>
                <a:cs typeface="Calibri" pitchFamily="34" charset="-120"/>
              </a:rPr>
              <a:t>Trocas convectivas entre superfícies (asfalto, concreto, etc.) e o ar da cidade</a:t>
            </a:r>
            <a:endParaRPr lang="pt-PT" sz="1200" noProof="0" dirty="0"/>
          </a:p>
        </p:txBody>
      </p:sp>
      <p:sp>
        <p:nvSpPr>
          <p:cNvPr id="25" name="Shape 22"/>
          <p:cNvSpPr/>
          <p:nvPr/>
        </p:nvSpPr>
        <p:spPr>
          <a:xfrm>
            <a:off x="4343400" y="3749040"/>
            <a:ext cx="3429000" cy="1737360"/>
          </a:xfrm>
          <a:prstGeom prst="roundRect">
            <a:avLst>
              <a:gd name="adj" fmla="val 4737"/>
            </a:avLst>
          </a:prstGeom>
          <a:solidFill>
            <a:srgbClr val="EEF4F6"/>
          </a:solidFill>
          <a:ln/>
        </p:spPr>
        <p:txBody>
          <a:bodyPr/>
          <a:lstStyle/>
          <a:p>
            <a:endParaRPr lang="pt-PT" noProof="0" dirty="0"/>
          </a:p>
        </p:txBody>
      </p:sp>
      <p:sp>
        <p:nvSpPr>
          <p:cNvPr id="26" name="Shape 23"/>
          <p:cNvSpPr/>
          <p:nvPr/>
        </p:nvSpPr>
        <p:spPr>
          <a:xfrm>
            <a:off x="4544568" y="3950208"/>
            <a:ext cx="457200" cy="457200"/>
          </a:xfrm>
          <a:prstGeom prst="ellipse">
            <a:avLst/>
          </a:prstGeom>
          <a:solidFill>
            <a:srgbClr val="065A82"/>
          </a:solidFill>
          <a:ln/>
        </p:spPr>
        <p:txBody>
          <a:bodyPr/>
          <a:lstStyle/>
          <a:p>
            <a:endParaRPr lang="pt-PT" noProof="0" dirty="0"/>
          </a:p>
        </p:txBody>
      </p:sp>
      <p:sp>
        <p:nvSpPr>
          <p:cNvPr id="27" name="Text 24"/>
          <p:cNvSpPr/>
          <p:nvPr/>
        </p:nvSpPr>
        <p:spPr>
          <a:xfrm>
            <a:off x="4544568" y="3950208"/>
            <a:ext cx="457200" cy="457200"/>
          </a:xfrm>
          <a:prstGeom prst="rect">
            <a:avLst/>
          </a:prstGeom>
          <a:noFill/>
          <a:ln/>
        </p:spPr>
        <p:txBody>
          <a:bodyPr wrap="square" rtlCol="0" anchor="ctr"/>
          <a:lstStyle/>
          <a:p>
            <a:pPr marL="0" indent="0" algn="ctr">
              <a:buNone/>
            </a:pPr>
            <a:r>
              <a:rPr lang="pt-PT" sz="1400" b="1" noProof="0" dirty="0">
                <a:solidFill>
                  <a:srgbClr val="FFFFFF"/>
                </a:solidFill>
                <a:latin typeface="Calibri" pitchFamily="34" charset="0"/>
                <a:ea typeface="Calibri" pitchFamily="34" charset="-122"/>
                <a:cs typeface="Calibri" pitchFamily="34" charset="-120"/>
              </a:rPr>
              <a:t>5</a:t>
            </a:r>
            <a:endParaRPr lang="pt-PT" sz="1400" noProof="0" dirty="0"/>
          </a:p>
        </p:txBody>
      </p:sp>
      <p:sp>
        <p:nvSpPr>
          <p:cNvPr id="28" name="Text 25"/>
          <p:cNvSpPr/>
          <p:nvPr/>
        </p:nvSpPr>
        <p:spPr>
          <a:xfrm>
            <a:off x="4544568" y="4526280"/>
            <a:ext cx="3063240" cy="365760"/>
          </a:xfrm>
          <a:prstGeom prst="rect">
            <a:avLst/>
          </a:prstGeom>
          <a:noFill/>
          <a:ln/>
        </p:spPr>
        <p:txBody>
          <a:bodyPr wrap="square" rtlCol="0" anchor="ctr"/>
          <a:lstStyle/>
          <a:p>
            <a:pPr marL="0" indent="0">
              <a:buNone/>
            </a:pPr>
            <a:r>
              <a:rPr lang="pt-PT" sz="1600" b="1" noProof="0" dirty="0">
                <a:solidFill>
                  <a:srgbClr val="0B2545"/>
                </a:solidFill>
                <a:latin typeface="Calibri" pitchFamily="34" charset="0"/>
                <a:ea typeface="Calibri" pitchFamily="34" charset="-122"/>
                <a:cs typeface="Calibri" pitchFamily="34" charset="-120"/>
              </a:rPr>
              <a:t>Secagem de lodos</a:t>
            </a:r>
            <a:endParaRPr lang="pt-PT" sz="1600" noProof="0" dirty="0"/>
          </a:p>
        </p:txBody>
      </p:sp>
      <p:sp>
        <p:nvSpPr>
          <p:cNvPr id="29" name="Text 26"/>
          <p:cNvSpPr/>
          <p:nvPr/>
        </p:nvSpPr>
        <p:spPr>
          <a:xfrm>
            <a:off x="4405084" y="4882896"/>
            <a:ext cx="3429000" cy="530352"/>
          </a:xfrm>
          <a:prstGeom prst="rect">
            <a:avLst/>
          </a:prstGeom>
          <a:noFill/>
          <a:ln/>
        </p:spPr>
        <p:txBody>
          <a:bodyPr wrap="square" rtlCol="0" anchor="ctr"/>
          <a:lstStyle/>
          <a:p>
            <a:r>
              <a:rPr lang="en-US" sz="1200" dirty="0">
                <a:solidFill>
                  <a:srgbClr val="57707A"/>
                </a:solidFill>
                <a:latin typeface="Calibri" pitchFamily="34" charset="0"/>
                <a:cs typeface="Calibri" pitchFamily="34" charset="-120"/>
              </a:rPr>
              <a:t>A </a:t>
            </a:r>
            <a:r>
              <a:rPr lang="en-US" sz="1200" dirty="0" err="1">
                <a:solidFill>
                  <a:srgbClr val="57707A"/>
                </a:solidFill>
                <a:latin typeface="Calibri" pitchFamily="34" charset="0"/>
                <a:cs typeface="Calibri" pitchFamily="34" charset="-120"/>
              </a:rPr>
              <a:t>convecção</a:t>
            </a:r>
            <a:r>
              <a:rPr lang="en-US" sz="1200" dirty="0">
                <a:solidFill>
                  <a:srgbClr val="57707A"/>
                </a:solidFill>
                <a:latin typeface="Calibri" pitchFamily="34" charset="0"/>
                <a:cs typeface="Calibri" pitchFamily="34" charset="-120"/>
              </a:rPr>
              <a:t> </a:t>
            </a:r>
            <a:r>
              <a:rPr lang="en-US" sz="1200" dirty="0" err="1">
                <a:solidFill>
                  <a:srgbClr val="57707A"/>
                </a:solidFill>
                <a:latin typeface="Calibri" pitchFamily="34" charset="0"/>
                <a:cs typeface="Calibri" pitchFamily="34" charset="-120"/>
              </a:rPr>
              <a:t>forçada</a:t>
            </a:r>
            <a:r>
              <a:rPr lang="en-US" sz="1200" dirty="0">
                <a:solidFill>
                  <a:srgbClr val="57707A"/>
                </a:solidFill>
                <a:latin typeface="Calibri" pitchFamily="34" charset="0"/>
                <a:cs typeface="Calibri" pitchFamily="34" charset="-120"/>
              </a:rPr>
              <a:t> </a:t>
            </a:r>
            <a:r>
              <a:rPr lang="en-US" sz="1200" dirty="0" err="1">
                <a:solidFill>
                  <a:srgbClr val="57707A"/>
                </a:solidFill>
                <a:latin typeface="Calibri" pitchFamily="34" charset="0"/>
                <a:cs typeface="Calibri" pitchFamily="34" charset="-120"/>
              </a:rPr>
              <a:t>ou</a:t>
            </a:r>
            <a:r>
              <a:rPr lang="en-US" sz="1200" dirty="0">
                <a:solidFill>
                  <a:srgbClr val="57707A"/>
                </a:solidFill>
                <a:latin typeface="Calibri" pitchFamily="34" charset="0"/>
                <a:cs typeface="Calibri" pitchFamily="34" charset="-120"/>
              </a:rPr>
              <a:t> natural  </a:t>
            </a:r>
            <a:r>
              <a:rPr lang="en-US" sz="1200" dirty="0" err="1">
                <a:solidFill>
                  <a:srgbClr val="57707A"/>
                </a:solidFill>
                <a:latin typeface="Calibri" pitchFamily="34" charset="0"/>
                <a:cs typeface="Calibri" pitchFamily="34" charset="-120"/>
              </a:rPr>
              <a:t>otimiza</a:t>
            </a:r>
            <a:r>
              <a:rPr lang="en-US" sz="1200" dirty="0">
                <a:solidFill>
                  <a:srgbClr val="57707A"/>
                </a:solidFill>
                <a:latin typeface="Calibri" pitchFamily="34" charset="0"/>
                <a:cs typeface="Calibri" pitchFamily="34" charset="-120"/>
              </a:rPr>
              <a:t> a </a:t>
            </a:r>
            <a:r>
              <a:rPr lang="en-US" sz="1200" dirty="0" err="1">
                <a:solidFill>
                  <a:srgbClr val="57707A"/>
                </a:solidFill>
                <a:latin typeface="Calibri" pitchFamily="34" charset="0"/>
                <a:cs typeface="Calibri" pitchFamily="34" charset="-120"/>
              </a:rPr>
              <a:t>aeração</a:t>
            </a:r>
            <a:r>
              <a:rPr lang="en-US" sz="1200" dirty="0">
                <a:solidFill>
                  <a:srgbClr val="57707A"/>
                </a:solidFill>
                <a:latin typeface="Calibri" pitchFamily="34" charset="0"/>
                <a:cs typeface="Calibri" pitchFamily="34" charset="-120"/>
              </a:rPr>
              <a:t> </a:t>
            </a:r>
            <a:r>
              <a:rPr lang="en-US" sz="1200" dirty="0" err="1">
                <a:solidFill>
                  <a:srgbClr val="57707A"/>
                </a:solidFill>
                <a:latin typeface="Calibri" pitchFamily="34" charset="0"/>
                <a:cs typeface="Calibri" pitchFamily="34" charset="-120"/>
              </a:rPr>
              <a:t>em</a:t>
            </a:r>
            <a:r>
              <a:rPr lang="en-US" sz="1200" dirty="0">
                <a:solidFill>
                  <a:srgbClr val="57707A"/>
                </a:solidFill>
                <a:latin typeface="Calibri" pitchFamily="34" charset="0"/>
                <a:cs typeface="Calibri" pitchFamily="34" charset="-120"/>
              </a:rPr>
              <a:t> </a:t>
            </a:r>
            <a:r>
              <a:rPr lang="en-US" sz="1200" dirty="0" err="1">
                <a:solidFill>
                  <a:srgbClr val="57707A"/>
                </a:solidFill>
                <a:latin typeface="Calibri" pitchFamily="34" charset="0"/>
                <a:cs typeface="Calibri" pitchFamily="34" charset="-120"/>
              </a:rPr>
              <a:t>pilhas</a:t>
            </a:r>
            <a:r>
              <a:rPr lang="en-US" sz="1200" dirty="0">
                <a:solidFill>
                  <a:srgbClr val="57707A"/>
                </a:solidFill>
                <a:latin typeface="Calibri" pitchFamily="34" charset="0"/>
                <a:cs typeface="Calibri" pitchFamily="34" charset="-120"/>
              </a:rPr>
              <a:t> de </a:t>
            </a:r>
            <a:r>
              <a:rPr lang="en-US" sz="1200" dirty="0" err="1">
                <a:solidFill>
                  <a:srgbClr val="57707A"/>
                </a:solidFill>
                <a:latin typeface="Calibri" pitchFamily="34" charset="0"/>
                <a:cs typeface="Calibri" pitchFamily="34" charset="-120"/>
              </a:rPr>
              <a:t>lodos</a:t>
            </a:r>
            <a:r>
              <a:rPr lang="en-US" sz="1200" dirty="0">
                <a:solidFill>
                  <a:srgbClr val="57707A"/>
                </a:solidFill>
                <a:latin typeface="Calibri" pitchFamily="34" charset="0"/>
                <a:cs typeface="Calibri" pitchFamily="34" charset="-120"/>
              </a:rPr>
              <a:t>  para </a:t>
            </a:r>
            <a:r>
              <a:rPr lang="en-US" sz="1200" dirty="0" err="1">
                <a:solidFill>
                  <a:srgbClr val="57707A"/>
                </a:solidFill>
                <a:latin typeface="Calibri" pitchFamily="34" charset="0"/>
                <a:cs typeface="Calibri" pitchFamily="34" charset="-120"/>
              </a:rPr>
              <a:t>acelerar</a:t>
            </a:r>
            <a:r>
              <a:rPr lang="en-US" sz="1200" dirty="0">
                <a:solidFill>
                  <a:srgbClr val="57707A"/>
                </a:solidFill>
                <a:latin typeface="Calibri" pitchFamily="34" charset="0"/>
                <a:cs typeface="Calibri" pitchFamily="34" charset="-120"/>
              </a:rPr>
              <a:t> o </a:t>
            </a:r>
            <a:r>
              <a:rPr lang="en-US" sz="1200" dirty="0" err="1">
                <a:solidFill>
                  <a:srgbClr val="57707A"/>
                </a:solidFill>
                <a:latin typeface="Calibri" pitchFamily="34" charset="0"/>
                <a:cs typeface="Calibri" pitchFamily="34" charset="-120"/>
              </a:rPr>
              <a:t>processo</a:t>
            </a:r>
            <a:r>
              <a:rPr lang="en-US" sz="1200" dirty="0">
                <a:solidFill>
                  <a:srgbClr val="57707A"/>
                </a:solidFill>
                <a:latin typeface="Calibri" pitchFamily="34" charset="0"/>
                <a:cs typeface="Calibri" pitchFamily="34" charset="-120"/>
              </a:rPr>
              <a:t> de </a:t>
            </a:r>
            <a:r>
              <a:rPr lang="en-US" sz="1200" dirty="0" err="1">
                <a:solidFill>
                  <a:srgbClr val="57707A"/>
                </a:solidFill>
                <a:latin typeface="Calibri" pitchFamily="34" charset="0"/>
                <a:cs typeface="Calibri" pitchFamily="34" charset="-120"/>
              </a:rPr>
              <a:t>secagem</a:t>
            </a:r>
            <a:r>
              <a:rPr lang="en-US" sz="1200" dirty="0">
                <a:solidFill>
                  <a:srgbClr val="57707A"/>
                </a:solidFill>
                <a:latin typeface="Calibri" pitchFamily="34" charset="0"/>
                <a:cs typeface="Calibri" pitchFamily="34" charset="-120"/>
              </a:rPr>
              <a:t> e/</a:t>
            </a:r>
            <a:r>
              <a:rPr lang="en-US" sz="1200" dirty="0" err="1">
                <a:solidFill>
                  <a:srgbClr val="57707A"/>
                </a:solidFill>
                <a:latin typeface="Calibri" pitchFamily="34" charset="0"/>
                <a:cs typeface="Calibri" pitchFamily="34" charset="-120"/>
              </a:rPr>
              <a:t>ou</a:t>
            </a:r>
            <a:r>
              <a:rPr lang="en-US" sz="1200" dirty="0">
                <a:solidFill>
                  <a:srgbClr val="57707A"/>
                </a:solidFill>
                <a:latin typeface="Calibri" pitchFamily="34" charset="0"/>
                <a:cs typeface="Calibri" pitchFamily="34" charset="-120"/>
              </a:rPr>
              <a:t> a </a:t>
            </a:r>
            <a:r>
              <a:rPr lang="en-US" sz="1200" dirty="0" err="1">
                <a:solidFill>
                  <a:srgbClr val="57707A"/>
                </a:solidFill>
                <a:latin typeface="Calibri" pitchFamily="34" charset="0"/>
                <a:cs typeface="Calibri" pitchFamily="34" charset="-120"/>
              </a:rPr>
              <a:t>degradação</a:t>
            </a:r>
            <a:r>
              <a:rPr lang="en-US" sz="1200" dirty="0">
                <a:solidFill>
                  <a:srgbClr val="57707A"/>
                </a:solidFill>
                <a:latin typeface="Calibri" pitchFamily="34" charset="0"/>
                <a:cs typeface="Calibri" pitchFamily="34" charset="-120"/>
              </a:rPr>
              <a:t> </a:t>
            </a:r>
            <a:r>
              <a:rPr lang="en-US" sz="1200" dirty="0" err="1">
                <a:solidFill>
                  <a:srgbClr val="57707A"/>
                </a:solidFill>
                <a:latin typeface="Calibri" pitchFamily="34" charset="0"/>
                <a:cs typeface="Calibri" pitchFamily="34" charset="-120"/>
              </a:rPr>
              <a:t>microbiana</a:t>
            </a:r>
            <a:endParaRPr lang="pt-PT" sz="1200" dirty="0">
              <a:solidFill>
                <a:srgbClr val="57707A"/>
              </a:solidFill>
              <a:latin typeface="Calibri" pitchFamily="34" charset="0"/>
              <a:cs typeface="Calibri" pitchFamily="34" charset="-120"/>
            </a:endParaRPr>
          </a:p>
        </p:txBody>
      </p:sp>
      <p:sp>
        <p:nvSpPr>
          <p:cNvPr id="30" name="Shape 27"/>
          <p:cNvSpPr/>
          <p:nvPr/>
        </p:nvSpPr>
        <p:spPr>
          <a:xfrm>
            <a:off x="8046720" y="3749040"/>
            <a:ext cx="3429000" cy="1737360"/>
          </a:xfrm>
          <a:prstGeom prst="roundRect">
            <a:avLst>
              <a:gd name="adj" fmla="val 4737"/>
            </a:avLst>
          </a:prstGeom>
          <a:solidFill>
            <a:srgbClr val="EEF4F6"/>
          </a:solidFill>
          <a:ln/>
        </p:spPr>
        <p:txBody>
          <a:bodyPr/>
          <a:lstStyle/>
          <a:p>
            <a:endParaRPr lang="pt-PT" noProof="0" dirty="0"/>
          </a:p>
        </p:txBody>
      </p:sp>
      <p:sp>
        <p:nvSpPr>
          <p:cNvPr id="31" name="Shape 28"/>
          <p:cNvSpPr/>
          <p:nvPr/>
        </p:nvSpPr>
        <p:spPr>
          <a:xfrm>
            <a:off x="8247888" y="3950208"/>
            <a:ext cx="457200" cy="457200"/>
          </a:xfrm>
          <a:prstGeom prst="ellipse">
            <a:avLst/>
          </a:prstGeom>
          <a:solidFill>
            <a:srgbClr val="065A82"/>
          </a:solidFill>
          <a:ln/>
        </p:spPr>
        <p:txBody>
          <a:bodyPr/>
          <a:lstStyle/>
          <a:p>
            <a:endParaRPr lang="pt-PT" noProof="0" dirty="0"/>
          </a:p>
        </p:txBody>
      </p:sp>
      <p:sp>
        <p:nvSpPr>
          <p:cNvPr id="32" name="Text 29"/>
          <p:cNvSpPr/>
          <p:nvPr/>
        </p:nvSpPr>
        <p:spPr>
          <a:xfrm>
            <a:off x="8247888" y="3950208"/>
            <a:ext cx="457200" cy="457200"/>
          </a:xfrm>
          <a:prstGeom prst="rect">
            <a:avLst/>
          </a:prstGeom>
          <a:noFill/>
          <a:ln/>
        </p:spPr>
        <p:txBody>
          <a:bodyPr wrap="square" rtlCol="0" anchor="ctr"/>
          <a:lstStyle/>
          <a:p>
            <a:pPr marL="0" indent="0" algn="ctr">
              <a:buNone/>
            </a:pPr>
            <a:r>
              <a:rPr lang="pt-PT" sz="1400" b="1" noProof="0" dirty="0">
                <a:solidFill>
                  <a:srgbClr val="FFFFFF"/>
                </a:solidFill>
                <a:latin typeface="Calibri" pitchFamily="34" charset="0"/>
                <a:ea typeface="Calibri" pitchFamily="34" charset="-122"/>
                <a:cs typeface="Calibri" pitchFamily="34" charset="-120"/>
              </a:rPr>
              <a:t>6</a:t>
            </a:r>
            <a:endParaRPr lang="pt-PT" sz="1400" noProof="0" dirty="0"/>
          </a:p>
        </p:txBody>
      </p:sp>
      <p:sp>
        <p:nvSpPr>
          <p:cNvPr id="33" name="Text 30"/>
          <p:cNvSpPr/>
          <p:nvPr/>
        </p:nvSpPr>
        <p:spPr>
          <a:xfrm>
            <a:off x="8139400" y="4526280"/>
            <a:ext cx="3502152" cy="365760"/>
          </a:xfrm>
          <a:prstGeom prst="rect">
            <a:avLst/>
          </a:prstGeom>
          <a:noFill/>
          <a:ln/>
        </p:spPr>
        <p:txBody>
          <a:bodyPr wrap="square" rtlCol="0" anchor="ctr"/>
          <a:lstStyle/>
          <a:p>
            <a:r>
              <a:rPr lang="pt-PT" sz="1600" b="1" dirty="0">
                <a:solidFill>
                  <a:srgbClr val="0B2545"/>
                </a:solidFill>
                <a:latin typeface="Calibri" pitchFamily="34" charset="0"/>
                <a:cs typeface="Calibri" pitchFamily="34" charset="-120"/>
              </a:rPr>
              <a:t>Estratificação em lagos e reservatórios</a:t>
            </a:r>
          </a:p>
        </p:txBody>
      </p:sp>
      <p:sp>
        <p:nvSpPr>
          <p:cNvPr id="34" name="Text 31"/>
          <p:cNvSpPr/>
          <p:nvPr/>
        </p:nvSpPr>
        <p:spPr>
          <a:xfrm>
            <a:off x="8247888" y="4882896"/>
            <a:ext cx="3063240" cy="530352"/>
          </a:xfrm>
          <a:prstGeom prst="rect">
            <a:avLst/>
          </a:prstGeom>
          <a:noFill/>
          <a:ln/>
        </p:spPr>
        <p:txBody>
          <a:bodyPr wrap="square" rtlCol="0" anchor="ctr"/>
          <a:lstStyle/>
          <a:p>
            <a:r>
              <a:rPr lang="pt-PT" sz="1200" dirty="0">
                <a:solidFill>
                  <a:srgbClr val="57707A"/>
                </a:solidFill>
                <a:latin typeface="Calibri" pitchFamily="34" charset="0"/>
                <a:ea typeface="Calibri" pitchFamily="34" charset="-122"/>
                <a:cs typeface="Calibri" pitchFamily="34" charset="-120"/>
              </a:rPr>
              <a:t>Correntes de convecção natural geradas por variações de temperatura na água, que afetam a oxigenação e a distribuição de nutrientes.</a:t>
            </a:r>
            <a:endParaRPr lang="pt-PT" sz="1200" noProof="0" dirty="0"/>
          </a:p>
        </p:txBody>
      </p:sp>
      <p:sp>
        <p:nvSpPr>
          <p:cNvPr id="35" name="Text 32"/>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36" name="Text 33"/>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Introdução</a:t>
            </a:r>
            <a:endParaRPr lang="pt-PT" sz="950" noProof="0" dirty="0"/>
          </a:p>
        </p:txBody>
      </p:sp>
      <p:sp>
        <p:nvSpPr>
          <p:cNvPr id="37" name="Text 34"/>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3</a:t>
            </a:r>
            <a:endParaRPr lang="pt-PT" sz="95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REVISÃO</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Os três mecanismos de transferência de calor</a:t>
            </a:r>
            <a:endParaRPr lang="pt-PT" sz="3200" noProof="0" dirty="0"/>
          </a:p>
        </p:txBody>
      </p:sp>
      <p:sp>
        <p:nvSpPr>
          <p:cNvPr id="5" name="Shape 2"/>
          <p:cNvSpPr/>
          <p:nvPr/>
        </p:nvSpPr>
        <p:spPr>
          <a:xfrm>
            <a:off x="640080" y="1828800"/>
            <a:ext cx="3429000" cy="4645152"/>
          </a:xfrm>
          <a:prstGeom prst="roundRect">
            <a:avLst>
              <a:gd name="adj" fmla="val 2667"/>
            </a:avLst>
          </a:prstGeom>
          <a:solidFill>
            <a:srgbClr val="EEF4F6"/>
          </a:solidFill>
          <a:ln/>
        </p:spPr>
        <p:txBody>
          <a:bodyPr/>
          <a:lstStyle/>
          <a:p>
            <a:endParaRPr lang="pt-PT" noProof="0" dirty="0"/>
          </a:p>
        </p:txBody>
      </p:sp>
      <p:sp>
        <p:nvSpPr>
          <p:cNvPr id="6" name="Text 3"/>
          <p:cNvSpPr/>
          <p:nvPr/>
        </p:nvSpPr>
        <p:spPr>
          <a:xfrm>
            <a:off x="914400" y="1870040"/>
            <a:ext cx="2880360" cy="502920"/>
          </a:xfrm>
          <a:prstGeom prst="rect">
            <a:avLst/>
          </a:prstGeom>
          <a:noFill/>
          <a:ln/>
        </p:spPr>
        <p:txBody>
          <a:bodyPr wrap="square" rtlCol="0" anchor="ctr"/>
          <a:lstStyle/>
          <a:p>
            <a:pPr marL="0" indent="0">
              <a:buNone/>
            </a:pPr>
            <a:r>
              <a:rPr lang="pt-PT" sz="2000" b="1" noProof="0" dirty="0">
                <a:solidFill>
                  <a:srgbClr val="0B2545"/>
                </a:solidFill>
                <a:latin typeface="Cambria" pitchFamily="34" charset="0"/>
                <a:ea typeface="Cambria" pitchFamily="34" charset="-122"/>
                <a:cs typeface="Cambria" pitchFamily="34" charset="-120"/>
              </a:rPr>
              <a:t>Condução</a:t>
            </a:r>
            <a:endParaRPr lang="pt-PT" sz="2000" noProof="0" dirty="0"/>
          </a:p>
        </p:txBody>
      </p:sp>
      <p:sp>
        <p:nvSpPr>
          <p:cNvPr id="7" name="Text 4"/>
          <p:cNvSpPr/>
          <p:nvPr/>
        </p:nvSpPr>
        <p:spPr>
          <a:xfrm>
            <a:off x="914400" y="2312898"/>
            <a:ext cx="2880360" cy="1042950"/>
          </a:xfrm>
          <a:prstGeom prst="rect">
            <a:avLst/>
          </a:prstGeom>
          <a:noFill/>
          <a:ln/>
        </p:spPr>
        <p:txBody>
          <a:bodyPr wrap="square" rtlCol="0" anchor="ctr"/>
          <a:lstStyle/>
          <a:p>
            <a:pPr marL="0" indent="0">
              <a:lnSpc>
                <a:spcPts val="1700"/>
              </a:lnSpc>
              <a:buNone/>
            </a:pPr>
            <a:r>
              <a:rPr lang="pt-PT" sz="1200" noProof="0" dirty="0">
                <a:solidFill>
                  <a:srgbClr val="182A32"/>
                </a:solidFill>
                <a:latin typeface="Calibri" pitchFamily="34" charset="0"/>
                <a:ea typeface="Calibri" pitchFamily="34" charset="-122"/>
                <a:cs typeface="Calibri" pitchFamily="34" charset="-120"/>
              </a:rPr>
              <a:t>Transmissão de energia por contato molecular em um meio sólido ou fluido em </a:t>
            </a:r>
            <a:r>
              <a:rPr lang="pt-PT" sz="1200" b="1" noProof="0" dirty="0">
                <a:solidFill>
                  <a:srgbClr val="182A32"/>
                </a:solidFill>
                <a:latin typeface="Calibri" pitchFamily="34" charset="0"/>
                <a:ea typeface="Calibri" pitchFamily="34" charset="-122"/>
                <a:cs typeface="Calibri" pitchFamily="34" charset="-120"/>
              </a:rPr>
              <a:t>repouso</a:t>
            </a:r>
            <a:r>
              <a:rPr lang="pt-PT" sz="1200" noProof="0" dirty="0">
                <a:solidFill>
                  <a:srgbClr val="182A32"/>
                </a:solidFill>
                <a:latin typeface="Calibri" pitchFamily="34" charset="0"/>
                <a:ea typeface="Calibri" pitchFamily="34" charset="-122"/>
                <a:cs typeface="Calibri" pitchFamily="34" charset="-120"/>
              </a:rPr>
              <a:t>.</a:t>
            </a:r>
            <a:endParaRPr lang="pt-PT" sz="1200" noProof="0" dirty="0"/>
          </a:p>
        </p:txBody>
      </p:sp>
      <p:sp>
        <p:nvSpPr>
          <p:cNvPr id="8" name="Shape 5"/>
          <p:cNvSpPr/>
          <p:nvPr/>
        </p:nvSpPr>
        <p:spPr>
          <a:xfrm>
            <a:off x="914400" y="3420035"/>
            <a:ext cx="2880360" cy="0"/>
          </a:xfrm>
          <a:prstGeom prst="line">
            <a:avLst/>
          </a:prstGeom>
          <a:noFill/>
          <a:ln w="12700">
            <a:solidFill>
              <a:srgbClr val="D6E2E6"/>
            </a:solidFill>
            <a:prstDash val="solid"/>
          </a:ln>
        </p:spPr>
        <p:txBody>
          <a:bodyPr/>
          <a:lstStyle/>
          <a:p>
            <a:endParaRPr lang="pt-PT" noProof="0" dirty="0"/>
          </a:p>
        </p:txBody>
      </p:sp>
      <p:sp>
        <p:nvSpPr>
          <p:cNvPr id="9" name="Text 6"/>
          <p:cNvSpPr/>
          <p:nvPr/>
        </p:nvSpPr>
        <p:spPr>
          <a:xfrm>
            <a:off x="914400" y="3557195"/>
            <a:ext cx="2880360" cy="548640"/>
          </a:xfrm>
          <a:prstGeom prst="rect">
            <a:avLst/>
          </a:prstGeom>
          <a:noFill/>
          <a:ln/>
        </p:spPr>
        <p:txBody>
          <a:bodyPr wrap="square" rtlCol="0" anchor="ctr"/>
          <a:lstStyle/>
          <a:p>
            <a:pPr marL="0" indent="0">
              <a:buNone/>
            </a:pPr>
            <a:r>
              <a:rPr lang="pt-PT" sz="1200" b="1" i="1" noProof="0" dirty="0">
                <a:solidFill>
                  <a:srgbClr val="1C7293"/>
                </a:solidFill>
                <a:latin typeface="Calibri" pitchFamily="34" charset="0"/>
                <a:ea typeface="Calibri" pitchFamily="34" charset="-122"/>
                <a:cs typeface="Calibri" pitchFamily="34" charset="-120"/>
              </a:rPr>
              <a:t>Lei de Fourier — já estudada</a:t>
            </a:r>
            <a:endParaRPr lang="pt-PT" sz="1200" noProof="0" dirty="0"/>
          </a:p>
        </p:txBody>
      </p:sp>
      <p:sp>
        <p:nvSpPr>
          <p:cNvPr id="10" name="Shape 7"/>
          <p:cNvSpPr/>
          <p:nvPr/>
        </p:nvSpPr>
        <p:spPr>
          <a:xfrm>
            <a:off x="4343400" y="1828800"/>
            <a:ext cx="3429000" cy="4645152"/>
          </a:xfrm>
          <a:prstGeom prst="roundRect">
            <a:avLst>
              <a:gd name="adj" fmla="val 2667"/>
            </a:avLst>
          </a:prstGeom>
          <a:solidFill>
            <a:srgbClr val="065A82"/>
          </a:solidFill>
          <a:ln/>
        </p:spPr>
        <p:txBody>
          <a:bodyPr/>
          <a:lstStyle/>
          <a:p>
            <a:endParaRPr lang="pt-PT" noProof="0" dirty="0"/>
          </a:p>
        </p:txBody>
      </p:sp>
      <p:sp>
        <p:nvSpPr>
          <p:cNvPr id="11" name="Text 8"/>
          <p:cNvSpPr/>
          <p:nvPr/>
        </p:nvSpPr>
        <p:spPr>
          <a:xfrm>
            <a:off x="4617720" y="1870040"/>
            <a:ext cx="2880360" cy="502920"/>
          </a:xfrm>
          <a:prstGeom prst="rect">
            <a:avLst/>
          </a:prstGeom>
          <a:noFill/>
          <a:ln/>
        </p:spPr>
        <p:txBody>
          <a:bodyPr wrap="square" rtlCol="0" anchor="ctr"/>
          <a:lstStyle/>
          <a:p>
            <a:pPr marL="0" indent="0">
              <a:buNone/>
            </a:pPr>
            <a:r>
              <a:rPr lang="pt-PT" sz="2000" b="1" noProof="0" dirty="0">
                <a:solidFill>
                  <a:srgbClr val="FFFFFF"/>
                </a:solidFill>
                <a:latin typeface="Cambria" pitchFamily="34" charset="0"/>
                <a:ea typeface="Cambria" pitchFamily="34" charset="-122"/>
                <a:cs typeface="Cambria" pitchFamily="34" charset="-120"/>
              </a:rPr>
              <a:t>Convecção</a:t>
            </a:r>
            <a:endParaRPr lang="pt-PT" sz="2000" noProof="0" dirty="0"/>
          </a:p>
        </p:txBody>
      </p:sp>
      <p:sp>
        <p:nvSpPr>
          <p:cNvPr id="12" name="Text 9"/>
          <p:cNvSpPr/>
          <p:nvPr/>
        </p:nvSpPr>
        <p:spPr>
          <a:xfrm>
            <a:off x="4617720" y="2312898"/>
            <a:ext cx="2880360" cy="1042950"/>
          </a:xfrm>
          <a:prstGeom prst="rect">
            <a:avLst/>
          </a:prstGeom>
          <a:noFill/>
          <a:ln/>
        </p:spPr>
        <p:txBody>
          <a:bodyPr wrap="square" rtlCol="0" anchor="ctr"/>
          <a:lstStyle/>
          <a:p>
            <a:pPr marL="0" indent="0">
              <a:lnSpc>
                <a:spcPts val="1700"/>
              </a:lnSpc>
              <a:buNone/>
            </a:pPr>
            <a:r>
              <a:rPr lang="pt-PT" sz="1200" noProof="0" dirty="0">
                <a:solidFill>
                  <a:srgbClr val="E4F1F5"/>
                </a:solidFill>
                <a:latin typeface="Calibri" pitchFamily="34" charset="0"/>
                <a:ea typeface="Calibri" pitchFamily="34" charset="-122"/>
                <a:cs typeface="Calibri" pitchFamily="34" charset="-120"/>
              </a:rPr>
              <a:t>Transmissão de energia entre uma superfície e um fluido em </a:t>
            </a:r>
            <a:r>
              <a:rPr lang="pt-PT" sz="1200" b="1" noProof="0" dirty="0">
                <a:solidFill>
                  <a:srgbClr val="E4F1F5"/>
                </a:solidFill>
                <a:latin typeface="Calibri" pitchFamily="34" charset="0"/>
                <a:ea typeface="Calibri" pitchFamily="34" charset="-122"/>
                <a:cs typeface="Calibri" pitchFamily="34" charset="-120"/>
              </a:rPr>
              <a:t>movimento</a:t>
            </a:r>
            <a:r>
              <a:rPr lang="pt-PT" sz="1200" noProof="0" dirty="0">
                <a:solidFill>
                  <a:srgbClr val="E4F1F5"/>
                </a:solidFill>
                <a:latin typeface="Calibri" pitchFamily="34" charset="0"/>
                <a:ea typeface="Calibri" pitchFamily="34" charset="-122"/>
                <a:cs typeface="Calibri" pitchFamily="34" charset="-120"/>
              </a:rPr>
              <a:t> adjacente a ela.</a:t>
            </a:r>
            <a:endParaRPr lang="pt-PT" sz="1200" noProof="0" dirty="0"/>
          </a:p>
        </p:txBody>
      </p:sp>
      <p:sp>
        <p:nvSpPr>
          <p:cNvPr id="13" name="Shape 10"/>
          <p:cNvSpPr/>
          <p:nvPr/>
        </p:nvSpPr>
        <p:spPr>
          <a:xfrm>
            <a:off x="4617720" y="3420035"/>
            <a:ext cx="2880360" cy="0"/>
          </a:xfrm>
          <a:prstGeom prst="line">
            <a:avLst/>
          </a:prstGeom>
          <a:noFill/>
          <a:ln w="12700">
            <a:solidFill>
              <a:srgbClr val="3F7DA0"/>
            </a:solidFill>
            <a:prstDash val="solid"/>
          </a:ln>
        </p:spPr>
        <p:txBody>
          <a:bodyPr/>
          <a:lstStyle/>
          <a:p>
            <a:endParaRPr lang="pt-PT" noProof="0" dirty="0"/>
          </a:p>
        </p:txBody>
      </p:sp>
      <p:sp>
        <p:nvSpPr>
          <p:cNvPr id="14" name="Text 11"/>
          <p:cNvSpPr/>
          <p:nvPr/>
        </p:nvSpPr>
        <p:spPr>
          <a:xfrm>
            <a:off x="4617720" y="3557195"/>
            <a:ext cx="2880360" cy="548640"/>
          </a:xfrm>
          <a:prstGeom prst="rect">
            <a:avLst/>
          </a:prstGeom>
          <a:noFill/>
          <a:ln/>
        </p:spPr>
        <p:txBody>
          <a:bodyPr wrap="square" rtlCol="0" anchor="ctr"/>
          <a:lstStyle/>
          <a:p>
            <a:pPr marL="0" indent="0">
              <a:buNone/>
            </a:pPr>
            <a:r>
              <a:rPr lang="pt-PT" sz="1200" b="1" i="1" noProof="0" dirty="0">
                <a:solidFill>
                  <a:srgbClr val="0FA3B1"/>
                </a:solidFill>
                <a:latin typeface="Calibri" pitchFamily="34" charset="0"/>
                <a:ea typeface="Calibri" pitchFamily="34" charset="-122"/>
                <a:cs typeface="Calibri" pitchFamily="34" charset="-120"/>
              </a:rPr>
              <a:t>Lei de Newton — aula de hoje</a:t>
            </a:r>
            <a:endParaRPr lang="pt-PT" sz="1200" noProof="0" dirty="0"/>
          </a:p>
        </p:txBody>
      </p:sp>
      <p:sp>
        <p:nvSpPr>
          <p:cNvPr id="15" name="Shape 12"/>
          <p:cNvSpPr/>
          <p:nvPr/>
        </p:nvSpPr>
        <p:spPr>
          <a:xfrm>
            <a:off x="8046720" y="1828800"/>
            <a:ext cx="3429000" cy="4645152"/>
          </a:xfrm>
          <a:prstGeom prst="roundRect">
            <a:avLst>
              <a:gd name="adj" fmla="val 2667"/>
            </a:avLst>
          </a:prstGeom>
          <a:solidFill>
            <a:srgbClr val="EEF4F6"/>
          </a:solidFill>
          <a:ln/>
        </p:spPr>
        <p:txBody>
          <a:bodyPr/>
          <a:lstStyle/>
          <a:p>
            <a:endParaRPr lang="pt-PT" noProof="0" dirty="0"/>
          </a:p>
        </p:txBody>
      </p:sp>
      <p:sp>
        <p:nvSpPr>
          <p:cNvPr id="16" name="Text 13"/>
          <p:cNvSpPr/>
          <p:nvPr/>
        </p:nvSpPr>
        <p:spPr>
          <a:xfrm>
            <a:off x="8321040" y="1870040"/>
            <a:ext cx="2880360" cy="502920"/>
          </a:xfrm>
          <a:prstGeom prst="rect">
            <a:avLst/>
          </a:prstGeom>
          <a:noFill/>
          <a:ln/>
        </p:spPr>
        <p:txBody>
          <a:bodyPr wrap="square" rtlCol="0" anchor="ctr"/>
          <a:lstStyle/>
          <a:p>
            <a:pPr marL="0" indent="0">
              <a:buNone/>
            </a:pPr>
            <a:r>
              <a:rPr lang="pt-PT" sz="2000" b="1" noProof="0" dirty="0">
                <a:solidFill>
                  <a:srgbClr val="0B2545"/>
                </a:solidFill>
                <a:latin typeface="Cambria" pitchFamily="34" charset="0"/>
                <a:ea typeface="Cambria" pitchFamily="34" charset="-122"/>
                <a:cs typeface="Cambria" pitchFamily="34" charset="-120"/>
              </a:rPr>
              <a:t>Radiação</a:t>
            </a:r>
            <a:endParaRPr lang="pt-PT" sz="2000" noProof="0" dirty="0"/>
          </a:p>
        </p:txBody>
      </p:sp>
      <p:sp>
        <p:nvSpPr>
          <p:cNvPr id="17" name="Text 14"/>
          <p:cNvSpPr/>
          <p:nvPr/>
        </p:nvSpPr>
        <p:spPr>
          <a:xfrm>
            <a:off x="8321040" y="2312898"/>
            <a:ext cx="2880360" cy="1042950"/>
          </a:xfrm>
          <a:prstGeom prst="rect">
            <a:avLst/>
          </a:prstGeom>
          <a:noFill/>
          <a:ln/>
        </p:spPr>
        <p:txBody>
          <a:bodyPr wrap="square" rtlCol="0" anchor="ctr"/>
          <a:lstStyle/>
          <a:p>
            <a:pPr>
              <a:lnSpc>
                <a:spcPts val="1700"/>
              </a:lnSpc>
            </a:pPr>
            <a:r>
              <a:rPr lang="pt-PT" sz="1200" noProof="0" dirty="0">
                <a:solidFill>
                  <a:srgbClr val="182A32"/>
                </a:solidFill>
                <a:latin typeface="Calibri" pitchFamily="34" charset="0"/>
                <a:ea typeface="Calibri" pitchFamily="34" charset="-122"/>
                <a:cs typeface="Calibri" pitchFamily="34" charset="-120"/>
              </a:rPr>
              <a:t>Transmissão de energia por ondas eletromagnéticas, sem necessidade de meio material</a:t>
            </a:r>
            <a:r>
              <a:rPr lang="pt-PT" sz="1200" dirty="0">
                <a:solidFill>
                  <a:srgbClr val="182A32"/>
                </a:solidFill>
                <a:latin typeface="Calibri" pitchFamily="34" charset="0"/>
                <a:cs typeface="Calibri" pitchFamily="34" charset="-120"/>
              </a:rPr>
              <a:t>. </a:t>
            </a:r>
            <a:r>
              <a:rPr lang="en-US" sz="1200" dirty="0" err="1">
                <a:solidFill>
                  <a:srgbClr val="182A32"/>
                </a:solidFill>
                <a:latin typeface="Calibri" pitchFamily="34" charset="0"/>
                <a:cs typeface="Calibri" pitchFamily="34" charset="-120"/>
              </a:rPr>
              <a:t>Troca</a:t>
            </a:r>
            <a:r>
              <a:rPr lang="en-US" sz="1200" dirty="0">
                <a:solidFill>
                  <a:srgbClr val="182A32"/>
                </a:solidFill>
                <a:latin typeface="Calibri" pitchFamily="34" charset="0"/>
                <a:cs typeface="Calibri" pitchFamily="34" charset="-120"/>
              </a:rPr>
              <a:t> </a:t>
            </a:r>
            <a:r>
              <a:rPr lang="en-US" sz="1200" dirty="0" err="1">
                <a:solidFill>
                  <a:srgbClr val="182A32"/>
                </a:solidFill>
                <a:latin typeface="Calibri" pitchFamily="34" charset="0"/>
                <a:cs typeface="Calibri" pitchFamily="34" charset="-120"/>
              </a:rPr>
              <a:t>líquida</a:t>
            </a:r>
            <a:r>
              <a:rPr lang="en-US" sz="1200" dirty="0">
                <a:solidFill>
                  <a:srgbClr val="182A32"/>
                </a:solidFill>
                <a:latin typeface="Calibri" pitchFamily="34" charset="0"/>
                <a:cs typeface="Calibri" pitchFamily="34" charset="-120"/>
              </a:rPr>
              <a:t> de </a:t>
            </a:r>
            <a:r>
              <a:rPr lang="en-US" sz="1200" dirty="0" err="1">
                <a:solidFill>
                  <a:srgbClr val="182A32"/>
                </a:solidFill>
                <a:latin typeface="Calibri" pitchFamily="34" charset="0"/>
                <a:cs typeface="Calibri" pitchFamily="34" charset="-120"/>
              </a:rPr>
              <a:t>calor</a:t>
            </a:r>
            <a:r>
              <a:rPr lang="en-US" sz="1200" dirty="0">
                <a:solidFill>
                  <a:srgbClr val="182A32"/>
                </a:solidFill>
                <a:latin typeface="Calibri" pitchFamily="34" charset="0"/>
                <a:cs typeface="Calibri" pitchFamily="34" charset="-120"/>
              </a:rPr>
              <a:t> </a:t>
            </a:r>
            <a:r>
              <a:rPr lang="en-US" sz="1200" dirty="0" err="1">
                <a:solidFill>
                  <a:srgbClr val="182A32"/>
                </a:solidFill>
                <a:latin typeface="Calibri" pitchFamily="34" charset="0"/>
                <a:cs typeface="Calibri" pitchFamily="34" charset="-120"/>
              </a:rPr>
              <a:t>por</a:t>
            </a:r>
            <a:r>
              <a:rPr lang="en-US" sz="1200" dirty="0">
                <a:solidFill>
                  <a:srgbClr val="182A32"/>
                </a:solidFill>
                <a:latin typeface="Calibri" pitchFamily="34" charset="0"/>
                <a:cs typeface="Calibri" pitchFamily="34" charset="-120"/>
              </a:rPr>
              <a:t> </a:t>
            </a:r>
            <a:r>
              <a:rPr lang="en-US" sz="1200" dirty="0" err="1">
                <a:solidFill>
                  <a:srgbClr val="182A32"/>
                </a:solidFill>
                <a:latin typeface="Calibri" pitchFamily="34" charset="0"/>
                <a:cs typeface="Calibri" pitchFamily="34" charset="-120"/>
              </a:rPr>
              <a:t>radiação</a:t>
            </a:r>
            <a:r>
              <a:rPr lang="en-US" sz="1200" dirty="0">
                <a:solidFill>
                  <a:srgbClr val="182A32"/>
                </a:solidFill>
                <a:latin typeface="Calibri" pitchFamily="34" charset="0"/>
                <a:cs typeface="Calibri" pitchFamily="34" charset="-120"/>
              </a:rPr>
              <a:t> entre duas </a:t>
            </a:r>
            <a:r>
              <a:rPr lang="en-US" sz="1200" dirty="0" err="1">
                <a:solidFill>
                  <a:srgbClr val="182A32"/>
                </a:solidFill>
                <a:latin typeface="Calibri" pitchFamily="34" charset="0"/>
                <a:cs typeface="Calibri" pitchFamily="34" charset="-120"/>
              </a:rPr>
              <a:t>superfícies</a:t>
            </a:r>
            <a:r>
              <a:rPr lang="en-US" sz="1200" dirty="0">
                <a:solidFill>
                  <a:srgbClr val="182A32"/>
                </a:solidFill>
                <a:latin typeface="Calibri" pitchFamily="34" charset="0"/>
                <a:cs typeface="Calibri" pitchFamily="34" charset="-120"/>
              </a:rPr>
              <a:t> </a:t>
            </a:r>
          </a:p>
          <a:p>
            <a:pPr marL="0" indent="0">
              <a:lnSpc>
                <a:spcPts val="1700"/>
              </a:lnSpc>
              <a:buNone/>
            </a:pPr>
            <a:endParaRPr lang="pt-PT" sz="1200" noProof="0" dirty="0"/>
          </a:p>
        </p:txBody>
      </p:sp>
      <p:sp>
        <p:nvSpPr>
          <p:cNvPr id="18" name="Shape 15"/>
          <p:cNvSpPr/>
          <p:nvPr/>
        </p:nvSpPr>
        <p:spPr>
          <a:xfrm>
            <a:off x="8321040" y="3420035"/>
            <a:ext cx="2880360" cy="0"/>
          </a:xfrm>
          <a:prstGeom prst="line">
            <a:avLst/>
          </a:prstGeom>
          <a:noFill/>
          <a:ln w="12700">
            <a:solidFill>
              <a:srgbClr val="D6E2E6"/>
            </a:solidFill>
            <a:prstDash val="solid"/>
          </a:ln>
        </p:spPr>
        <p:txBody>
          <a:bodyPr/>
          <a:lstStyle/>
          <a:p>
            <a:endParaRPr lang="pt-PT" noProof="0" dirty="0"/>
          </a:p>
        </p:txBody>
      </p:sp>
      <p:sp>
        <p:nvSpPr>
          <p:cNvPr id="19" name="Text 16"/>
          <p:cNvSpPr/>
          <p:nvPr/>
        </p:nvSpPr>
        <p:spPr>
          <a:xfrm>
            <a:off x="8321040" y="3557195"/>
            <a:ext cx="2880360" cy="548640"/>
          </a:xfrm>
          <a:prstGeom prst="rect">
            <a:avLst/>
          </a:prstGeom>
          <a:noFill/>
          <a:ln/>
        </p:spPr>
        <p:txBody>
          <a:bodyPr wrap="square" rtlCol="0" anchor="ctr"/>
          <a:lstStyle/>
          <a:p>
            <a:pPr marL="0" indent="0">
              <a:buNone/>
            </a:pPr>
            <a:r>
              <a:rPr lang="pt-PT" sz="1200" b="1" i="1" noProof="0" dirty="0">
                <a:solidFill>
                  <a:srgbClr val="1C7293"/>
                </a:solidFill>
                <a:latin typeface="Calibri" pitchFamily="34" charset="0"/>
                <a:ea typeface="Calibri" pitchFamily="34" charset="-122"/>
                <a:cs typeface="Calibri" pitchFamily="34" charset="-120"/>
              </a:rPr>
              <a:t>Lei de Stefan-</a:t>
            </a:r>
            <a:r>
              <a:rPr lang="pt-PT" sz="1200" b="1" i="1" noProof="0" dirty="0" err="1">
                <a:solidFill>
                  <a:srgbClr val="1C7293"/>
                </a:solidFill>
                <a:latin typeface="Calibri" pitchFamily="34" charset="0"/>
                <a:ea typeface="Calibri" pitchFamily="34" charset="-122"/>
                <a:cs typeface="Calibri" pitchFamily="34" charset="-120"/>
              </a:rPr>
              <a:t>Boltzmann</a:t>
            </a:r>
            <a:r>
              <a:rPr lang="pt-PT" sz="1200" b="1" i="1" noProof="0" dirty="0">
                <a:solidFill>
                  <a:srgbClr val="1C7293"/>
                </a:solidFill>
                <a:latin typeface="Calibri" pitchFamily="34" charset="0"/>
                <a:ea typeface="Calibri" pitchFamily="34" charset="-122"/>
                <a:cs typeface="Calibri" pitchFamily="34" charset="-120"/>
              </a:rPr>
              <a:t> — próxima aula</a:t>
            </a:r>
            <a:endParaRPr lang="pt-PT" sz="1200" noProof="0" dirty="0"/>
          </a:p>
        </p:txBody>
      </p:sp>
      <p:sp>
        <p:nvSpPr>
          <p:cNvPr id="20" name="Text 17"/>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2 · Mecanismos</a:t>
            </a:r>
            <a:endParaRPr lang="pt-PT" sz="950" noProof="0" dirty="0"/>
          </a:p>
        </p:txBody>
      </p:sp>
      <p:sp>
        <p:nvSpPr>
          <p:cNvPr id="22" name="Text 19"/>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4</a:t>
            </a:r>
            <a:endParaRPr lang="pt-PT" sz="950" noProof="0" dirty="0"/>
          </a:p>
        </p:txBody>
      </p:sp>
      <p:pic>
        <p:nvPicPr>
          <p:cNvPr id="25" name="Picture 24" descr="A diagram of a rectangle with a red line and black text&#10;&#10;AI-generated content may be incorrect.">
            <a:extLst>
              <a:ext uri="{FF2B5EF4-FFF2-40B4-BE49-F238E27FC236}">
                <a16:creationId xmlns:a16="http://schemas.microsoft.com/office/drawing/2014/main" id="{31B9ACFC-0915-EF3F-DFE3-95A75116873A}"/>
              </a:ext>
            </a:extLst>
          </p:cNvPr>
          <p:cNvPicPr>
            <a:picLocks noChangeAspect="1"/>
          </p:cNvPicPr>
          <p:nvPr/>
        </p:nvPicPr>
        <p:blipFill>
          <a:blip r:embed="rId3"/>
          <a:stretch>
            <a:fillRect/>
          </a:stretch>
        </p:blipFill>
        <p:spPr>
          <a:xfrm>
            <a:off x="1062355" y="4151376"/>
            <a:ext cx="2146300" cy="2159000"/>
          </a:xfrm>
          <a:prstGeom prst="rect">
            <a:avLst/>
          </a:prstGeom>
        </p:spPr>
      </p:pic>
      <p:pic>
        <p:nvPicPr>
          <p:cNvPr id="27" name="Picture 26" descr="A diagram of a mathematical equation&#10;&#10;AI-generated content may be incorrect.">
            <a:extLst>
              <a:ext uri="{FF2B5EF4-FFF2-40B4-BE49-F238E27FC236}">
                <a16:creationId xmlns:a16="http://schemas.microsoft.com/office/drawing/2014/main" id="{A83D2C97-91DF-AF35-7948-5A292D88C236}"/>
              </a:ext>
            </a:extLst>
          </p:cNvPr>
          <p:cNvPicPr>
            <a:picLocks noChangeAspect="1"/>
          </p:cNvPicPr>
          <p:nvPr/>
        </p:nvPicPr>
        <p:blipFill>
          <a:blip r:embed="rId4"/>
          <a:stretch>
            <a:fillRect/>
          </a:stretch>
        </p:blipFill>
        <p:spPr>
          <a:xfrm>
            <a:off x="4749800" y="4227576"/>
            <a:ext cx="2616200" cy="2082800"/>
          </a:xfrm>
          <a:prstGeom prst="rect">
            <a:avLst/>
          </a:prstGeom>
        </p:spPr>
      </p:pic>
      <p:pic>
        <p:nvPicPr>
          <p:cNvPr id="29" name="Picture 28" descr="A diagram of a beam&#10;&#10;AI-generated content may be incorrect.">
            <a:extLst>
              <a:ext uri="{FF2B5EF4-FFF2-40B4-BE49-F238E27FC236}">
                <a16:creationId xmlns:a16="http://schemas.microsoft.com/office/drawing/2014/main" id="{5584296E-9572-4285-246C-C38CEF6ABDF4}"/>
              </a:ext>
            </a:extLst>
          </p:cNvPr>
          <p:cNvPicPr>
            <a:picLocks noChangeAspect="1"/>
          </p:cNvPicPr>
          <p:nvPr/>
        </p:nvPicPr>
        <p:blipFill>
          <a:blip r:embed="rId5"/>
          <a:stretch>
            <a:fillRect/>
          </a:stretch>
        </p:blipFill>
        <p:spPr>
          <a:xfrm>
            <a:off x="8472170" y="4136464"/>
            <a:ext cx="2578100" cy="2273300"/>
          </a:xfrm>
          <a:prstGeom prst="rect">
            <a:avLst/>
          </a:prstGeom>
        </p:spPr>
      </p:pic>
      <p:sp>
        <p:nvSpPr>
          <p:cNvPr id="30" name="TextBox 29">
            <a:extLst>
              <a:ext uri="{FF2B5EF4-FFF2-40B4-BE49-F238E27FC236}">
                <a16:creationId xmlns:a16="http://schemas.microsoft.com/office/drawing/2014/main" id="{BD137A01-B182-5F2C-9753-5270A471A80B}"/>
              </a:ext>
            </a:extLst>
          </p:cNvPr>
          <p:cNvSpPr txBox="1"/>
          <p:nvPr/>
        </p:nvSpPr>
        <p:spPr>
          <a:xfrm>
            <a:off x="4234882" y="6511738"/>
            <a:ext cx="3722236" cy="400110"/>
          </a:xfrm>
          <a:prstGeom prst="rect">
            <a:avLst/>
          </a:prstGeom>
          <a:noFill/>
        </p:spPr>
        <p:txBody>
          <a:bodyPr wrap="square">
            <a:spAutoFit/>
          </a:bodyPr>
          <a:lstStyle/>
          <a:p>
            <a:pPr>
              <a:spcAft>
                <a:spcPts val="600"/>
              </a:spcAft>
              <a:buSzPct val="100000"/>
            </a:pPr>
            <a:r>
              <a:rPr lang="pt-PT" sz="1000" dirty="0">
                <a:solidFill>
                  <a:srgbClr val="182A32"/>
                </a:solidFill>
                <a:latin typeface="Calibri" pitchFamily="34" charset="0"/>
                <a:ea typeface="Calibri" pitchFamily="34" charset="-122"/>
                <a:cs typeface="Calibri" pitchFamily="34" charset="-120"/>
              </a:rPr>
              <a:t>Fonte: Adaptado de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DEFINIÇÃO</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O que é convecção?</a:t>
            </a:r>
            <a:endParaRPr lang="pt-PT" sz="3200" noProof="0" dirty="0"/>
          </a:p>
        </p:txBody>
      </p:sp>
      <p:sp>
        <p:nvSpPr>
          <p:cNvPr id="5" name="Shape 2"/>
          <p:cNvSpPr/>
          <p:nvPr/>
        </p:nvSpPr>
        <p:spPr>
          <a:xfrm>
            <a:off x="640080" y="1828800"/>
            <a:ext cx="6400800" cy="4114800"/>
          </a:xfrm>
          <a:prstGeom prst="roundRect">
            <a:avLst>
              <a:gd name="adj" fmla="val 2222"/>
            </a:avLst>
          </a:prstGeom>
          <a:solidFill>
            <a:srgbClr val="EEF4F6"/>
          </a:solidFill>
          <a:ln/>
        </p:spPr>
        <p:txBody>
          <a:bodyPr/>
          <a:lstStyle/>
          <a:p>
            <a:endParaRPr lang="pt-PT" noProof="0" dirty="0"/>
          </a:p>
        </p:txBody>
      </p:sp>
      <p:sp>
        <p:nvSpPr>
          <p:cNvPr id="6" name="Text 3"/>
          <p:cNvSpPr/>
          <p:nvPr/>
        </p:nvSpPr>
        <p:spPr>
          <a:xfrm>
            <a:off x="907622" y="1959147"/>
            <a:ext cx="6018689" cy="1188720"/>
          </a:xfrm>
          <a:prstGeom prst="rect">
            <a:avLst/>
          </a:prstGeom>
          <a:noFill/>
          <a:ln/>
        </p:spPr>
        <p:txBody>
          <a:bodyPr wrap="square" rtlCol="0" anchor="ctr"/>
          <a:lstStyle/>
          <a:p>
            <a:pPr marL="0" indent="0" algn="ctr">
              <a:lnSpc>
                <a:spcPts val="2000"/>
              </a:lnSpc>
              <a:buNone/>
            </a:pPr>
            <a:r>
              <a:rPr lang="pt-PT" sz="1600" b="1" noProof="0" dirty="0">
                <a:solidFill>
                  <a:srgbClr val="0B2545"/>
                </a:solidFill>
                <a:latin typeface="Calibri" pitchFamily="34" charset="0"/>
                <a:ea typeface="Calibri" pitchFamily="34" charset="-122"/>
                <a:cs typeface="Calibri" pitchFamily="34" charset="-120"/>
              </a:rPr>
              <a:t>Transferência de calor entre uma superfície sólida e um fluido em movimento adjacente a ela, quando ambos estão a temperaturas diferentes.</a:t>
            </a:r>
            <a:endParaRPr lang="pt-PT" sz="1600" noProof="0" dirty="0"/>
          </a:p>
        </p:txBody>
      </p:sp>
      <p:sp>
        <p:nvSpPr>
          <p:cNvPr id="7" name="Text 4"/>
          <p:cNvSpPr/>
          <p:nvPr/>
        </p:nvSpPr>
        <p:spPr>
          <a:xfrm>
            <a:off x="708391" y="3083859"/>
            <a:ext cx="6149609" cy="2036781"/>
          </a:xfrm>
          <a:prstGeom prst="rect">
            <a:avLst/>
          </a:prstGeom>
          <a:noFill/>
          <a:ln/>
        </p:spPr>
        <p:txBody>
          <a:bodyPr wrap="square" rtlCol="0" anchor="ctr"/>
          <a:lstStyle/>
          <a:p>
            <a:pPr algn="ctr"/>
            <a:r>
              <a:rPr lang="pt-PT" sz="2000" b="1" noProof="0" dirty="0">
                <a:solidFill>
                  <a:srgbClr val="065A82"/>
                </a:solidFill>
                <a:latin typeface="Calibri" pitchFamily="34" charset="0"/>
                <a:ea typeface="Calibri" pitchFamily="34" charset="-122"/>
                <a:cs typeface="Calibri" pitchFamily="34" charset="-120"/>
              </a:rPr>
              <a:t>Convecção =</a:t>
            </a:r>
          </a:p>
          <a:p>
            <a:pPr algn="ctr"/>
            <a:r>
              <a:rPr lang="pt-PT" sz="2000" b="1" noProof="0" dirty="0">
                <a:solidFill>
                  <a:srgbClr val="E8602C"/>
                </a:solidFill>
                <a:latin typeface="Calibri" pitchFamily="34" charset="0"/>
                <a:ea typeface="Calibri" pitchFamily="34" charset="-122"/>
                <a:cs typeface="Calibri" pitchFamily="34" charset="-120"/>
              </a:rPr>
              <a:t>Condução ou Difusão </a:t>
            </a:r>
          </a:p>
          <a:p>
            <a:pPr algn="ctr"/>
            <a:r>
              <a:rPr lang="pt-PT" dirty="0">
                <a:solidFill>
                  <a:srgbClr val="182A32"/>
                </a:solidFill>
                <a:latin typeface="Calibri" pitchFamily="34" charset="0"/>
                <a:ea typeface="Calibri" pitchFamily="34" charset="-122"/>
                <a:cs typeface="Calibri" pitchFamily="34" charset="-120"/>
              </a:rPr>
              <a:t>(movimento aleatório das moléculas do fluido)</a:t>
            </a:r>
          </a:p>
          <a:p>
            <a:pPr algn="ctr"/>
            <a:r>
              <a:rPr lang="pt-PT" sz="2000" b="1" noProof="0" dirty="0">
                <a:solidFill>
                  <a:srgbClr val="E8602C"/>
                </a:solidFill>
                <a:latin typeface="Calibri" pitchFamily="34" charset="0"/>
                <a:ea typeface="Calibri" pitchFamily="34" charset="-122"/>
                <a:cs typeface="Calibri" pitchFamily="34" charset="-120"/>
              </a:rPr>
              <a:t>+ </a:t>
            </a:r>
          </a:p>
          <a:p>
            <a:pPr algn="ctr"/>
            <a:r>
              <a:rPr lang="pt-PT" sz="2000" b="1" noProof="0" dirty="0">
                <a:solidFill>
                  <a:srgbClr val="E8602C"/>
                </a:solidFill>
                <a:latin typeface="Calibri" pitchFamily="34" charset="0"/>
                <a:ea typeface="Calibri" pitchFamily="34" charset="-122"/>
                <a:cs typeface="Calibri" pitchFamily="34" charset="-120"/>
              </a:rPr>
              <a:t>Advecção </a:t>
            </a:r>
          </a:p>
          <a:p>
            <a:pPr algn="ctr"/>
            <a:r>
              <a:rPr lang="pt-PT" dirty="0">
                <a:solidFill>
                  <a:srgbClr val="182A32"/>
                </a:solidFill>
                <a:latin typeface="Calibri" pitchFamily="34" charset="0"/>
                <a:ea typeface="Calibri" pitchFamily="34" charset="-122"/>
                <a:cs typeface="Calibri" pitchFamily="34" charset="-120"/>
              </a:rPr>
              <a:t>(transferência de energia pelo movimento global ou macroscópico de um fluido</a:t>
            </a:r>
            <a:r>
              <a:rPr lang="pt-PT" sz="1250" dirty="0">
                <a:solidFill>
                  <a:srgbClr val="182A32"/>
                </a:solidFill>
                <a:latin typeface="Calibri" pitchFamily="34" charset="0"/>
                <a:ea typeface="Calibri" pitchFamily="34" charset="-122"/>
                <a:cs typeface="Calibri" pitchFamily="34" charset="-120"/>
              </a:rPr>
              <a:t>)</a:t>
            </a:r>
            <a:endParaRPr lang="pt-PT" sz="1250" noProof="0" dirty="0"/>
          </a:p>
        </p:txBody>
      </p:sp>
      <p:sp>
        <p:nvSpPr>
          <p:cNvPr id="8" name="Text 5"/>
          <p:cNvSpPr/>
          <p:nvPr/>
        </p:nvSpPr>
        <p:spPr>
          <a:xfrm>
            <a:off x="839311" y="5212080"/>
            <a:ext cx="6018689" cy="640080"/>
          </a:xfrm>
          <a:prstGeom prst="rect">
            <a:avLst/>
          </a:prstGeom>
          <a:noFill/>
          <a:ln/>
        </p:spPr>
        <p:txBody>
          <a:bodyPr wrap="square" rtlCol="0" anchor="ctr"/>
          <a:lstStyle/>
          <a:p>
            <a:pPr marL="0" indent="0">
              <a:buNone/>
            </a:pPr>
            <a:r>
              <a:rPr lang="pt-PT" sz="1400" i="1" noProof="0" dirty="0">
                <a:solidFill>
                  <a:srgbClr val="57707A"/>
                </a:solidFill>
                <a:latin typeface="Calibri" pitchFamily="34" charset="0"/>
                <a:ea typeface="Calibri" pitchFamily="34" charset="-122"/>
                <a:cs typeface="Calibri" pitchFamily="34" charset="-120"/>
              </a:rPr>
              <a:t>Sem movimento de fluido, não há convecção — apenas condução.</a:t>
            </a:r>
            <a:endParaRPr lang="pt-PT" sz="1400" noProof="0" dirty="0"/>
          </a:p>
        </p:txBody>
      </p:sp>
      <p:sp>
        <p:nvSpPr>
          <p:cNvPr id="18" name="Text 15"/>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19" name="Text 16"/>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2 · Mecanismos</a:t>
            </a:r>
            <a:endParaRPr lang="pt-PT" sz="950" noProof="0" dirty="0"/>
          </a:p>
        </p:txBody>
      </p:sp>
      <p:sp>
        <p:nvSpPr>
          <p:cNvPr id="20" name="Text 17"/>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5</a:t>
            </a:r>
            <a:endParaRPr lang="pt-PT" sz="950" noProof="0" dirty="0"/>
          </a:p>
        </p:txBody>
      </p:sp>
      <p:sp>
        <p:nvSpPr>
          <p:cNvPr id="22" name="TextBox 21">
            <a:extLst>
              <a:ext uri="{FF2B5EF4-FFF2-40B4-BE49-F238E27FC236}">
                <a16:creationId xmlns:a16="http://schemas.microsoft.com/office/drawing/2014/main" id="{11229AA8-C197-683B-69B5-89BA292C61A8}"/>
              </a:ext>
            </a:extLst>
          </p:cNvPr>
          <p:cNvSpPr txBox="1"/>
          <p:nvPr/>
        </p:nvSpPr>
        <p:spPr>
          <a:xfrm>
            <a:off x="7673661" y="5532120"/>
            <a:ext cx="3679028" cy="400110"/>
          </a:xfrm>
          <a:prstGeom prst="rect">
            <a:avLst/>
          </a:prstGeom>
          <a:noFill/>
        </p:spPr>
        <p:txBody>
          <a:bodyPr wrap="square">
            <a:spAutoFit/>
          </a:bodyPr>
          <a:lstStyle/>
          <a:p>
            <a:pPr>
              <a:spcAft>
                <a:spcPts val="600"/>
              </a:spcAft>
              <a:buSzPct val="100000"/>
            </a:pPr>
            <a:r>
              <a:rPr lang="pt-PT" sz="1000" dirty="0">
                <a:solidFill>
                  <a:srgbClr val="182A32"/>
                </a:solidFill>
                <a:latin typeface="Calibri" pitchFamily="34" charset="0"/>
                <a:ea typeface="Calibri" pitchFamily="34" charset="-122"/>
                <a:cs typeface="Calibri" pitchFamily="34" charset="-120"/>
              </a:rPr>
              <a:t>Fonte: Adaptado de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pic>
        <p:nvPicPr>
          <p:cNvPr id="27" name="Picture 26" descr="A diagram of a rectangular object with arrows&#10;&#10;AI-generated content may be incorrect.">
            <a:extLst>
              <a:ext uri="{FF2B5EF4-FFF2-40B4-BE49-F238E27FC236}">
                <a16:creationId xmlns:a16="http://schemas.microsoft.com/office/drawing/2014/main" id="{45A81253-2ACF-F1E2-640D-DA2C492A0A86}"/>
              </a:ext>
            </a:extLst>
          </p:cNvPr>
          <p:cNvPicPr>
            <a:picLocks noChangeAspect="1"/>
          </p:cNvPicPr>
          <p:nvPr/>
        </p:nvPicPr>
        <p:blipFill>
          <a:blip r:embed="rId3"/>
          <a:srcRect b="13603"/>
          <a:stretch>
            <a:fillRect/>
          </a:stretch>
        </p:blipFill>
        <p:spPr>
          <a:xfrm>
            <a:off x="7057231" y="2113691"/>
            <a:ext cx="4943088" cy="314756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A94CCA2-9112-82EC-5F8F-F283463F3C14}"/>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5B5146C7-4AEF-2B40-843E-E2F8DFA548D6}"/>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DEFINIÇÃO</a:t>
            </a:r>
            <a:endParaRPr lang="pt-PT" sz="1300" noProof="0" dirty="0"/>
          </a:p>
        </p:txBody>
      </p:sp>
      <p:sp>
        <p:nvSpPr>
          <p:cNvPr id="4" name="Text 1">
            <a:extLst>
              <a:ext uri="{FF2B5EF4-FFF2-40B4-BE49-F238E27FC236}">
                <a16:creationId xmlns:a16="http://schemas.microsoft.com/office/drawing/2014/main" id="{A0CB80AC-21D9-F5AB-113B-E8B0A3CF26C9}"/>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O que é convecção?</a:t>
            </a:r>
            <a:endParaRPr lang="pt-PT" sz="3200" noProof="0" dirty="0"/>
          </a:p>
        </p:txBody>
      </p:sp>
      <p:sp>
        <p:nvSpPr>
          <p:cNvPr id="5" name="Shape 2">
            <a:extLst>
              <a:ext uri="{FF2B5EF4-FFF2-40B4-BE49-F238E27FC236}">
                <a16:creationId xmlns:a16="http://schemas.microsoft.com/office/drawing/2014/main" id="{80F108DA-CB6C-73BC-AA74-DB58B83384D9}"/>
              </a:ext>
            </a:extLst>
          </p:cNvPr>
          <p:cNvSpPr/>
          <p:nvPr/>
        </p:nvSpPr>
        <p:spPr>
          <a:xfrm>
            <a:off x="640080" y="1828800"/>
            <a:ext cx="6400800" cy="4114800"/>
          </a:xfrm>
          <a:prstGeom prst="roundRect">
            <a:avLst>
              <a:gd name="adj" fmla="val 2222"/>
            </a:avLst>
          </a:prstGeom>
          <a:solidFill>
            <a:srgbClr val="EEF4F6"/>
          </a:solidFill>
          <a:ln/>
        </p:spPr>
        <p:txBody>
          <a:bodyPr/>
          <a:lstStyle/>
          <a:p>
            <a:endParaRPr lang="pt-PT" noProof="0" dirty="0"/>
          </a:p>
        </p:txBody>
      </p:sp>
      <p:sp>
        <p:nvSpPr>
          <p:cNvPr id="6" name="Text 3">
            <a:extLst>
              <a:ext uri="{FF2B5EF4-FFF2-40B4-BE49-F238E27FC236}">
                <a16:creationId xmlns:a16="http://schemas.microsoft.com/office/drawing/2014/main" id="{9067115D-A389-E455-CE5F-FB4BE4F531A6}"/>
              </a:ext>
            </a:extLst>
          </p:cNvPr>
          <p:cNvSpPr/>
          <p:nvPr/>
        </p:nvSpPr>
        <p:spPr>
          <a:xfrm>
            <a:off x="907622" y="1959147"/>
            <a:ext cx="6018689" cy="1188720"/>
          </a:xfrm>
          <a:prstGeom prst="rect">
            <a:avLst/>
          </a:prstGeom>
          <a:noFill/>
          <a:ln/>
        </p:spPr>
        <p:txBody>
          <a:bodyPr wrap="square" rtlCol="0" anchor="ctr"/>
          <a:lstStyle/>
          <a:p>
            <a:pPr marL="0" indent="0" algn="ctr">
              <a:lnSpc>
                <a:spcPts val="2000"/>
              </a:lnSpc>
              <a:buNone/>
            </a:pPr>
            <a:r>
              <a:rPr lang="pt-PT" sz="1600" b="1" noProof="0" dirty="0">
                <a:solidFill>
                  <a:srgbClr val="0B2545"/>
                </a:solidFill>
                <a:latin typeface="Calibri" pitchFamily="34" charset="0"/>
                <a:ea typeface="Calibri" pitchFamily="34" charset="-122"/>
                <a:cs typeface="Calibri" pitchFamily="34" charset="-120"/>
              </a:rPr>
              <a:t>Transferência de calor entre uma superfície sólida e um fluido em movimento adjacente a ela, quando ambos estão a temperaturas diferentes.</a:t>
            </a:r>
            <a:endParaRPr lang="pt-PT" sz="1600" noProof="0" dirty="0"/>
          </a:p>
        </p:txBody>
      </p:sp>
      <p:sp>
        <p:nvSpPr>
          <p:cNvPr id="7" name="Text 4">
            <a:extLst>
              <a:ext uri="{FF2B5EF4-FFF2-40B4-BE49-F238E27FC236}">
                <a16:creationId xmlns:a16="http://schemas.microsoft.com/office/drawing/2014/main" id="{C74C5E98-C6C8-4CBE-6A72-2298C77F0821}"/>
              </a:ext>
            </a:extLst>
          </p:cNvPr>
          <p:cNvSpPr/>
          <p:nvPr/>
        </p:nvSpPr>
        <p:spPr>
          <a:xfrm>
            <a:off x="708391" y="3083859"/>
            <a:ext cx="6149609" cy="2036781"/>
          </a:xfrm>
          <a:prstGeom prst="rect">
            <a:avLst/>
          </a:prstGeom>
          <a:noFill/>
          <a:ln/>
        </p:spPr>
        <p:txBody>
          <a:bodyPr wrap="square" rtlCol="0" anchor="ctr"/>
          <a:lstStyle/>
          <a:p>
            <a:pPr algn="ctr"/>
            <a:r>
              <a:rPr lang="pt-PT" sz="2000" b="1" noProof="0" dirty="0">
                <a:solidFill>
                  <a:srgbClr val="065A82"/>
                </a:solidFill>
                <a:latin typeface="Calibri" pitchFamily="34" charset="0"/>
                <a:ea typeface="Calibri" pitchFamily="34" charset="-122"/>
                <a:cs typeface="Calibri" pitchFamily="34" charset="-120"/>
              </a:rPr>
              <a:t>Convecção =</a:t>
            </a:r>
          </a:p>
          <a:p>
            <a:pPr algn="ctr"/>
            <a:r>
              <a:rPr lang="pt-PT" sz="2000" b="1" noProof="0" dirty="0">
                <a:solidFill>
                  <a:srgbClr val="E8602C"/>
                </a:solidFill>
                <a:latin typeface="Calibri" pitchFamily="34" charset="0"/>
                <a:ea typeface="Calibri" pitchFamily="34" charset="-122"/>
                <a:cs typeface="Calibri" pitchFamily="34" charset="-120"/>
              </a:rPr>
              <a:t>Condução ou Difusão </a:t>
            </a:r>
          </a:p>
          <a:p>
            <a:pPr algn="ctr"/>
            <a:r>
              <a:rPr lang="pt-PT" dirty="0">
                <a:solidFill>
                  <a:srgbClr val="182A32"/>
                </a:solidFill>
                <a:latin typeface="Calibri" pitchFamily="34" charset="0"/>
                <a:ea typeface="Calibri" pitchFamily="34" charset="-122"/>
                <a:cs typeface="Calibri" pitchFamily="34" charset="-120"/>
              </a:rPr>
              <a:t>(movimento aleatório das moléculas do fluido)</a:t>
            </a:r>
          </a:p>
          <a:p>
            <a:pPr algn="ctr"/>
            <a:r>
              <a:rPr lang="pt-PT" sz="2000" b="1" noProof="0" dirty="0">
                <a:solidFill>
                  <a:srgbClr val="E8602C"/>
                </a:solidFill>
                <a:latin typeface="Calibri" pitchFamily="34" charset="0"/>
                <a:ea typeface="Calibri" pitchFamily="34" charset="-122"/>
                <a:cs typeface="Calibri" pitchFamily="34" charset="-120"/>
              </a:rPr>
              <a:t>+ </a:t>
            </a:r>
          </a:p>
          <a:p>
            <a:pPr algn="ctr"/>
            <a:r>
              <a:rPr lang="pt-PT" sz="2000" b="1" noProof="0" dirty="0">
                <a:solidFill>
                  <a:srgbClr val="E8602C"/>
                </a:solidFill>
                <a:latin typeface="Calibri" pitchFamily="34" charset="0"/>
                <a:ea typeface="Calibri" pitchFamily="34" charset="-122"/>
                <a:cs typeface="Calibri" pitchFamily="34" charset="-120"/>
              </a:rPr>
              <a:t>Advecção </a:t>
            </a:r>
          </a:p>
          <a:p>
            <a:pPr algn="ctr"/>
            <a:r>
              <a:rPr lang="pt-PT" dirty="0">
                <a:solidFill>
                  <a:srgbClr val="182A32"/>
                </a:solidFill>
                <a:latin typeface="Calibri" pitchFamily="34" charset="0"/>
                <a:ea typeface="Calibri" pitchFamily="34" charset="-122"/>
                <a:cs typeface="Calibri" pitchFamily="34" charset="-120"/>
              </a:rPr>
              <a:t>(transferência de energia pelo movimento global ou macroscópico de um fluido</a:t>
            </a:r>
            <a:r>
              <a:rPr lang="pt-PT" sz="1250" dirty="0">
                <a:solidFill>
                  <a:srgbClr val="182A32"/>
                </a:solidFill>
                <a:latin typeface="Calibri" pitchFamily="34" charset="0"/>
                <a:ea typeface="Calibri" pitchFamily="34" charset="-122"/>
                <a:cs typeface="Calibri" pitchFamily="34" charset="-120"/>
              </a:rPr>
              <a:t>)</a:t>
            </a:r>
            <a:endParaRPr lang="pt-PT" sz="1250" noProof="0" dirty="0"/>
          </a:p>
        </p:txBody>
      </p:sp>
      <p:sp>
        <p:nvSpPr>
          <p:cNvPr id="8" name="Text 5">
            <a:extLst>
              <a:ext uri="{FF2B5EF4-FFF2-40B4-BE49-F238E27FC236}">
                <a16:creationId xmlns:a16="http://schemas.microsoft.com/office/drawing/2014/main" id="{F912F56F-F8D8-B878-CF0C-1396C474B1F3}"/>
              </a:ext>
            </a:extLst>
          </p:cNvPr>
          <p:cNvSpPr/>
          <p:nvPr/>
        </p:nvSpPr>
        <p:spPr>
          <a:xfrm>
            <a:off x="839311" y="5212080"/>
            <a:ext cx="6018689" cy="640080"/>
          </a:xfrm>
          <a:prstGeom prst="rect">
            <a:avLst/>
          </a:prstGeom>
          <a:noFill/>
          <a:ln/>
        </p:spPr>
        <p:txBody>
          <a:bodyPr wrap="square" rtlCol="0" anchor="ctr"/>
          <a:lstStyle/>
          <a:p>
            <a:pPr marL="0" indent="0">
              <a:buNone/>
            </a:pPr>
            <a:r>
              <a:rPr lang="pt-PT" sz="1400" i="1" noProof="0" dirty="0">
                <a:solidFill>
                  <a:srgbClr val="57707A"/>
                </a:solidFill>
                <a:latin typeface="Calibri" pitchFamily="34" charset="0"/>
                <a:ea typeface="Calibri" pitchFamily="34" charset="-122"/>
                <a:cs typeface="Calibri" pitchFamily="34" charset="-120"/>
              </a:rPr>
              <a:t>Sem movimento de fluido, não há convecção — apenas condução.</a:t>
            </a:r>
            <a:endParaRPr lang="pt-PT" sz="1400" noProof="0" dirty="0"/>
          </a:p>
        </p:txBody>
      </p:sp>
      <p:sp>
        <p:nvSpPr>
          <p:cNvPr id="18" name="Text 15">
            <a:extLst>
              <a:ext uri="{FF2B5EF4-FFF2-40B4-BE49-F238E27FC236}">
                <a16:creationId xmlns:a16="http://schemas.microsoft.com/office/drawing/2014/main" id="{A517BCF8-5FC5-26DC-1862-82123BF2E81F}"/>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19" name="Text 16">
            <a:extLst>
              <a:ext uri="{FF2B5EF4-FFF2-40B4-BE49-F238E27FC236}">
                <a16:creationId xmlns:a16="http://schemas.microsoft.com/office/drawing/2014/main" id="{DCBDD457-410A-2730-B7FD-A8B05F427B45}"/>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2 · Mecanismos</a:t>
            </a:r>
            <a:endParaRPr lang="pt-PT" sz="950" noProof="0" dirty="0"/>
          </a:p>
        </p:txBody>
      </p:sp>
      <p:sp>
        <p:nvSpPr>
          <p:cNvPr id="20" name="Text 17">
            <a:extLst>
              <a:ext uri="{FF2B5EF4-FFF2-40B4-BE49-F238E27FC236}">
                <a16:creationId xmlns:a16="http://schemas.microsoft.com/office/drawing/2014/main" id="{AA0FCCB8-26E9-C67C-7E01-4F8AF0CCC859}"/>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5</a:t>
            </a:r>
            <a:endParaRPr lang="pt-PT" sz="950" noProof="0" dirty="0"/>
          </a:p>
        </p:txBody>
      </p:sp>
      <p:sp>
        <p:nvSpPr>
          <p:cNvPr id="22" name="TextBox 21">
            <a:extLst>
              <a:ext uri="{FF2B5EF4-FFF2-40B4-BE49-F238E27FC236}">
                <a16:creationId xmlns:a16="http://schemas.microsoft.com/office/drawing/2014/main" id="{9FD10D5D-C4E8-7226-5E24-484199EA8339}"/>
              </a:ext>
            </a:extLst>
          </p:cNvPr>
          <p:cNvSpPr txBox="1"/>
          <p:nvPr/>
        </p:nvSpPr>
        <p:spPr>
          <a:xfrm>
            <a:off x="7673661" y="5532120"/>
            <a:ext cx="3679028" cy="400110"/>
          </a:xfrm>
          <a:prstGeom prst="rect">
            <a:avLst/>
          </a:prstGeom>
          <a:noFill/>
        </p:spPr>
        <p:txBody>
          <a:bodyPr wrap="square">
            <a:spAutoFit/>
          </a:bodyPr>
          <a:lstStyle/>
          <a:p>
            <a:pPr>
              <a:spcAft>
                <a:spcPts val="600"/>
              </a:spcAft>
              <a:buSzPct val="100000"/>
            </a:pPr>
            <a:r>
              <a:rPr lang="pt-PT" sz="1000" dirty="0">
                <a:solidFill>
                  <a:srgbClr val="182A32"/>
                </a:solidFill>
                <a:latin typeface="Calibri" pitchFamily="34" charset="0"/>
                <a:ea typeface="Calibri" pitchFamily="34" charset="-122"/>
                <a:cs typeface="Calibri" pitchFamily="34" charset="-120"/>
              </a:rPr>
              <a:t>Fonte: Adaptado de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pic>
        <p:nvPicPr>
          <p:cNvPr id="27" name="Picture 26" descr="A diagram of a rectangular object with arrows&#10;&#10;AI-generated content may be incorrect.">
            <a:extLst>
              <a:ext uri="{FF2B5EF4-FFF2-40B4-BE49-F238E27FC236}">
                <a16:creationId xmlns:a16="http://schemas.microsoft.com/office/drawing/2014/main" id="{427F6B8F-5FE8-3834-6839-255A5A542933}"/>
              </a:ext>
            </a:extLst>
          </p:cNvPr>
          <p:cNvPicPr>
            <a:picLocks noChangeAspect="1"/>
          </p:cNvPicPr>
          <p:nvPr/>
        </p:nvPicPr>
        <p:blipFill>
          <a:blip r:embed="rId3"/>
          <a:srcRect b="13603"/>
          <a:stretch>
            <a:fillRect/>
          </a:stretch>
        </p:blipFill>
        <p:spPr>
          <a:xfrm>
            <a:off x="7057231" y="2113691"/>
            <a:ext cx="4943088" cy="3147568"/>
          </a:xfrm>
          <a:prstGeom prst="rect">
            <a:avLst/>
          </a:prstGeom>
        </p:spPr>
      </p:pic>
      <p:sp>
        <p:nvSpPr>
          <p:cNvPr id="2" name="TextBox 1">
            <a:extLst>
              <a:ext uri="{FF2B5EF4-FFF2-40B4-BE49-F238E27FC236}">
                <a16:creationId xmlns:a16="http://schemas.microsoft.com/office/drawing/2014/main" id="{087C5C49-7F9D-05B8-AA07-8F59D8B498B9}"/>
              </a:ext>
            </a:extLst>
          </p:cNvPr>
          <p:cNvSpPr txBox="1"/>
          <p:nvPr/>
        </p:nvSpPr>
        <p:spPr>
          <a:xfrm>
            <a:off x="11310159" y="4325977"/>
            <a:ext cx="991416" cy="461665"/>
          </a:xfrm>
          <a:prstGeom prst="rect">
            <a:avLst/>
          </a:prstGeom>
          <a:noFill/>
        </p:spPr>
        <p:txBody>
          <a:bodyPr wrap="square" rtlCol="0">
            <a:spAutoFit/>
          </a:bodyPr>
          <a:lstStyle/>
          <a:p>
            <a:pPr algn="ctr"/>
            <a:r>
              <a:rPr lang="en-US" sz="1200" dirty="0">
                <a:solidFill>
                  <a:srgbClr val="FF0000"/>
                </a:solidFill>
              </a:rPr>
              <a:t>S</a:t>
            </a:r>
            <a:r>
              <a:rPr lang="en-BR" sz="1200" dirty="0">
                <a:solidFill>
                  <a:srgbClr val="FF0000"/>
                </a:solidFill>
              </a:rPr>
              <a:t>uperfície plana</a:t>
            </a:r>
          </a:p>
        </p:txBody>
      </p:sp>
    </p:spTree>
    <p:extLst>
      <p:ext uri="{BB962C8B-B14F-4D97-AF65-F5344CB8AC3E}">
        <p14:creationId xmlns:p14="http://schemas.microsoft.com/office/powerpoint/2010/main" val="751580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3080F88-7B31-B96D-202A-DE678A6BDE2E}"/>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19914972-00C0-0EA4-3C24-259421C770A6}"/>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DEFINIÇÃO</a:t>
            </a:r>
            <a:endParaRPr lang="pt-PT" sz="1300" noProof="0" dirty="0"/>
          </a:p>
        </p:txBody>
      </p:sp>
      <p:sp>
        <p:nvSpPr>
          <p:cNvPr id="4" name="Text 1">
            <a:extLst>
              <a:ext uri="{FF2B5EF4-FFF2-40B4-BE49-F238E27FC236}">
                <a16:creationId xmlns:a16="http://schemas.microsoft.com/office/drawing/2014/main" id="{8838088C-1864-C4AE-AD2C-60B97421DB0C}"/>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O que é convecção?</a:t>
            </a:r>
            <a:endParaRPr lang="pt-PT" sz="3200" noProof="0" dirty="0"/>
          </a:p>
        </p:txBody>
      </p:sp>
      <p:sp>
        <p:nvSpPr>
          <p:cNvPr id="5" name="Shape 2">
            <a:extLst>
              <a:ext uri="{FF2B5EF4-FFF2-40B4-BE49-F238E27FC236}">
                <a16:creationId xmlns:a16="http://schemas.microsoft.com/office/drawing/2014/main" id="{9046CF6F-2B25-235C-3C1B-079F2FC257EC}"/>
              </a:ext>
            </a:extLst>
          </p:cNvPr>
          <p:cNvSpPr/>
          <p:nvPr/>
        </p:nvSpPr>
        <p:spPr>
          <a:xfrm>
            <a:off x="640080" y="1828800"/>
            <a:ext cx="6400800" cy="4114800"/>
          </a:xfrm>
          <a:prstGeom prst="roundRect">
            <a:avLst>
              <a:gd name="adj" fmla="val 2222"/>
            </a:avLst>
          </a:prstGeom>
          <a:solidFill>
            <a:srgbClr val="EEF4F6"/>
          </a:solidFill>
          <a:ln/>
        </p:spPr>
        <p:txBody>
          <a:bodyPr/>
          <a:lstStyle/>
          <a:p>
            <a:endParaRPr lang="pt-PT" noProof="0" dirty="0"/>
          </a:p>
        </p:txBody>
      </p:sp>
      <p:sp>
        <p:nvSpPr>
          <p:cNvPr id="6" name="Text 3">
            <a:extLst>
              <a:ext uri="{FF2B5EF4-FFF2-40B4-BE49-F238E27FC236}">
                <a16:creationId xmlns:a16="http://schemas.microsoft.com/office/drawing/2014/main" id="{C931D21A-6CCC-5DBC-E39B-1A51F1FA973B}"/>
              </a:ext>
            </a:extLst>
          </p:cNvPr>
          <p:cNvSpPr/>
          <p:nvPr/>
        </p:nvSpPr>
        <p:spPr>
          <a:xfrm>
            <a:off x="907622" y="1959147"/>
            <a:ext cx="6018689" cy="1188720"/>
          </a:xfrm>
          <a:prstGeom prst="rect">
            <a:avLst/>
          </a:prstGeom>
          <a:noFill/>
          <a:ln/>
        </p:spPr>
        <p:txBody>
          <a:bodyPr wrap="square" rtlCol="0" anchor="ctr"/>
          <a:lstStyle/>
          <a:p>
            <a:pPr marL="0" indent="0" algn="ctr">
              <a:lnSpc>
                <a:spcPts val="2000"/>
              </a:lnSpc>
              <a:buNone/>
            </a:pPr>
            <a:r>
              <a:rPr lang="pt-PT" sz="1600" b="1" noProof="0" dirty="0">
                <a:solidFill>
                  <a:srgbClr val="0B2545"/>
                </a:solidFill>
                <a:latin typeface="Calibri" pitchFamily="34" charset="0"/>
                <a:ea typeface="Calibri" pitchFamily="34" charset="-122"/>
                <a:cs typeface="Calibri" pitchFamily="34" charset="-120"/>
              </a:rPr>
              <a:t>Transferência de calor entre uma superfície sólida e um fluido em movimento adjacente a ela, quando ambos estão a temperaturas diferentes.</a:t>
            </a:r>
            <a:endParaRPr lang="pt-PT" sz="1600" noProof="0" dirty="0"/>
          </a:p>
        </p:txBody>
      </p:sp>
      <p:sp>
        <p:nvSpPr>
          <p:cNvPr id="7" name="Text 4">
            <a:extLst>
              <a:ext uri="{FF2B5EF4-FFF2-40B4-BE49-F238E27FC236}">
                <a16:creationId xmlns:a16="http://schemas.microsoft.com/office/drawing/2014/main" id="{CD935561-2C14-0147-DADD-5D69074D01FC}"/>
              </a:ext>
            </a:extLst>
          </p:cNvPr>
          <p:cNvSpPr/>
          <p:nvPr/>
        </p:nvSpPr>
        <p:spPr>
          <a:xfrm>
            <a:off x="708391" y="3083859"/>
            <a:ext cx="6149609" cy="2036781"/>
          </a:xfrm>
          <a:prstGeom prst="rect">
            <a:avLst/>
          </a:prstGeom>
          <a:noFill/>
          <a:ln/>
        </p:spPr>
        <p:txBody>
          <a:bodyPr wrap="square" rtlCol="0" anchor="ctr"/>
          <a:lstStyle/>
          <a:p>
            <a:pPr algn="ctr"/>
            <a:r>
              <a:rPr lang="pt-PT" sz="2000" b="1" noProof="0" dirty="0">
                <a:solidFill>
                  <a:srgbClr val="065A82"/>
                </a:solidFill>
                <a:latin typeface="Calibri" pitchFamily="34" charset="0"/>
                <a:ea typeface="Calibri" pitchFamily="34" charset="-122"/>
                <a:cs typeface="Calibri" pitchFamily="34" charset="-120"/>
              </a:rPr>
              <a:t>Convecção =</a:t>
            </a:r>
          </a:p>
          <a:p>
            <a:pPr algn="ctr"/>
            <a:r>
              <a:rPr lang="pt-PT" sz="2000" b="1" noProof="0" dirty="0">
                <a:solidFill>
                  <a:srgbClr val="E8602C"/>
                </a:solidFill>
                <a:latin typeface="Calibri" pitchFamily="34" charset="0"/>
                <a:ea typeface="Calibri" pitchFamily="34" charset="-122"/>
                <a:cs typeface="Calibri" pitchFamily="34" charset="-120"/>
              </a:rPr>
              <a:t>Condução ou Difusão </a:t>
            </a:r>
          </a:p>
          <a:p>
            <a:pPr algn="ctr"/>
            <a:r>
              <a:rPr lang="pt-PT" dirty="0">
                <a:solidFill>
                  <a:srgbClr val="182A32"/>
                </a:solidFill>
                <a:latin typeface="Calibri" pitchFamily="34" charset="0"/>
                <a:ea typeface="Calibri" pitchFamily="34" charset="-122"/>
                <a:cs typeface="Calibri" pitchFamily="34" charset="-120"/>
              </a:rPr>
              <a:t>(movimento aleatório das moléculas do fluido)</a:t>
            </a:r>
          </a:p>
          <a:p>
            <a:pPr algn="ctr"/>
            <a:r>
              <a:rPr lang="pt-PT" sz="2000" b="1" noProof="0" dirty="0">
                <a:solidFill>
                  <a:srgbClr val="E8602C"/>
                </a:solidFill>
                <a:latin typeface="Calibri" pitchFamily="34" charset="0"/>
                <a:ea typeface="Calibri" pitchFamily="34" charset="-122"/>
                <a:cs typeface="Calibri" pitchFamily="34" charset="-120"/>
              </a:rPr>
              <a:t>+ </a:t>
            </a:r>
          </a:p>
          <a:p>
            <a:pPr algn="ctr"/>
            <a:r>
              <a:rPr lang="pt-PT" sz="2000" b="1" noProof="0" dirty="0">
                <a:solidFill>
                  <a:srgbClr val="E8602C"/>
                </a:solidFill>
                <a:latin typeface="Calibri" pitchFamily="34" charset="0"/>
                <a:ea typeface="Calibri" pitchFamily="34" charset="-122"/>
                <a:cs typeface="Calibri" pitchFamily="34" charset="-120"/>
              </a:rPr>
              <a:t>Advecção </a:t>
            </a:r>
          </a:p>
          <a:p>
            <a:pPr algn="ctr"/>
            <a:r>
              <a:rPr lang="pt-PT" dirty="0">
                <a:solidFill>
                  <a:srgbClr val="182A32"/>
                </a:solidFill>
                <a:latin typeface="Calibri" pitchFamily="34" charset="0"/>
                <a:ea typeface="Calibri" pitchFamily="34" charset="-122"/>
                <a:cs typeface="Calibri" pitchFamily="34" charset="-120"/>
              </a:rPr>
              <a:t>(transferência de energia pelo movimento global ou macroscópico de um fluido</a:t>
            </a:r>
            <a:r>
              <a:rPr lang="pt-PT" sz="1250" dirty="0">
                <a:solidFill>
                  <a:srgbClr val="182A32"/>
                </a:solidFill>
                <a:latin typeface="Calibri" pitchFamily="34" charset="0"/>
                <a:ea typeface="Calibri" pitchFamily="34" charset="-122"/>
                <a:cs typeface="Calibri" pitchFamily="34" charset="-120"/>
              </a:rPr>
              <a:t>)</a:t>
            </a:r>
            <a:endParaRPr lang="pt-PT" sz="1250" noProof="0" dirty="0"/>
          </a:p>
        </p:txBody>
      </p:sp>
      <p:sp>
        <p:nvSpPr>
          <p:cNvPr id="8" name="Text 5">
            <a:extLst>
              <a:ext uri="{FF2B5EF4-FFF2-40B4-BE49-F238E27FC236}">
                <a16:creationId xmlns:a16="http://schemas.microsoft.com/office/drawing/2014/main" id="{218B0E3C-B052-5FE0-2D33-022C061DE2BC}"/>
              </a:ext>
            </a:extLst>
          </p:cNvPr>
          <p:cNvSpPr/>
          <p:nvPr/>
        </p:nvSpPr>
        <p:spPr>
          <a:xfrm>
            <a:off x="839311" y="5212080"/>
            <a:ext cx="6018689" cy="640080"/>
          </a:xfrm>
          <a:prstGeom prst="rect">
            <a:avLst/>
          </a:prstGeom>
          <a:noFill/>
          <a:ln/>
        </p:spPr>
        <p:txBody>
          <a:bodyPr wrap="square" rtlCol="0" anchor="ctr"/>
          <a:lstStyle/>
          <a:p>
            <a:pPr marL="0" indent="0">
              <a:buNone/>
            </a:pPr>
            <a:r>
              <a:rPr lang="pt-PT" sz="1400" i="1" noProof="0" dirty="0">
                <a:solidFill>
                  <a:srgbClr val="57707A"/>
                </a:solidFill>
                <a:latin typeface="Calibri" pitchFamily="34" charset="0"/>
                <a:ea typeface="Calibri" pitchFamily="34" charset="-122"/>
                <a:cs typeface="Calibri" pitchFamily="34" charset="-120"/>
              </a:rPr>
              <a:t>Sem movimento de fluido, não há convecção — apenas condução.</a:t>
            </a:r>
            <a:endParaRPr lang="pt-PT" sz="1400" noProof="0" dirty="0"/>
          </a:p>
        </p:txBody>
      </p:sp>
      <p:sp>
        <p:nvSpPr>
          <p:cNvPr id="18" name="Text 15">
            <a:extLst>
              <a:ext uri="{FF2B5EF4-FFF2-40B4-BE49-F238E27FC236}">
                <a16:creationId xmlns:a16="http://schemas.microsoft.com/office/drawing/2014/main" id="{65D25B6D-5A54-F6C1-DDD4-9753296F10A3}"/>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19" name="Text 16">
            <a:extLst>
              <a:ext uri="{FF2B5EF4-FFF2-40B4-BE49-F238E27FC236}">
                <a16:creationId xmlns:a16="http://schemas.microsoft.com/office/drawing/2014/main" id="{7A1E1285-11AB-2A51-AC9E-F82A2F86EA68}"/>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2 · Mecanismos</a:t>
            </a:r>
            <a:endParaRPr lang="pt-PT" sz="950" noProof="0" dirty="0"/>
          </a:p>
        </p:txBody>
      </p:sp>
      <p:sp>
        <p:nvSpPr>
          <p:cNvPr id="20" name="Text 17">
            <a:extLst>
              <a:ext uri="{FF2B5EF4-FFF2-40B4-BE49-F238E27FC236}">
                <a16:creationId xmlns:a16="http://schemas.microsoft.com/office/drawing/2014/main" id="{D45047A8-68E9-6224-96F1-6DEE20908ACA}"/>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5</a:t>
            </a:r>
            <a:endParaRPr lang="pt-PT" sz="950" noProof="0" dirty="0"/>
          </a:p>
        </p:txBody>
      </p:sp>
      <p:sp>
        <p:nvSpPr>
          <p:cNvPr id="22" name="TextBox 21">
            <a:extLst>
              <a:ext uri="{FF2B5EF4-FFF2-40B4-BE49-F238E27FC236}">
                <a16:creationId xmlns:a16="http://schemas.microsoft.com/office/drawing/2014/main" id="{F6889DB3-2FFF-049F-8DFC-23985D737C88}"/>
              </a:ext>
            </a:extLst>
          </p:cNvPr>
          <p:cNvSpPr txBox="1"/>
          <p:nvPr/>
        </p:nvSpPr>
        <p:spPr>
          <a:xfrm>
            <a:off x="7673661" y="5532120"/>
            <a:ext cx="3679028" cy="400110"/>
          </a:xfrm>
          <a:prstGeom prst="rect">
            <a:avLst/>
          </a:prstGeom>
          <a:noFill/>
        </p:spPr>
        <p:txBody>
          <a:bodyPr wrap="square">
            <a:spAutoFit/>
          </a:bodyPr>
          <a:lstStyle/>
          <a:p>
            <a:pPr>
              <a:spcAft>
                <a:spcPts val="600"/>
              </a:spcAft>
              <a:buSzPct val="100000"/>
            </a:pPr>
            <a:r>
              <a:rPr lang="pt-PT" sz="1000" dirty="0">
                <a:solidFill>
                  <a:srgbClr val="182A32"/>
                </a:solidFill>
                <a:latin typeface="Calibri" pitchFamily="34" charset="0"/>
                <a:ea typeface="Calibri" pitchFamily="34" charset="-122"/>
                <a:cs typeface="Calibri" pitchFamily="34" charset="-120"/>
              </a:rPr>
              <a:t>Fonte: Adaptado de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pic>
        <p:nvPicPr>
          <p:cNvPr id="27" name="Picture 26" descr="A diagram of a rectangular object with arrows&#10;&#10;AI-generated content may be incorrect.">
            <a:extLst>
              <a:ext uri="{FF2B5EF4-FFF2-40B4-BE49-F238E27FC236}">
                <a16:creationId xmlns:a16="http://schemas.microsoft.com/office/drawing/2014/main" id="{BE617E7E-CD83-BBAB-F911-A8AB2132BE60}"/>
              </a:ext>
            </a:extLst>
          </p:cNvPr>
          <p:cNvPicPr>
            <a:picLocks noChangeAspect="1"/>
          </p:cNvPicPr>
          <p:nvPr/>
        </p:nvPicPr>
        <p:blipFill>
          <a:blip r:embed="rId3"/>
          <a:srcRect b="13603"/>
          <a:stretch>
            <a:fillRect/>
          </a:stretch>
        </p:blipFill>
        <p:spPr>
          <a:xfrm>
            <a:off x="7057231" y="2113691"/>
            <a:ext cx="4943088" cy="3147568"/>
          </a:xfrm>
          <a:prstGeom prst="rect">
            <a:avLst/>
          </a:prstGeom>
        </p:spPr>
      </p:pic>
      <p:sp>
        <p:nvSpPr>
          <p:cNvPr id="2" name="TextBox 1">
            <a:extLst>
              <a:ext uri="{FF2B5EF4-FFF2-40B4-BE49-F238E27FC236}">
                <a16:creationId xmlns:a16="http://schemas.microsoft.com/office/drawing/2014/main" id="{148BDD37-3B12-F2B2-40C4-4A484E34647C}"/>
              </a:ext>
            </a:extLst>
          </p:cNvPr>
          <p:cNvSpPr txBox="1"/>
          <p:nvPr/>
        </p:nvSpPr>
        <p:spPr>
          <a:xfrm>
            <a:off x="11310159" y="4325977"/>
            <a:ext cx="991416" cy="461665"/>
          </a:xfrm>
          <a:prstGeom prst="rect">
            <a:avLst/>
          </a:prstGeom>
          <a:noFill/>
        </p:spPr>
        <p:txBody>
          <a:bodyPr wrap="square" rtlCol="0">
            <a:spAutoFit/>
          </a:bodyPr>
          <a:lstStyle/>
          <a:p>
            <a:pPr algn="ctr"/>
            <a:r>
              <a:rPr lang="en-US" sz="1200" dirty="0">
                <a:solidFill>
                  <a:srgbClr val="FF0000"/>
                </a:solidFill>
              </a:rPr>
              <a:t>S</a:t>
            </a:r>
            <a:r>
              <a:rPr lang="en-BR" sz="1200" dirty="0">
                <a:solidFill>
                  <a:srgbClr val="FF0000"/>
                </a:solidFill>
              </a:rPr>
              <a:t>uperfície plana</a:t>
            </a:r>
          </a:p>
        </p:txBody>
      </p:sp>
      <p:sp>
        <p:nvSpPr>
          <p:cNvPr id="9" name="TextBox 8">
            <a:extLst>
              <a:ext uri="{FF2B5EF4-FFF2-40B4-BE49-F238E27FC236}">
                <a16:creationId xmlns:a16="http://schemas.microsoft.com/office/drawing/2014/main" id="{796A8591-C1CD-F39D-5BEE-1373926C566B}"/>
              </a:ext>
            </a:extLst>
          </p:cNvPr>
          <p:cNvSpPr txBox="1"/>
          <p:nvPr/>
        </p:nvSpPr>
        <p:spPr>
          <a:xfrm>
            <a:off x="7442321" y="1819373"/>
            <a:ext cx="1117358" cy="646331"/>
          </a:xfrm>
          <a:prstGeom prst="rect">
            <a:avLst/>
          </a:prstGeom>
          <a:noFill/>
        </p:spPr>
        <p:txBody>
          <a:bodyPr wrap="square" rtlCol="0">
            <a:spAutoFit/>
          </a:bodyPr>
          <a:lstStyle/>
          <a:p>
            <a:pPr algn="ctr"/>
            <a:r>
              <a:rPr lang="pt-BR" sz="1200" dirty="0">
                <a:solidFill>
                  <a:srgbClr val="FF0000"/>
                </a:solidFill>
              </a:rPr>
              <a:t>Fluido escoando paralelamente</a:t>
            </a:r>
            <a:endParaRPr lang="en-BR" sz="1200" dirty="0">
              <a:solidFill>
                <a:srgbClr val="FF0000"/>
              </a:solidFill>
            </a:endParaRPr>
          </a:p>
        </p:txBody>
      </p:sp>
    </p:spTree>
    <p:extLst>
      <p:ext uri="{BB962C8B-B14F-4D97-AF65-F5344CB8AC3E}">
        <p14:creationId xmlns:p14="http://schemas.microsoft.com/office/powerpoint/2010/main" val="4267604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6563E7A-D009-F4E5-B259-BB6CEEF938EE}"/>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75F52BE4-8FB5-B81C-6CD0-5FE06A3A4C40}"/>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DEFINIÇÃO</a:t>
            </a:r>
            <a:endParaRPr lang="pt-PT" sz="1300" noProof="0" dirty="0"/>
          </a:p>
        </p:txBody>
      </p:sp>
      <p:sp>
        <p:nvSpPr>
          <p:cNvPr id="4" name="Text 1">
            <a:extLst>
              <a:ext uri="{FF2B5EF4-FFF2-40B4-BE49-F238E27FC236}">
                <a16:creationId xmlns:a16="http://schemas.microsoft.com/office/drawing/2014/main" id="{6040DD71-2680-BAC9-C4B9-32016C534AB4}"/>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O que é convecção?</a:t>
            </a:r>
            <a:endParaRPr lang="pt-PT" sz="3200" noProof="0" dirty="0"/>
          </a:p>
        </p:txBody>
      </p:sp>
      <p:sp>
        <p:nvSpPr>
          <p:cNvPr id="5" name="Shape 2">
            <a:extLst>
              <a:ext uri="{FF2B5EF4-FFF2-40B4-BE49-F238E27FC236}">
                <a16:creationId xmlns:a16="http://schemas.microsoft.com/office/drawing/2014/main" id="{32B0F64D-743F-A8BA-FE4A-32AC97E961F4}"/>
              </a:ext>
            </a:extLst>
          </p:cNvPr>
          <p:cNvSpPr/>
          <p:nvPr/>
        </p:nvSpPr>
        <p:spPr>
          <a:xfrm>
            <a:off x="640080" y="1828800"/>
            <a:ext cx="6400800" cy="4114800"/>
          </a:xfrm>
          <a:prstGeom prst="roundRect">
            <a:avLst>
              <a:gd name="adj" fmla="val 2222"/>
            </a:avLst>
          </a:prstGeom>
          <a:solidFill>
            <a:srgbClr val="EEF4F6"/>
          </a:solidFill>
          <a:ln/>
        </p:spPr>
        <p:txBody>
          <a:bodyPr/>
          <a:lstStyle/>
          <a:p>
            <a:endParaRPr lang="pt-PT" noProof="0" dirty="0"/>
          </a:p>
        </p:txBody>
      </p:sp>
      <p:sp>
        <p:nvSpPr>
          <p:cNvPr id="6" name="Text 3">
            <a:extLst>
              <a:ext uri="{FF2B5EF4-FFF2-40B4-BE49-F238E27FC236}">
                <a16:creationId xmlns:a16="http://schemas.microsoft.com/office/drawing/2014/main" id="{2A418E25-B093-2C02-C476-3D886C29EF4C}"/>
              </a:ext>
            </a:extLst>
          </p:cNvPr>
          <p:cNvSpPr/>
          <p:nvPr/>
        </p:nvSpPr>
        <p:spPr>
          <a:xfrm>
            <a:off x="907622" y="1959147"/>
            <a:ext cx="6018689" cy="1188720"/>
          </a:xfrm>
          <a:prstGeom prst="rect">
            <a:avLst/>
          </a:prstGeom>
          <a:noFill/>
          <a:ln/>
        </p:spPr>
        <p:txBody>
          <a:bodyPr wrap="square" rtlCol="0" anchor="ctr"/>
          <a:lstStyle/>
          <a:p>
            <a:pPr marL="0" indent="0" algn="ctr">
              <a:lnSpc>
                <a:spcPts val="2000"/>
              </a:lnSpc>
              <a:buNone/>
            </a:pPr>
            <a:r>
              <a:rPr lang="pt-PT" sz="1600" b="1" noProof="0" dirty="0">
                <a:solidFill>
                  <a:srgbClr val="0B2545"/>
                </a:solidFill>
                <a:latin typeface="Calibri" pitchFamily="34" charset="0"/>
                <a:ea typeface="Calibri" pitchFamily="34" charset="-122"/>
                <a:cs typeface="Calibri" pitchFamily="34" charset="-120"/>
              </a:rPr>
              <a:t>Transferência de calor entre uma superfície sólida e um fluido em movimento adjacente a ela, quando ambos estão a temperaturas diferentes.</a:t>
            </a:r>
            <a:endParaRPr lang="pt-PT" sz="1600" noProof="0" dirty="0"/>
          </a:p>
        </p:txBody>
      </p:sp>
      <p:sp>
        <p:nvSpPr>
          <p:cNvPr id="7" name="Text 4">
            <a:extLst>
              <a:ext uri="{FF2B5EF4-FFF2-40B4-BE49-F238E27FC236}">
                <a16:creationId xmlns:a16="http://schemas.microsoft.com/office/drawing/2014/main" id="{EBFE4651-FECC-93DF-70E0-63FF81583E29}"/>
              </a:ext>
            </a:extLst>
          </p:cNvPr>
          <p:cNvSpPr/>
          <p:nvPr/>
        </p:nvSpPr>
        <p:spPr>
          <a:xfrm>
            <a:off x="708391" y="3083859"/>
            <a:ext cx="6149609" cy="2036781"/>
          </a:xfrm>
          <a:prstGeom prst="rect">
            <a:avLst/>
          </a:prstGeom>
          <a:noFill/>
          <a:ln/>
        </p:spPr>
        <p:txBody>
          <a:bodyPr wrap="square" rtlCol="0" anchor="ctr"/>
          <a:lstStyle/>
          <a:p>
            <a:pPr algn="ctr"/>
            <a:r>
              <a:rPr lang="pt-PT" sz="2000" b="1" noProof="0" dirty="0">
                <a:solidFill>
                  <a:srgbClr val="065A82"/>
                </a:solidFill>
                <a:latin typeface="Calibri" pitchFamily="34" charset="0"/>
                <a:ea typeface="Calibri" pitchFamily="34" charset="-122"/>
                <a:cs typeface="Calibri" pitchFamily="34" charset="-120"/>
              </a:rPr>
              <a:t>Convecção =</a:t>
            </a:r>
          </a:p>
          <a:p>
            <a:pPr algn="ctr"/>
            <a:r>
              <a:rPr lang="pt-PT" sz="2000" b="1" noProof="0" dirty="0">
                <a:solidFill>
                  <a:srgbClr val="E8602C"/>
                </a:solidFill>
                <a:latin typeface="Calibri" pitchFamily="34" charset="0"/>
                <a:ea typeface="Calibri" pitchFamily="34" charset="-122"/>
                <a:cs typeface="Calibri" pitchFamily="34" charset="-120"/>
              </a:rPr>
              <a:t>Condução ou Difusão </a:t>
            </a:r>
          </a:p>
          <a:p>
            <a:pPr algn="ctr"/>
            <a:r>
              <a:rPr lang="pt-PT" dirty="0">
                <a:solidFill>
                  <a:srgbClr val="182A32"/>
                </a:solidFill>
                <a:latin typeface="Calibri" pitchFamily="34" charset="0"/>
                <a:ea typeface="Calibri" pitchFamily="34" charset="-122"/>
                <a:cs typeface="Calibri" pitchFamily="34" charset="-120"/>
              </a:rPr>
              <a:t>(movimento aleatório das moléculas do fluido)</a:t>
            </a:r>
          </a:p>
          <a:p>
            <a:pPr algn="ctr"/>
            <a:r>
              <a:rPr lang="pt-PT" sz="2000" b="1" noProof="0" dirty="0">
                <a:solidFill>
                  <a:srgbClr val="E8602C"/>
                </a:solidFill>
                <a:latin typeface="Calibri" pitchFamily="34" charset="0"/>
                <a:ea typeface="Calibri" pitchFamily="34" charset="-122"/>
                <a:cs typeface="Calibri" pitchFamily="34" charset="-120"/>
              </a:rPr>
              <a:t>+ </a:t>
            </a:r>
          </a:p>
          <a:p>
            <a:pPr algn="ctr"/>
            <a:r>
              <a:rPr lang="pt-PT" sz="2000" b="1" noProof="0" dirty="0">
                <a:solidFill>
                  <a:srgbClr val="E8602C"/>
                </a:solidFill>
                <a:latin typeface="Calibri" pitchFamily="34" charset="0"/>
                <a:ea typeface="Calibri" pitchFamily="34" charset="-122"/>
                <a:cs typeface="Calibri" pitchFamily="34" charset="-120"/>
              </a:rPr>
              <a:t>Advecção </a:t>
            </a:r>
          </a:p>
          <a:p>
            <a:pPr algn="ctr"/>
            <a:r>
              <a:rPr lang="pt-PT" dirty="0">
                <a:solidFill>
                  <a:srgbClr val="182A32"/>
                </a:solidFill>
                <a:latin typeface="Calibri" pitchFamily="34" charset="0"/>
                <a:ea typeface="Calibri" pitchFamily="34" charset="-122"/>
                <a:cs typeface="Calibri" pitchFamily="34" charset="-120"/>
              </a:rPr>
              <a:t>(transferência de energia pelo movimento global ou macroscópico de um fluido</a:t>
            </a:r>
            <a:r>
              <a:rPr lang="pt-PT" sz="1250" dirty="0">
                <a:solidFill>
                  <a:srgbClr val="182A32"/>
                </a:solidFill>
                <a:latin typeface="Calibri" pitchFamily="34" charset="0"/>
                <a:ea typeface="Calibri" pitchFamily="34" charset="-122"/>
                <a:cs typeface="Calibri" pitchFamily="34" charset="-120"/>
              </a:rPr>
              <a:t>)</a:t>
            </a:r>
            <a:endParaRPr lang="pt-PT" sz="1250" noProof="0" dirty="0"/>
          </a:p>
        </p:txBody>
      </p:sp>
      <p:sp>
        <p:nvSpPr>
          <p:cNvPr id="8" name="Text 5">
            <a:extLst>
              <a:ext uri="{FF2B5EF4-FFF2-40B4-BE49-F238E27FC236}">
                <a16:creationId xmlns:a16="http://schemas.microsoft.com/office/drawing/2014/main" id="{18FAD755-62E5-0CE7-6424-92921249D011}"/>
              </a:ext>
            </a:extLst>
          </p:cNvPr>
          <p:cNvSpPr/>
          <p:nvPr/>
        </p:nvSpPr>
        <p:spPr>
          <a:xfrm>
            <a:off x="839311" y="5212080"/>
            <a:ext cx="6018689" cy="640080"/>
          </a:xfrm>
          <a:prstGeom prst="rect">
            <a:avLst/>
          </a:prstGeom>
          <a:noFill/>
          <a:ln/>
        </p:spPr>
        <p:txBody>
          <a:bodyPr wrap="square" rtlCol="0" anchor="ctr"/>
          <a:lstStyle/>
          <a:p>
            <a:pPr marL="0" indent="0">
              <a:buNone/>
            </a:pPr>
            <a:r>
              <a:rPr lang="pt-PT" sz="1400" i="1" noProof="0" dirty="0">
                <a:solidFill>
                  <a:srgbClr val="57707A"/>
                </a:solidFill>
                <a:latin typeface="Calibri" pitchFamily="34" charset="0"/>
                <a:ea typeface="Calibri" pitchFamily="34" charset="-122"/>
                <a:cs typeface="Calibri" pitchFamily="34" charset="-120"/>
              </a:rPr>
              <a:t>Sem movimento de fluido, não há convecção — apenas condução.</a:t>
            </a:r>
            <a:endParaRPr lang="pt-PT" sz="1400" noProof="0" dirty="0"/>
          </a:p>
        </p:txBody>
      </p:sp>
      <p:sp>
        <p:nvSpPr>
          <p:cNvPr id="18" name="Text 15">
            <a:extLst>
              <a:ext uri="{FF2B5EF4-FFF2-40B4-BE49-F238E27FC236}">
                <a16:creationId xmlns:a16="http://schemas.microsoft.com/office/drawing/2014/main" id="{8C9B4439-94A5-3E27-A284-52B3F921D755}"/>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19" name="Text 16">
            <a:extLst>
              <a:ext uri="{FF2B5EF4-FFF2-40B4-BE49-F238E27FC236}">
                <a16:creationId xmlns:a16="http://schemas.microsoft.com/office/drawing/2014/main" id="{121E3820-1D72-EBC1-A614-780EDD54309B}"/>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2 · Mecanismos</a:t>
            </a:r>
            <a:endParaRPr lang="pt-PT" sz="950" noProof="0" dirty="0"/>
          </a:p>
        </p:txBody>
      </p:sp>
      <p:sp>
        <p:nvSpPr>
          <p:cNvPr id="20" name="Text 17">
            <a:extLst>
              <a:ext uri="{FF2B5EF4-FFF2-40B4-BE49-F238E27FC236}">
                <a16:creationId xmlns:a16="http://schemas.microsoft.com/office/drawing/2014/main" id="{30F7FA79-EF2F-A0B1-5CC3-EBF5A2F6527D}"/>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5</a:t>
            </a:r>
            <a:endParaRPr lang="pt-PT" sz="950" noProof="0" dirty="0"/>
          </a:p>
        </p:txBody>
      </p:sp>
      <p:sp>
        <p:nvSpPr>
          <p:cNvPr id="22" name="TextBox 21">
            <a:extLst>
              <a:ext uri="{FF2B5EF4-FFF2-40B4-BE49-F238E27FC236}">
                <a16:creationId xmlns:a16="http://schemas.microsoft.com/office/drawing/2014/main" id="{5551D224-F682-ED4F-3F9B-ED4736C67629}"/>
              </a:ext>
            </a:extLst>
          </p:cNvPr>
          <p:cNvSpPr txBox="1"/>
          <p:nvPr/>
        </p:nvSpPr>
        <p:spPr>
          <a:xfrm>
            <a:off x="7673661" y="5532120"/>
            <a:ext cx="3679028" cy="400110"/>
          </a:xfrm>
          <a:prstGeom prst="rect">
            <a:avLst/>
          </a:prstGeom>
          <a:noFill/>
        </p:spPr>
        <p:txBody>
          <a:bodyPr wrap="square">
            <a:spAutoFit/>
          </a:bodyPr>
          <a:lstStyle/>
          <a:p>
            <a:pPr>
              <a:spcAft>
                <a:spcPts val="600"/>
              </a:spcAft>
              <a:buSzPct val="100000"/>
            </a:pPr>
            <a:r>
              <a:rPr lang="pt-PT" sz="1000" dirty="0">
                <a:solidFill>
                  <a:srgbClr val="182A32"/>
                </a:solidFill>
                <a:latin typeface="Calibri" pitchFamily="34" charset="0"/>
                <a:ea typeface="Calibri" pitchFamily="34" charset="-122"/>
                <a:cs typeface="Calibri" pitchFamily="34" charset="-120"/>
              </a:rPr>
              <a:t>Fonte: Adaptado de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pic>
        <p:nvPicPr>
          <p:cNvPr id="27" name="Picture 26" descr="A diagram of a rectangular object with arrows&#10;&#10;AI-generated content may be incorrect.">
            <a:extLst>
              <a:ext uri="{FF2B5EF4-FFF2-40B4-BE49-F238E27FC236}">
                <a16:creationId xmlns:a16="http://schemas.microsoft.com/office/drawing/2014/main" id="{783355BB-BC9C-5686-5BD7-53E0F60D8813}"/>
              </a:ext>
            </a:extLst>
          </p:cNvPr>
          <p:cNvPicPr>
            <a:picLocks noChangeAspect="1"/>
          </p:cNvPicPr>
          <p:nvPr/>
        </p:nvPicPr>
        <p:blipFill>
          <a:blip r:embed="rId3"/>
          <a:srcRect b="13603"/>
          <a:stretch>
            <a:fillRect/>
          </a:stretch>
        </p:blipFill>
        <p:spPr>
          <a:xfrm>
            <a:off x="7057231" y="2113691"/>
            <a:ext cx="4943088" cy="3147568"/>
          </a:xfrm>
          <a:prstGeom prst="rect">
            <a:avLst/>
          </a:prstGeom>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FD4967D8-3C66-FC68-D1CB-12468B6D7970}"/>
                  </a:ext>
                </a:extLst>
              </p:cNvPr>
              <p:cNvSpPr txBox="1"/>
              <p:nvPr/>
            </p:nvSpPr>
            <p:spPr>
              <a:xfrm>
                <a:off x="9478159" y="2501536"/>
                <a:ext cx="991416" cy="27699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BR" sz="1200" i="1" smtClean="0">
                              <a:solidFill>
                                <a:srgbClr val="FF0000"/>
                              </a:solidFill>
                              <a:latin typeface="Cambria Math" panose="02040503050406030204" pitchFamily="18" charset="0"/>
                            </a:rPr>
                          </m:ctrlPr>
                        </m:sSubPr>
                        <m:e>
                          <m:r>
                            <a:rPr lang="pt-BR" sz="1200" b="0" i="1" smtClean="0">
                              <a:solidFill>
                                <a:srgbClr val="FF0000"/>
                              </a:solidFill>
                              <a:latin typeface="Cambria Math" panose="02040503050406030204" pitchFamily="18" charset="0"/>
                            </a:rPr>
                            <m:t>𝑇</m:t>
                          </m:r>
                        </m:e>
                        <m:sub>
                          <m:r>
                            <a:rPr lang="en-BR" sz="1200" i="1" smtClean="0">
                              <a:solidFill>
                                <a:srgbClr val="FF0000"/>
                              </a:solidFill>
                              <a:latin typeface="Cambria Math" panose="02040503050406030204" pitchFamily="18" charset="0"/>
                              <a:ea typeface="Cambria Math" panose="02040503050406030204" pitchFamily="18" charset="0"/>
                            </a:rPr>
                            <m:t>∞</m:t>
                          </m:r>
                          <m:r>
                            <a:rPr lang="pt-BR" sz="1200" b="0" i="1" smtClean="0">
                              <a:solidFill>
                                <a:srgbClr val="FF0000"/>
                              </a:solidFill>
                              <a:latin typeface="Cambria Math" panose="02040503050406030204" pitchFamily="18" charset="0"/>
                              <a:ea typeface="Cambria Math" panose="02040503050406030204" pitchFamily="18" charset="0"/>
                            </a:rPr>
                            <m:t> </m:t>
                          </m:r>
                        </m:sub>
                      </m:sSub>
                      <m:r>
                        <a:rPr lang="en-BR" sz="1200" i="1" smtClean="0">
                          <a:solidFill>
                            <a:srgbClr val="FF0000"/>
                          </a:solidFill>
                          <a:latin typeface="Cambria Math" panose="02040503050406030204" pitchFamily="18" charset="0"/>
                          <a:ea typeface="Cambria Math" panose="02040503050406030204" pitchFamily="18" charset="0"/>
                        </a:rPr>
                        <m:t>≠</m:t>
                      </m:r>
                      <m:r>
                        <a:rPr lang="pt-BR" sz="1200" b="0" i="1" smtClean="0">
                          <a:solidFill>
                            <a:srgbClr val="FF0000"/>
                          </a:solidFill>
                          <a:latin typeface="Cambria Math" panose="02040503050406030204" pitchFamily="18" charset="0"/>
                          <a:ea typeface="Cambria Math" panose="02040503050406030204" pitchFamily="18" charset="0"/>
                        </a:rPr>
                        <m:t> </m:t>
                      </m:r>
                      <m:sSub>
                        <m:sSubPr>
                          <m:ctrlPr>
                            <a:rPr lang="pt-BR" sz="1200" b="0" i="1" smtClean="0">
                              <a:solidFill>
                                <a:srgbClr val="FF0000"/>
                              </a:solidFill>
                              <a:latin typeface="Cambria Math" panose="02040503050406030204" pitchFamily="18" charset="0"/>
                              <a:ea typeface="Cambria Math" panose="02040503050406030204" pitchFamily="18" charset="0"/>
                            </a:rPr>
                          </m:ctrlPr>
                        </m:sSubPr>
                        <m:e>
                          <m:r>
                            <a:rPr lang="pt-BR" sz="1200" b="0" i="1" smtClean="0">
                              <a:solidFill>
                                <a:srgbClr val="FF0000"/>
                              </a:solidFill>
                              <a:latin typeface="Cambria Math" panose="02040503050406030204" pitchFamily="18" charset="0"/>
                              <a:ea typeface="Cambria Math" panose="02040503050406030204" pitchFamily="18" charset="0"/>
                            </a:rPr>
                            <m:t>𝑇</m:t>
                          </m:r>
                        </m:e>
                        <m:sub>
                          <m:r>
                            <a:rPr lang="pt-BR" sz="1200" b="0" i="1" smtClean="0">
                              <a:solidFill>
                                <a:srgbClr val="FF0000"/>
                              </a:solidFill>
                              <a:latin typeface="Cambria Math" panose="02040503050406030204" pitchFamily="18" charset="0"/>
                              <a:ea typeface="Cambria Math" panose="02040503050406030204" pitchFamily="18" charset="0"/>
                            </a:rPr>
                            <m:t>𝑆</m:t>
                          </m:r>
                        </m:sub>
                      </m:sSub>
                    </m:oMath>
                  </m:oMathPara>
                </a14:m>
                <a:endParaRPr lang="en-BR" sz="1200" dirty="0">
                  <a:solidFill>
                    <a:srgbClr val="FF0000"/>
                  </a:solidFill>
                </a:endParaRPr>
              </a:p>
            </p:txBody>
          </p:sp>
        </mc:Choice>
        <mc:Fallback>
          <p:sp>
            <p:nvSpPr>
              <p:cNvPr id="13" name="TextBox 12">
                <a:extLst>
                  <a:ext uri="{FF2B5EF4-FFF2-40B4-BE49-F238E27FC236}">
                    <a16:creationId xmlns:a16="http://schemas.microsoft.com/office/drawing/2014/main" id="{FD4967D8-3C66-FC68-D1CB-12468B6D7970}"/>
                  </a:ext>
                </a:extLst>
              </p:cNvPr>
              <p:cNvSpPr txBox="1">
                <a:spLocks noRot="1" noChangeAspect="1" noMove="1" noResize="1" noEditPoints="1" noAdjustHandles="1" noChangeArrowheads="1" noChangeShapeType="1" noTextEdit="1"/>
              </p:cNvSpPr>
              <p:nvPr/>
            </p:nvSpPr>
            <p:spPr>
              <a:xfrm>
                <a:off x="9478159" y="2501536"/>
                <a:ext cx="991416" cy="276999"/>
              </a:xfrm>
              <a:prstGeom prst="rect">
                <a:avLst/>
              </a:prstGeom>
              <a:blipFill>
                <a:blip r:embed="rId4"/>
                <a:stretch>
                  <a:fillRect b="-8696"/>
                </a:stretch>
              </a:blipFill>
            </p:spPr>
            <p:txBody>
              <a:bodyPr/>
              <a:lstStyle/>
              <a:p>
                <a:r>
                  <a:rPr lang="en-BR">
                    <a:noFill/>
                  </a:rPr>
                  <a:t> </a:t>
                </a:r>
              </a:p>
            </p:txBody>
          </p:sp>
        </mc:Fallback>
      </mc:AlternateContent>
    </p:spTree>
    <p:extLst>
      <p:ext uri="{BB962C8B-B14F-4D97-AF65-F5344CB8AC3E}">
        <p14:creationId xmlns:p14="http://schemas.microsoft.com/office/powerpoint/2010/main" val="2639004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8B77499-7B85-B52F-842F-042CBE2AA50D}"/>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ABA2C415-7C92-D6C9-1A2D-11F11CB04CD5}"/>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DEFINIÇÃO</a:t>
            </a:r>
            <a:endParaRPr lang="pt-PT" sz="1300" noProof="0" dirty="0"/>
          </a:p>
        </p:txBody>
      </p:sp>
      <p:sp>
        <p:nvSpPr>
          <p:cNvPr id="4" name="Text 1">
            <a:extLst>
              <a:ext uri="{FF2B5EF4-FFF2-40B4-BE49-F238E27FC236}">
                <a16:creationId xmlns:a16="http://schemas.microsoft.com/office/drawing/2014/main" id="{565A0E82-6C39-157E-5EFA-DD1EEB5E40F2}"/>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O que é convecção?</a:t>
            </a:r>
            <a:endParaRPr lang="pt-PT" sz="3200" noProof="0" dirty="0"/>
          </a:p>
        </p:txBody>
      </p:sp>
      <p:sp>
        <p:nvSpPr>
          <p:cNvPr id="5" name="Shape 2">
            <a:extLst>
              <a:ext uri="{FF2B5EF4-FFF2-40B4-BE49-F238E27FC236}">
                <a16:creationId xmlns:a16="http://schemas.microsoft.com/office/drawing/2014/main" id="{957B687F-9173-7C22-3780-3A269E9FAAC8}"/>
              </a:ext>
            </a:extLst>
          </p:cNvPr>
          <p:cNvSpPr/>
          <p:nvPr/>
        </p:nvSpPr>
        <p:spPr>
          <a:xfrm>
            <a:off x="640080" y="1828800"/>
            <a:ext cx="6400800" cy="4114800"/>
          </a:xfrm>
          <a:prstGeom prst="roundRect">
            <a:avLst>
              <a:gd name="adj" fmla="val 2222"/>
            </a:avLst>
          </a:prstGeom>
          <a:solidFill>
            <a:srgbClr val="EEF4F6"/>
          </a:solidFill>
          <a:ln/>
        </p:spPr>
        <p:txBody>
          <a:bodyPr/>
          <a:lstStyle/>
          <a:p>
            <a:endParaRPr lang="pt-PT" noProof="0" dirty="0"/>
          </a:p>
        </p:txBody>
      </p:sp>
      <p:sp>
        <p:nvSpPr>
          <p:cNvPr id="6" name="Text 3">
            <a:extLst>
              <a:ext uri="{FF2B5EF4-FFF2-40B4-BE49-F238E27FC236}">
                <a16:creationId xmlns:a16="http://schemas.microsoft.com/office/drawing/2014/main" id="{D4ABCF14-0DDB-3BD8-5B50-555260576031}"/>
              </a:ext>
            </a:extLst>
          </p:cNvPr>
          <p:cNvSpPr/>
          <p:nvPr/>
        </p:nvSpPr>
        <p:spPr>
          <a:xfrm>
            <a:off x="907622" y="1959147"/>
            <a:ext cx="6018689" cy="1188720"/>
          </a:xfrm>
          <a:prstGeom prst="rect">
            <a:avLst/>
          </a:prstGeom>
          <a:noFill/>
          <a:ln/>
        </p:spPr>
        <p:txBody>
          <a:bodyPr wrap="square" rtlCol="0" anchor="ctr"/>
          <a:lstStyle/>
          <a:p>
            <a:pPr marL="0" indent="0" algn="ctr">
              <a:lnSpc>
                <a:spcPts val="2000"/>
              </a:lnSpc>
              <a:buNone/>
            </a:pPr>
            <a:r>
              <a:rPr lang="pt-PT" sz="1600" b="1" noProof="0" dirty="0">
                <a:solidFill>
                  <a:srgbClr val="0B2545"/>
                </a:solidFill>
                <a:latin typeface="Calibri" pitchFamily="34" charset="0"/>
                <a:ea typeface="Calibri" pitchFamily="34" charset="-122"/>
                <a:cs typeface="Calibri" pitchFamily="34" charset="-120"/>
              </a:rPr>
              <a:t>Transferência de calor entre uma superfície sólida e um fluido em movimento adjacente a ela, quando ambos estão a temperaturas diferentes.</a:t>
            </a:r>
            <a:endParaRPr lang="pt-PT" sz="1600" noProof="0" dirty="0"/>
          </a:p>
        </p:txBody>
      </p:sp>
      <p:sp>
        <p:nvSpPr>
          <p:cNvPr id="7" name="Text 4">
            <a:extLst>
              <a:ext uri="{FF2B5EF4-FFF2-40B4-BE49-F238E27FC236}">
                <a16:creationId xmlns:a16="http://schemas.microsoft.com/office/drawing/2014/main" id="{5358ED1D-4BE8-3EB4-3606-CB78B7207E6F}"/>
              </a:ext>
            </a:extLst>
          </p:cNvPr>
          <p:cNvSpPr/>
          <p:nvPr/>
        </p:nvSpPr>
        <p:spPr>
          <a:xfrm>
            <a:off x="708391" y="3083859"/>
            <a:ext cx="6149609" cy="2036781"/>
          </a:xfrm>
          <a:prstGeom prst="rect">
            <a:avLst/>
          </a:prstGeom>
          <a:noFill/>
          <a:ln/>
        </p:spPr>
        <p:txBody>
          <a:bodyPr wrap="square" rtlCol="0" anchor="ctr"/>
          <a:lstStyle/>
          <a:p>
            <a:pPr algn="ctr"/>
            <a:r>
              <a:rPr lang="pt-PT" sz="2000" b="1" noProof="0" dirty="0">
                <a:solidFill>
                  <a:srgbClr val="065A82"/>
                </a:solidFill>
                <a:latin typeface="Calibri" pitchFamily="34" charset="0"/>
                <a:ea typeface="Calibri" pitchFamily="34" charset="-122"/>
                <a:cs typeface="Calibri" pitchFamily="34" charset="-120"/>
              </a:rPr>
              <a:t>Convecção =</a:t>
            </a:r>
          </a:p>
          <a:p>
            <a:pPr algn="ctr"/>
            <a:r>
              <a:rPr lang="pt-PT" sz="2000" b="1" noProof="0" dirty="0">
                <a:solidFill>
                  <a:srgbClr val="E8602C"/>
                </a:solidFill>
                <a:latin typeface="Calibri" pitchFamily="34" charset="0"/>
                <a:ea typeface="Calibri" pitchFamily="34" charset="-122"/>
                <a:cs typeface="Calibri" pitchFamily="34" charset="-120"/>
              </a:rPr>
              <a:t>Condução ou Difusão </a:t>
            </a:r>
          </a:p>
          <a:p>
            <a:pPr algn="ctr"/>
            <a:r>
              <a:rPr lang="pt-PT" dirty="0">
                <a:solidFill>
                  <a:srgbClr val="182A32"/>
                </a:solidFill>
                <a:latin typeface="Calibri" pitchFamily="34" charset="0"/>
                <a:ea typeface="Calibri" pitchFamily="34" charset="-122"/>
                <a:cs typeface="Calibri" pitchFamily="34" charset="-120"/>
              </a:rPr>
              <a:t>(movimento aleatório das moléculas do fluido)</a:t>
            </a:r>
          </a:p>
          <a:p>
            <a:pPr algn="ctr"/>
            <a:r>
              <a:rPr lang="pt-PT" sz="2000" b="1" noProof="0" dirty="0">
                <a:solidFill>
                  <a:srgbClr val="E8602C"/>
                </a:solidFill>
                <a:latin typeface="Calibri" pitchFamily="34" charset="0"/>
                <a:ea typeface="Calibri" pitchFamily="34" charset="-122"/>
                <a:cs typeface="Calibri" pitchFamily="34" charset="-120"/>
              </a:rPr>
              <a:t>+ </a:t>
            </a:r>
          </a:p>
          <a:p>
            <a:pPr algn="ctr"/>
            <a:r>
              <a:rPr lang="pt-PT" sz="2000" b="1" noProof="0" dirty="0">
                <a:solidFill>
                  <a:srgbClr val="E8602C"/>
                </a:solidFill>
                <a:latin typeface="Calibri" pitchFamily="34" charset="0"/>
                <a:ea typeface="Calibri" pitchFamily="34" charset="-122"/>
                <a:cs typeface="Calibri" pitchFamily="34" charset="-120"/>
              </a:rPr>
              <a:t>Advecção </a:t>
            </a:r>
          </a:p>
          <a:p>
            <a:pPr algn="ctr"/>
            <a:r>
              <a:rPr lang="pt-PT" dirty="0">
                <a:solidFill>
                  <a:srgbClr val="182A32"/>
                </a:solidFill>
                <a:latin typeface="Calibri" pitchFamily="34" charset="0"/>
                <a:ea typeface="Calibri" pitchFamily="34" charset="-122"/>
                <a:cs typeface="Calibri" pitchFamily="34" charset="-120"/>
              </a:rPr>
              <a:t>(transferência de energia pelo movimento global ou macroscópico de um fluido</a:t>
            </a:r>
            <a:r>
              <a:rPr lang="pt-PT" sz="1250" dirty="0">
                <a:solidFill>
                  <a:srgbClr val="182A32"/>
                </a:solidFill>
                <a:latin typeface="Calibri" pitchFamily="34" charset="0"/>
                <a:ea typeface="Calibri" pitchFamily="34" charset="-122"/>
                <a:cs typeface="Calibri" pitchFamily="34" charset="-120"/>
              </a:rPr>
              <a:t>)</a:t>
            </a:r>
            <a:endParaRPr lang="pt-PT" sz="1250" noProof="0" dirty="0"/>
          </a:p>
        </p:txBody>
      </p:sp>
      <p:sp>
        <p:nvSpPr>
          <p:cNvPr id="8" name="Text 5">
            <a:extLst>
              <a:ext uri="{FF2B5EF4-FFF2-40B4-BE49-F238E27FC236}">
                <a16:creationId xmlns:a16="http://schemas.microsoft.com/office/drawing/2014/main" id="{DDE37531-A179-2748-5944-C3466B565D80}"/>
              </a:ext>
            </a:extLst>
          </p:cNvPr>
          <p:cNvSpPr/>
          <p:nvPr/>
        </p:nvSpPr>
        <p:spPr>
          <a:xfrm>
            <a:off x="839311" y="5212080"/>
            <a:ext cx="6018689" cy="640080"/>
          </a:xfrm>
          <a:prstGeom prst="rect">
            <a:avLst/>
          </a:prstGeom>
          <a:noFill/>
          <a:ln/>
        </p:spPr>
        <p:txBody>
          <a:bodyPr wrap="square" rtlCol="0" anchor="ctr"/>
          <a:lstStyle/>
          <a:p>
            <a:pPr marL="0" indent="0">
              <a:buNone/>
            </a:pPr>
            <a:r>
              <a:rPr lang="pt-PT" sz="1400" i="1" noProof="0" dirty="0">
                <a:solidFill>
                  <a:srgbClr val="57707A"/>
                </a:solidFill>
                <a:latin typeface="Calibri" pitchFamily="34" charset="0"/>
                <a:ea typeface="Calibri" pitchFamily="34" charset="-122"/>
                <a:cs typeface="Calibri" pitchFamily="34" charset="-120"/>
              </a:rPr>
              <a:t>Sem movimento de fluido, não há convecção — apenas condução.</a:t>
            </a:r>
            <a:endParaRPr lang="pt-PT" sz="1400" noProof="0" dirty="0"/>
          </a:p>
        </p:txBody>
      </p:sp>
      <p:sp>
        <p:nvSpPr>
          <p:cNvPr id="18" name="Text 15">
            <a:extLst>
              <a:ext uri="{FF2B5EF4-FFF2-40B4-BE49-F238E27FC236}">
                <a16:creationId xmlns:a16="http://schemas.microsoft.com/office/drawing/2014/main" id="{5772FA4F-1B1D-4596-A690-B8977C5AAB9E}"/>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19" name="Text 16">
            <a:extLst>
              <a:ext uri="{FF2B5EF4-FFF2-40B4-BE49-F238E27FC236}">
                <a16:creationId xmlns:a16="http://schemas.microsoft.com/office/drawing/2014/main" id="{CE07B4F7-D72E-363C-BBD7-6F2D665C008B}"/>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2 · Mecanismos</a:t>
            </a:r>
            <a:endParaRPr lang="pt-PT" sz="950" noProof="0" dirty="0"/>
          </a:p>
        </p:txBody>
      </p:sp>
      <p:sp>
        <p:nvSpPr>
          <p:cNvPr id="20" name="Text 17">
            <a:extLst>
              <a:ext uri="{FF2B5EF4-FFF2-40B4-BE49-F238E27FC236}">
                <a16:creationId xmlns:a16="http://schemas.microsoft.com/office/drawing/2014/main" id="{6261D808-E74F-5486-6AF1-25F346E93618}"/>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5</a:t>
            </a:r>
            <a:endParaRPr lang="pt-PT" sz="950" noProof="0" dirty="0"/>
          </a:p>
        </p:txBody>
      </p:sp>
      <p:sp>
        <p:nvSpPr>
          <p:cNvPr id="22" name="TextBox 21">
            <a:extLst>
              <a:ext uri="{FF2B5EF4-FFF2-40B4-BE49-F238E27FC236}">
                <a16:creationId xmlns:a16="http://schemas.microsoft.com/office/drawing/2014/main" id="{B5C79927-47E0-E4F8-6E8E-FE1D860D69A2}"/>
              </a:ext>
            </a:extLst>
          </p:cNvPr>
          <p:cNvSpPr txBox="1"/>
          <p:nvPr/>
        </p:nvSpPr>
        <p:spPr>
          <a:xfrm>
            <a:off x="7673661" y="5532120"/>
            <a:ext cx="3679028" cy="400110"/>
          </a:xfrm>
          <a:prstGeom prst="rect">
            <a:avLst/>
          </a:prstGeom>
          <a:noFill/>
        </p:spPr>
        <p:txBody>
          <a:bodyPr wrap="square">
            <a:spAutoFit/>
          </a:bodyPr>
          <a:lstStyle/>
          <a:p>
            <a:pPr>
              <a:spcAft>
                <a:spcPts val="600"/>
              </a:spcAft>
              <a:buSzPct val="100000"/>
            </a:pPr>
            <a:r>
              <a:rPr lang="pt-PT" sz="1000" dirty="0">
                <a:solidFill>
                  <a:srgbClr val="182A32"/>
                </a:solidFill>
                <a:latin typeface="Calibri" pitchFamily="34" charset="0"/>
                <a:ea typeface="Calibri" pitchFamily="34" charset="-122"/>
                <a:cs typeface="Calibri" pitchFamily="34" charset="-120"/>
              </a:rPr>
              <a:t>Fonte: Adaptado de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pic>
        <p:nvPicPr>
          <p:cNvPr id="27" name="Picture 26" descr="A diagram of a rectangular object with arrows&#10;&#10;AI-generated content may be incorrect.">
            <a:extLst>
              <a:ext uri="{FF2B5EF4-FFF2-40B4-BE49-F238E27FC236}">
                <a16:creationId xmlns:a16="http://schemas.microsoft.com/office/drawing/2014/main" id="{0D5FC6F6-D815-D710-EADC-36BE1B29CF6C}"/>
              </a:ext>
            </a:extLst>
          </p:cNvPr>
          <p:cNvPicPr>
            <a:picLocks noChangeAspect="1"/>
          </p:cNvPicPr>
          <p:nvPr/>
        </p:nvPicPr>
        <p:blipFill>
          <a:blip r:embed="rId3"/>
          <a:srcRect b="13603"/>
          <a:stretch>
            <a:fillRect/>
          </a:stretch>
        </p:blipFill>
        <p:spPr>
          <a:xfrm>
            <a:off x="7057231" y="2113691"/>
            <a:ext cx="4943088" cy="3147568"/>
          </a:xfrm>
          <a:prstGeom prst="rect">
            <a:avLst/>
          </a:prstGeom>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DE5B9FBF-30AD-DA6D-6172-978BD257448D}"/>
                  </a:ext>
                </a:extLst>
              </p:cNvPr>
              <p:cNvSpPr txBox="1"/>
              <p:nvPr/>
            </p:nvSpPr>
            <p:spPr>
              <a:xfrm>
                <a:off x="9137969" y="2501536"/>
                <a:ext cx="1671797" cy="64633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BR" sz="1200" i="1" smtClean="0">
                              <a:solidFill>
                                <a:srgbClr val="FF0000"/>
                              </a:solidFill>
                              <a:latin typeface="Cambria Math" panose="02040503050406030204" pitchFamily="18" charset="0"/>
                            </a:rPr>
                          </m:ctrlPr>
                        </m:sSubPr>
                        <m:e>
                          <m:r>
                            <a:rPr lang="pt-BR" sz="1200" b="0" i="1" smtClean="0">
                              <a:solidFill>
                                <a:srgbClr val="FF0000"/>
                              </a:solidFill>
                              <a:latin typeface="Cambria Math" panose="02040503050406030204" pitchFamily="18" charset="0"/>
                            </a:rPr>
                            <m:t>𝑇</m:t>
                          </m:r>
                        </m:e>
                        <m:sub>
                          <m:r>
                            <a:rPr lang="en-BR" sz="1200" i="1" smtClean="0">
                              <a:solidFill>
                                <a:srgbClr val="FF0000"/>
                              </a:solidFill>
                              <a:latin typeface="Cambria Math" panose="02040503050406030204" pitchFamily="18" charset="0"/>
                              <a:ea typeface="Cambria Math" panose="02040503050406030204" pitchFamily="18" charset="0"/>
                            </a:rPr>
                            <m:t>∞</m:t>
                          </m:r>
                          <m:r>
                            <a:rPr lang="pt-BR" sz="1200" b="0" i="1" smtClean="0">
                              <a:solidFill>
                                <a:srgbClr val="FF0000"/>
                              </a:solidFill>
                              <a:latin typeface="Cambria Math" panose="02040503050406030204" pitchFamily="18" charset="0"/>
                              <a:ea typeface="Cambria Math" panose="02040503050406030204" pitchFamily="18" charset="0"/>
                            </a:rPr>
                            <m:t> </m:t>
                          </m:r>
                        </m:sub>
                      </m:sSub>
                      <m:r>
                        <a:rPr lang="en-BR" sz="1200" i="1" smtClean="0">
                          <a:solidFill>
                            <a:srgbClr val="FF0000"/>
                          </a:solidFill>
                          <a:latin typeface="Cambria Math" panose="02040503050406030204" pitchFamily="18" charset="0"/>
                          <a:ea typeface="Cambria Math" panose="02040503050406030204" pitchFamily="18" charset="0"/>
                        </a:rPr>
                        <m:t>≠</m:t>
                      </m:r>
                      <m:r>
                        <a:rPr lang="pt-BR" sz="1200" b="0" i="1" smtClean="0">
                          <a:solidFill>
                            <a:srgbClr val="FF0000"/>
                          </a:solidFill>
                          <a:latin typeface="Cambria Math" panose="02040503050406030204" pitchFamily="18" charset="0"/>
                          <a:ea typeface="Cambria Math" panose="02040503050406030204" pitchFamily="18" charset="0"/>
                        </a:rPr>
                        <m:t> </m:t>
                      </m:r>
                      <m:sSub>
                        <m:sSubPr>
                          <m:ctrlPr>
                            <a:rPr lang="pt-BR" sz="1200" b="0" i="1" smtClean="0">
                              <a:solidFill>
                                <a:srgbClr val="FF0000"/>
                              </a:solidFill>
                              <a:latin typeface="Cambria Math" panose="02040503050406030204" pitchFamily="18" charset="0"/>
                              <a:ea typeface="Cambria Math" panose="02040503050406030204" pitchFamily="18" charset="0"/>
                            </a:rPr>
                          </m:ctrlPr>
                        </m:sSubPr>
                        <m:e>
                          <m:r>
                            <a:rPr lang="pt-BR" sz="1200" b="0" i="1" smtClean="0">
                              <a:solidFill>
                                <a:srgbClr val="FF0000"/>
                              </a:solidFill>
                              <a:latin typeface="Cambria Math" panose="02040503050406030204" pitchFamily="18" charset="0"/>
                              <a:ea typeface="Cambria Math" panose="02040503050406030204" pitchFamily="18" charset="0"/>
                            </a:rPr>
                            <m:t>𝑇</m:t>
                          </m:r>
                        </m:e>
                        <m:sub>
                          <m:r>
                            <a:rPr lang="pt-BR" sz="1200" b="0" i="1" smtClean="0">
                              <a:solidFill>
                                <a:srgbClr val="FF0000"/>
                              </a:solidFill>
                              <a:latin typeface="Cambria Math" panose="02040503050406030204" pitchFamily="18" charset="0"/>
                              <a:ea typeface="Cambria Math" panose="02040503050406030204" pitchFamily="18" charset="0"/>
                            </a:rPr>
                            <m:t>𝑆</m:t>
                          </m:r>
                        </m:sub>
                      </m:sSub>
                      <m:r>
                        <a:rPr lang="pt-BR" sz="1200" b="0" i="1" smtClean="0">
                          <a:solidFill>
                            <a:srgbClr val="FF0000"/>
                          </a:solidFill>
                          <a:latin typeface="Cambria Math" panose="02040503050406030204" pitchFamily="18" charset="0"/>
                          <a:ea typeface="Cambria Math" panose="02040503050406030204" pitchFamily="18" charset="0"/>
                        </a:rPr>
                        <m:t> </m:t>
                      </m:r>
                    </m:oMath>
                  </m:oMathPara>
                </a14:m>
                <a:endParaRPr lang="pt-BR" sz="1200" b="0" i="1" dirty="0">
                  <a:solidFill>
                    <a:srgbClr val="FF0000"/>
                  </a:solidFill>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pt-BR" sz="1200" b="0" i="1" smtClean="0">
                          <a:solidFill>
                            <a:srgbClr val="FF0000"/>
                          </a:solidFill>
                          <a:latin typeface="Cambria Math" panose="02040503050406030204" pitchFamily="18" charset="0"/>
                          <a:ea typeface="Cambria Math" panose="02040503050406030204" pitchFamily="18" charset="0"/>
                        </a:rPr>
                        <m:t>∴</m:t>
                      </m:r>
                    </m:oMath>
                  </m:oMathPara>
                </a14:m>
                <a:endParaRPr lang="pt-BR" sz="1200" b="0" dirty="0">
                  <a:solidFill>
                    <a:srgbClr val="FF0000"/>
                  </a:solidFill>
                  <a:ea typeface="Cambria Math" panose="02040503050406030204" pitchFamily="18" charset="0"/>
                </a:endParaRPr>
              </a:p>
              <a:p>
                <a:pPr algn="ctr"/>
                <a:r>
                  <a:rPr lang="en-BR" sz="1200" dirty="0">
                    <a:solidFill>
                      <a:srgbClr val="FF0000"/>
                    </a:solidFill>
                  </a:rPr>
                  <a:t>Transferência de calor</a:t>
                </a:r>
              </a:p>
            </p:txBody>
          </p:sp>
        </mc:Choice>
        <mc:Fallback>
          <p:sp>
            <p:nvSpPr>
              <p:cNvPr id="2" name="TextBox 1">
                <a:extLst>
                  <a:ext uri="{FF2B5EF4-FFF2-40B4-BE49-F238E27FC236}">
                    <a16:creationId xmlns:a16="http://schemas.microsoft.com/office/drawing/2014/main" id="{DE5B9FBF-30AD-DA6D-6172-978BD257448D}"/>
                  </a:ext>
                </a:extLst>
              </p:cNvPr>
              <p:cNvSpPr txBox="1">
                <a:spLocks noRot="1" noChangeAspect="1" noMove="1" noResize="1" noEditPoints="1" noAdjustHandles="1" noChangeArrowheads="1" noChangeShapeType="1" noTextEdit="1"/>
              </p:cNvSpPr>
              <p:nvPr/>
            </p:nvSpPr>
            <p:spPr>
              <a:xfrm>
                <a:off x="9137969" y="2501536"/>
                <a:ext cx="1671797" cy="646331"/>
              </a:xfrm>
              <a:prstGeom prst="rect">
                <a:avLst/>
              </a:prstGeom>
              <a:blipFill>
                <a:blip r:embed="rId4"/>
                <a:stretch>
                  <a:fillRect b="-7692"/>
                </a:stretch>
              </a:blipFill>
            </p:spPr>
            <p:txBody>
              <a:bodyPr/>
              <a:lstStyle/>
              <a:p>
                <a:r>
                  <a:rPr lang="en-BR">
                    <a:noFill/>
                  </a:rPr>
                  <a:t> </a:t>
                </a:r>
              </a:p>
            </p:txBody>
          </p:sp>
        </mc:Fallback>
      </mc:AlternateContent>
    </p:spTree>
    <p:extLst>
      <p:ext uri="{BB962C8B-B14F-4D97-AF65-F5344CB8AC3E}">
        <p14:creationId xmlns:p14="http://schemas.microsoft.com/office/powerpoint/2010/main" val="3041478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85D4AB0-CF7E-BDD2-0A8F-983159F67312}"/>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624FCD47-EF4E-C622-F641-570471F56897}"/>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DEFINIÇÃO</a:t>
            </a:r>
            <a:endParaRPr lang="pt-PT" sz="1300" noProof="0" dirty="0"/>
          </a:p>
        </p:txBody>
      </p:sp>
      <p:sp>
        <p:nvSpPr>
          <p:cNvPr id="4" name="Text 1">
            <a:extLst>
              <a:ext uri="{FF2B5EF4-FFF2-40B4-BE49-F238E27FC236}">
                <a16:creationId xmlns:a16="http://schemas.microsoft.com/office/drawing/2014/main" id="{346092E2-228B-E8E7-7B0E-3F212B219E4B}"/>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O que é convecção?</a:t>
            </a:r>
            <a:endParaRPr lang="pt-PT" sz="3200" noProof="0" dirty="0"/>
          </a:p>
        </p:txBody>
      </p:sp>
      <p:sp>
        <p:nvSpPr>
          <p:cNvPr id="5" name="Shape 2">
            <a:extLst>
              <a:ext uri="{FF2B5EF4-FFF2-40B4-BE49-F238E27FC236}">
                <a16:creationId xmlns:a16="http://schemas.microsoft.com/office/drawing/2014/main" id="{A17912F5-3574-CB40-FB89-834B791473E3}"/>
              </a:ext>
            </a:extLst>
          </p:cNvPr>
          <p:cNvSpPr/>
          <p:nvPr/>
        </p:nvSpPr>
        <p:spPr>
          <a:xfrm>
            <a:off x="640080" y="1828800"/>
            <a:ext cx="6400800" cy="4114800"/>
          </a:xfrm>
          <a:prstGeom prst="roundRect">
            <a:avLst>
              <a:gd name="adj" fmla="val 2222"/>
            </a:avLst>
          </a:prstGeom>
          <a:solidFill>
            <a:srgbClr val="EEF4F6"/>
          </a:solidFill>
          <a:ln/>
        </p:spPr>
        <p:txBody>
          <a:bodyPr/>
          <a:lstStyle/>
          <a:p>
            <a:endParaRPr lang="pt-PT" noProof="0" dirty="0"/>
          </a:p>
        </p:txBody>
      </p:sp>
      <p:sp>
        <p:nvSpPr>
          <p:cNvPr id="6" name="Text 3">
            <a:extLst>
              <a:ext uri="{FF2B5EF4-FFF2-40B4-BE49-F238E27FC236}">
                <a16:creationId xmlns:a16="http://schemas.microsoft.com/office/drawing/2014/main" id="{BB503165-C3DD-CC6F-C399-956FD3532A0C}"/>
              </a:ext>
            </a:extLst>
          </p:cNvPr>
          <p:cNvSpPr/>
          <p:nvPr/>
        </p:nvSpPr>
        <p:spPr>
          <a:xfrm>
            <a:off x="907622" y="1959147"/>
            <a:ext cx="6018689" cy="1188720"/>
          </a:xfrm>
          <a:prstGeom prst="rect">
            <a:avLst/>
          </a:prstGeom>
          <a:noFill/>
          <a:ln/>
        </p:spPr>
        <p:txBody>
          <a:bodyPr wrap="square" rtlCol="0" anchor="ctr"/>
          <a:lstStyle/>
          <a:p>
            <a:pPr marL="0" indent="0" algn="ctr">
              <a:lnSpc>
                <a:spcPts val="2000"/>
              </a:lnSpc>
              <a:buNone/>
            </a:pPr>
            <a:r>
              <a:rPr lang="pt-PT" sz="1600" b="1" noProof="0" dirty="0">
                <a:solidFill>
                  <a:srgbClr val="0B2545"/>
                </a:solidFill>
                <a:latin typeface="Calibri" pitchFamily="34" charset="0"/>
                <a:ea typeface="Calibri" pitchFamily="34" charset="-122"/>
                <a:cs typeface="Calibri" pitchFamily="34" charset="-120"/>
              </a:rPr>
              <a:t>Transferência de calor entre uma superfície sólida e um fluido em movimento adjacente a ela, quando ambos estão a temperaturas diferentes.</a:t>
            </a:r>
            <a:endParaRPr lang="pt-PT" sz="1600" noProof="0" dirty="0"/>
          </a:p>
        </p:txBody>
      </p:sp>
      <p:sp>
        <p:nvSpPr>
          <p:cNvPr id="7" name="Text 4">
            <a:extLst>
              <a:ext uri="{FF2B5EF4-FFF2-40B4-BE49-F238E27FC236}">
                <a16:creationId xmlns:a16="http://schemas.microsoft.com/office/drawing/2014/main" id="{B1B614B6-C833-3216-334F-96C0DA356E22}"/>
              </a:ext>
            </a:extLst>
          </p:cNvPr>
          <p:cNvSpPr/>
          <p:nvPr/>
        </p:nvSpPr>
        <p:spPr>
          <a:xfrm>
            <a:off x="708391" y="3083859"/>
            <a:ext cx="6149609" cy="2036781"/>
          </a:xfrm>
          <a:prstGeom prst="rect">
            <a:avLst/>
          </a:prstGeom>
          <a:noFill/>
          <a:ln/>
        </p:spPr>
        <p:txBody>
          <a:bodyPr wrap="square" rtlCol="0" anchor="ctr"/>
          <a:lstStyle/>
          <a:p>
            <a:pPr algn="ctr"/>
            <a:r>
              <a:rPr lang="pt-PT" sz="2000" b="1" noProof="0" dirty="0">
                <a:solidFill>
                  <a:srgbClr val="065A82"/>
                </a:solidFill>
                <a:latin typeface="Calibri" pitchFamily="34" charset="0"/>
                <a:ea typeface="Calibri" pitchFamily="34" charset="-122"/>
                <a:cs typeface="Calibri" pitchFamily="34" charset="-120"/>
              </a:rPr>
              <a:t>Convecção =</a:t>
            </a:r>
          </a:p>
          <a:p>
            <a:pPr algn="ctr"/>
            <a:r>
              <a:rPr lang="pt-PT" sz="2000" b="1" noProof="0" dirty="0">
                <a:solidFill>
                  <a:srgbClr val="E8602C"/>
                </a:solidFill>
                <a:latin typeface="Calibri" pitchFamily="34" charset="0"/>
                <a:ea typeface="Calibri" pitchFamily="34" charset="-122"/>
                <a:cs typeface="Calibri" pitchFamily="34" charset="-120"/>
              </a:rPr>
              <a:t>Condução ou Difusão </a:t>
            </a:r>
          </a:p>
          <a:p>
            <a:pPr algn="ctr"/>
            <a:r>
              <a:rPr lang="pt-PT" dirty="0">
                <a:solidFill>
                  <a:srgbClr val="182A32"/>
                </a:solidFill>
                <a:latin typeface="Calibri" pitchFamily="34" charset="0"/>
                <a:ea typeface="Calibri" pitchFamily="34" charset="-122"/>
                <a:cs typeface="Calibri" pitchFamily="34" charset="-120"/>
              </a:rPr>
              <a:t>(movimento aleatório das moléculas do fluido)</a:t>
            </a:r>
          </a:p>
          <a:p>
            <a:pPr algn="ctr"/>
            <a:r>
              <a:rPr lang="pt-PT" sz="2000" b="1" noProof="0" dirty="0">
                <a:solidFill>
                  <a:srgbClr val="E8602C"/>
                </a:solidFill>
                <a:latin typeface="Calibri" pitchFamily="34" charset="0"/>
                <a:ea typeface="Calibri" pitchFamily="34" charset="-122"/>
                <a:cs typeface="Calibri" pitchFamily="34" charset="-120"/>
              </a:rPr>
              <a:t>+ </a:t>
            </a:r>
          </a:p>
          <a:p>
            <a:pPr algn="ctr"/>
            <a:r>
              <a:rPr lang="pt-PT" sz="2000" b="1" noProof="0" dirty="0">
                <a:solidFill>
                  <a:srgbClr val="E8602C"/>
                </a:solidFill>
                <a:latin typeface="Calibri" pitchFamily="34" charset="0"/>
                <a:ea typeface="Calibri" pitchFamily="34" charset="-122"/>
                <a:cs typeface="Calibri" pitchFamily="34" charset="-120"/>
              </a:rPr>
              <a:t>Advecção </a:t>
            </a:r>
          </a:p>
          <a:p>
            <a:pPr algn="ctr"/>
            <a:r>
              <a:rPr lang="pt-PT" dirty="0">
                <a:solidFill>
                  <a:srgbClr val="182A32"/>
                </a:solidFill>
                <a:latin typeface="Calibri" pitchFamily="34" charset="0"/>
                <a:ea typeface="Calibri" pitchFamily="34" charset="-122"/>
                <a:cs typeface="Calibri" pitchFamily="34" charset="-120"/>
              </a:rPr>
              <a:t>(transferência de energia pelo movimento global ou macroscópico de um fluido</a:t>
            </a:r>
            <a:r>
              <a:rPr lang="pt-PT" sz="1250" dirty="0">
                <a:solidFill>
                  <a:srgbClr val="182A32"/>
                </a:solidFill>
                <a:latin typeface="Calibri" pitchFamily="34" charset="0"/>
                <a:ea typeface="Calibri" pitchFamily="34" charset="-122"/>
                <a:cs typeface="Calibri" pitchFamily="34" charset="-120"/>
              </a:rPr>
              <a:t>)</a:t>
            </a:r>
            <a:endParaRPr lang="pt-PT" sz="1250" noProof="0" dirty="0"/>
          </a:p>
        </p:txBody>
      </p:sp>
      <p:sp>
        <p:nvSpPr>
          <p:cNvPr id="8" name="Text 5">
            <a:extLst>
              <a:ext uri="{FF2B5EF4-FFF2-40B4-BE49-F238E27FC236}">
                <a16:creationId xmlns:a16="http://schemas.microsoft.com/office/drawing/2014/main" id="{CF83F031-46F1-B6C6-E410-00DB0811A781}"/>
              </a:ext>
            </a:extLst>
          </p:cNvPr>
          <p:cNvSpPr/>
          <p:nvPr/>
        </p:nvSpPr>
        <p:spPr>
          <a:xfrm>
            <a:off x="839311" y="5212080"/>
            <a:ext cx="6018689" cy="640080"/>
          </a:xfrm>
          <a:prstGeom prst="rect">
            <a:avLst/>
          </a:prstGeom>
          <a:noFill/>
          <a:ln/>
        </p:spPr>
        <p:txBody>
          <a:bodyPr wrap="square" rtlCol="0" anchor="ctr"/>
          <a:lstStyle/>
          <a:p>
            <a:pPr marL="0" indent="0">
              <a:buNone/>
            </a:pPr>
            <a:r>
              <a:rPr lang="pt-PT" sz="1400" i="1" noProof="0" dirty="0">
                <a:solidFill>
                  <a:srgbClr val="57707A"/>
                </a:solidFill>
                <a:latin typeface="Calibri" pitchFamily="34" charset="0"/>
                <a:ea typeface="Calibri" pitchFamily="34" charset="-122"/>
                <a:cs typeface="Calibri" pitchFamily="34" charset="-120"/>
              </a:rPr>
              <a:t>Sem movimento de fluido, não há convecção — apenas condução.</a:t>
            </a:r>
            <a:endParaRPr lang="pt-PT" sz="1400" noProof="0" dirty="0"/>
          </a:p>
        </p:txBody>
      </p:sp>
      <p:sp>
        <p:nvSpPr>
          <p:cNvPr id="18" name="Text 15">
            <a:extLst>
              <a:ext uri="{FF2B5EF4-FFF2-40B4-BE49-F238E27FC236}">
                <a16:creationId xmlns:a16="http://schemas.microsoft.com/office/drawing/2014/main" id="{0397122E-48FB-1BB4-390E-2B0E2111D117}"/>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19" name="Text 16">
            <a:extLst>
              <a:ext uri="{FF2B5EF4-FFF2-40B4-BE49-F238E27FC236}">
                <a16:creationId xmlns:a16="http://schemas.microsoft.com/office/drawing/2014/main" id="{5CADFFF9-738F-7B89-EBE2-0687EB9F70EF}"/>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2 · Mecanismos</a:t>
            </a:r>
            <a:endParaRPr lang="pt-PT" sz="950" noProof="0" dirty="0"/>
          </a:p>
        </p:txBody>
      </p:sp>
      <p:sp>
        <p:nvSpPr>
          <p:cNvPr id="20" name="Text 17">
            <a:extLst>
              <a:ext uri="{FF2B5EF4-FFF2-40B4-BE49-F238E27FC236}">
                <a16:creationId xmlns:a16="http://schemas.microsoft.com/office/drawing/2014/main" id="{12D6580C-DFF1-3E26-66C8-3B8DF6312010}"/>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5</a:t>
            </a:r>
            <a:endParaRPr lang="pt-PT" sz="950" noProof="0" dirty="0"/>
          </a:p>
        </p:txBody>
      </p:sp>
      <p:sp>
        <p:nvSpPr>
          <p:cNvPr id="22" name="TextBox 21">
            <a:extLst>
              <a:ext uri="{FF2B5EF4-FFF2-40B4-BE49-F238E27FC236}">
                <a16:creationId xmlns:a16="http://schemas.microsoft.com/office/drawing/2014/main" id="{FFD3D806-A91B-0E5D-C530-B5C388697EAE}"/>
              </a:ext>
            </a:extLst>
          </p:cNvPr>
          <p:cNvSpPr txBox="1"/>
          <p:nvPr/>
        </p:nvSpPr>
        <p:spPr>
          <a:xfrm>
            <a:off x="7673661" y="5532120"/>
            <a:ext cx="3679028" cy="400110"/>
          </a:xfrm>
          <a:prstGeom prst="rect">
            <a:avLst/>
          </a:prstGeom>
          <a:noFill/>
        </p:spPr>
        <p:txBody>
          <a:bodyPr wrap="square">
            <a:spAutoFit/>
          </a:bodyPr>
          <a:lstStyle/>
          <a:p>
            <a:pPr>
              <a:spcAft>
                <a:spcPts val="600"/>
              </a:spcAft>
              <a:buSzPct val="100000"/>
            </a:pPr>
            <a:r>
              <a:rPr lang="pt-PT" sz="1000" dirty="0">
                <a:solidFill>
                  <a:srgbClr val="182A32"/>
                </a:solidFill>
                <a:latin typeface="Calibri" pitchFamily="34" charset="0"/>
                <a:ea typeface="Calibri" pitchFamily="34" charset="-122"/>
                <a:cs typeface="Calibri" pitchFamily="34" charset="-120"/>
              </a:rPr>
              <a:t>Fonte: Adaptado de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pic>
        <p:nvPicPr>
          <p:cNvPr id="27" name="Picture 26" descr="A diagram of a rectangular object with arrows&#10;&#10;AI-generated content may be incorrect.">
            <a:extLst>
              <a:ext uri="{FF2B5EF4-FFF2-40B4-BE49-F238E27FC236}">
                <a16:creationId xmlns:a16="http://schemas.microsoft.com/office/drawing/2014/main" id="{821D99EA-B2A8-1B42-B168-6D432A51896E}"/>
              </a:ext>
            </a:extLst>
          </p:cNvPr>
          <p:cNvPicPr>
            <a:picLocks noChangeAspect="1"/>
          </p:cNvPicPr>
          <p:nvPr/>
        </p:nvPicPr>
        <p:blipFill>
          <a:blip r:embed="rId3"/>
          <a:srcRect b="13603"/>
          <a:stretch>
            <a:fillRect/>
          </a:stretch>
        </p:blipFill>
        <p:spPr>
          <a:xfrm>
            <a:off x="7057231" y="2113691"/>
            <a:ext cx="4943088" cy="3147568"/>
          </a:xfrm>
          <a:prstGeom prst="rect">
            <a:avLst/>
          </a:prstGeom>
        </p:spPr>
      </p:pic>
      <p:sp>
        <p:nvSpPr>
          <p:cNvPr id="2" name="TextBox 1">
            <a:extLst>
              <a:ext uri="{FF2B5EF4-FFF2-40B4-BE49-F238E27FC236}">
                <a16:creationId xmlns:a16="http://schemas.microsoft.com/office/drawing/2014/main" id="{E7647E55-F27F-CE58-E32E-CC9D0DC9E511}"/>
              </a:ext>
            </a:extLst>
          </p:cNvPr>
          <p:cNvSpPr txBox="1"/>
          <p:nvPr/>
        </p:nvSpPr>
        <p:spPr>
          <a:xfrm>
            <a:off x="8840256" y="2518052"/>
            <a:ext cx="2444121" cy="461665"/>
          </a:xfrm>
          <a:prstGeom prst="rect">
            <a:avLst/>
          </a:prstGeom>
          <a:noFill/>
        </p:spPr>
        <p:txBody>
          <a:bodyPr wrap="square" rtlCol="0">
            <a:spAutoFit/>
          </a:bodyPr>
          <a:lstStyle/>
          <a:p>
            <a:pPr algn="ctr"/>
            <a:r>
              <a:rPr lang="en-US" sz="1200" dirty="0">
                <a:solidFill>
                  <a:srgbClr val="FF0000"/>
                </a:solidFill>
              </a:rPr>
              <a:t>F</a:t>
            </a:r>
            <a:r>
              <a:rPr lang="en-BR" sz="1200" dirty="0">
                <a:solidFill>
                  <a:srgbClr val="FF0000"/>
                </a:solidFill>
              </a:rPr>
              <a:t>luxo de calor (q”)</a:t>
            </a:r>
          </a:p>
          <a:p>
            <a:pPr algn="ctr"/>
            <a:r>
              <a:rPr lang="en-US" sz="1200" dirty="0">
                <a:solidFill>
                  <a:srgbClr val="FF0000"/>
                </a:solidFill>
              </a:rPr>
              <a:t>T</a:t>
            </a:r>
            <a:r>
              <a:rPr lang="en-BR" sz="1200" dirty="0">
                <a:solidFill>
                  <a:srgbClr val="FF0000"/>
                </a:solidFill>
              </a:rPr>
              <a:t>axa de transferência de calor (Q)</a:t>
            </a:r>
          </a:p>
        </p:txBody>
      </p:sp>
    </p:spTree>
    <p:extLst>
      <p:ext uri="{BB962C8B-B14F-4D97-AF65-F5344CB8AC3E}">
        <p14:creationId xmlns:p14="http://schemas.microsoft.com/office/powerpoint/2010/main" val="986021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5B016D8-8650-F1DE-349F-51AB72F78F86}"/>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F242EB13-2AA1-3BFC-E7D5-D1CFCD2BDD65}"/>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CAMADA LIMITE</a:t>
            </a:r>
            <a:endParaRPr lang="pt-PT" sz="1300" noProof="0" dirty="0"/>
          </a:p>
        </p:txBody>
      </p:sp>
      <p:sp>
        <p:nvSpPr>
          <p:cNvPr id="4" name="Text 1">
            <a:extLst>
              <a:ext uri="{FF2B5EF4-FFF2-40B4-BE49-F238E27FC236}">
                <a16:creationId xmlns:a16="http://schemas.microsoft.com/office/drawing/2014/main" id="{AA2B93AD-6D2F-E618-A348-5E6F4C753773}"/>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Camada-limite hidrodinâmica</a:t>
            </a:r>
            <a:endParaRPr lang="pt-PT" sz="3200" noProof="0" dirty="0"/>
          </a:p>
        </p:txBody>
      </p:sp>
      <p:sp>
        <p:nvSpPr>
          <p:cNvPr id="20" name="Text 17">
            <a:extLst>
              <a:ext uri="{FF2B5EF4-FFF2-40B4-BE49-F238E27FC236}">
                <a16:creationId xmlns:a16="http://schemas.microsoft.com/office/drawing/2014/main" id="{D331E7CC-74A0-1C64-C64C-74C1EFF036B8}"/>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a:extLst>
              <a:ext uri="{FF2B5EF4-FFF2-40B4-BE49-F238E27FC236}">
                <a16:creationId xmlns:a16="http://schemas.microsoft.com/office/drawing/2014/main" id="{E3CCA1DC-D93B-14CE-FF3F-F43150886B84}"/>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3 · Camada limite</a:t>
            </a:r>
            <a:endParaRPr lang="pt-PT" sz="950" noProof="0" dirty="0"/>
          </a:p>
        </p:txBody>
      </p:sp>
      <p:sp>
        <p:nvSpPr>
          <p:cNvPr id="22" name="Text 19">
            <a:extLst>
              <a:ext uri="{FF2B5EF4-FFF2-40B4-BE49-F238E27FC236}">
                <a16:creationId xmlns:a16="http://schemas.microsoft.com/office/drawing/2014/main" id="{1B0FE718-AAEE-CB0F-E2F8-14F31DBDDE1D}"/>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dirty="0">
                <a:solidFill>
                  <a:srgbClr val="57707A"/>
                </a:solidFill>
                <a:latin typeface="Calibri" pitchFamily="34" charset="0"/>
                <a:cs typeface="Calibri" pitchFamily="34" charset="-120"/>
              </a:rPr>
              <a:t>6</a:t>
            </a:r>
            <a:endParaRPr lang="pt-PT" sz="950" noProof="0" dirty="0"/>
          </a:p>
        </p:txBody>
      </p:sp>
      <p:grpSp>
        <p:nvGrpSpPr>
          <p:cNvPr id="2" name="Agrupar 10">
            <a:extLst>
              <a:ext uri="{FF2B5EF4-FFF2-40B4-BE49-F238E27FC236}">
                <a16:creationId xmlns:a16="http://schemas.microsoft.com/office/drawing/2014/main" id="{22FACD2D-DE86-8ABB-B777-F07EBE66DB97}"/>
              </a:ext>
            </a:extLst>
          </p:cNvPr>
          <p:cNvGrpSpPr/>
          <p:nvPr/>
        </p:nvGrpSpPr>
        <p:grpSpPr>
          <a:xfrm>
            <a:off x="866077" y="2852928"/>
            <a:ext cx="9945358" cy="3291840"/>
            <a:chOff x="1773798" y="3251964"/>
            <a:chExt cx="9714838" cy="3378682"/>
          </a:xfrm>
        </p:grpSpPr>
        <p:grpSp>
          <p:nvGrpSpPr>
            <p:cNvPr id="6" name="Agrupar 7">
              <a:extLst>
                <a:ext uri="{FF2B5EF4-FFF2-40B4-BE49-F238E27FC236}">
                  <a16:creationId xmlns:a16="http://schemas.microsoft.com/office/drawing/2014/main" id="{DBE24FDE-32A9-C43C-E173-F128BB970448}"/>
                </a:ext>
              </a:extLst>
            </p:cNvPr>
            <p:cNvGrpSpPr/>
            <p:nvPr/>
          </p:nvGrpSpPr>
          <p:grpSpPr>
            <a:xfrm>
              <a:off x="1773798" y="3251964"/>
              <a:ext cx="9714838" cy="3378682"/>
              <a:chOff x="838200" y="2180561"/>
              <a:chExt cx="10650436" cy="3858163"/>
            </a:xfrm>
          </p:grpSpPr>
          <p:pic>
            <p:nvPicPr>
              <p:cNvPr id="9" name="Imagem 3" descr="Diagrama&#10;&#10;O conteúdo gerado por IA pode estar incorreto.">
                <a:extLst>
                  <a:ext uri="{FF2B5EF4-FFF2-40B4-BE49-F238E27FC236}">
                    <a16:creationId xmlns:a16="http://schemas.microsoft.com/office/drawing/2014/main" id="{20489B7A-DBA5-1DEF-3187-393FEF3F4DBB}"/>
                  </a:ext>
                </a:extLst>
              </p:cNvPr>
              <p:cNvPicPr>
                <a:picLocks noChangeAspect="1"/>
              </p:cNvPicPr>
              <p:nvPr/>
            </p:nvPicPr>
            <p:blipFill>
              <a:blip r:embed="rId3"/>
              <a:stretch>
                <a:fillRect/>
              </a:stretch>
            </p:blipFill>
            <p:spPr>
              <a:xfrm>
                <a:off x="838200" y="2180561"/>
                <a:ext cx="10650436" cy="3858163"/>
              </a:xfrm>
              <a:prstGeom prst="rect">
                <a:avLst/>
              </a:prstGeom>
            </p:spPr>
          </p:pic>
          <p:sp>
            <p:nvSpPr>
              <p:cNvPr id="10" name="Retângulo 5">
                <a:extLst>
                  <a:ext uri="{FF2B5EF4-FFF2-40B4-BE49-F238E27FC236}">
                    <a16:creationId xmlns:a16="http://schemas.microsoft.com/office/drawing/2014/main" id="{B8A310C9-BD2F-463A-083D-151ACC23DF54}"/>
                  </a:ext>
                </a:extLst>
              </p:cNvPr>
              <p:cNvSpPr/>
              <p:nvPr/>
            </p:nvSpPr>
            <p:spPr>
              <a:xfrm>
                <a:off x="7913341" y="2289438"/>
                <a:ext cx="1959429" cy="4606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6">
                <a:extLst>
                  <a:ext uri="{FF2B5EF4-FFF2-40B4-BE49-F238E27FC236}">
                    <a16:creationId xmlns:a16="http://schemas.microsoft.com/office/drawing/2014/main" id="{3C7518DF-5F04-4654-C5F9-6A716AD2EE95}"/>
                  </a:ext>
                </a:extLst>
              </p:cNvPr>
              <p:cNvSpPr/>
              <p:nvPr/>
            </p:nvSpPr>
            <p:spPr>
              <a:xfrm>
                <a:off x="8511483" y="3485720"/>
                <a:ext cx="1670670" cy="13062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7" name="CaixaDeTexto 8">
              <a:extLst>
                <a:ext uri="{FF2B5EF4-FFF2-40B4-BE49-F238E27FC236}">
                  <a16:creationId xmlns:a16="http://schemas.microsoft.com/office/drawing/2014/main" id="{0151A5C3-60F1-EC01-212C-B4C49775EC4F}"/>
                </a:ext>
              </a:extLst>
            </p:cNvPr>
            <p:cNvSpPr txBox="1"/>
            <p:nvPr/>
          </p:nvSpPr>
          <p:spPr>
            <a:xfrm>
              <a:off x="8227416" y="3275677"/>
              <a:ext cx="1658883" cy="416868"/>
            </a:xfrm>
            <a:prstGeom prst="rect">
              <a:avLst/>
            </a:prstGeom>
            <a:noFill/>
          </p:spPr>
          <p:txBody>
            <a:bodyPr wrap="none" rtlCol="0">
              <a:spAutoFit/>
            </a:bodyPr>
            <a:lstStyle/>
            <a:p>
              <a:r>
                <a:rPr lang="pt-BR" dirty="0"/>
                <a:t>Corrente livre</a:t>
              </a:r>
            </a:p>
          </p:txBody>
        </p:sp>
        <p:sp>
          <p:nvSpPr>
            <p:cNvPr id="8" name="CaixaDeTexto 9">
              <a:extLst>
                <a:ext uri="{FF2B5EF4-FFF2-40B4-BE49-F238E27FC236}">
                  <a16:creationId xmlns:a16="http://schemas.microsoft.com/office/drawing/2014/main" id="{DD5685F4-86C0-4ABE-6FE6-457357A72734}"/>
                </a:ext>
              </a:extLst>
            </p:cNvPr>
            <p:cNvSpPr txBox="1"/>
            <p:nvPr/>
          </p:nvSpPr>
          <p:spPr>
            <a:xfrm>
              <a:off x="8705103" y="4767758"/>
              <a:ext cx="1863175" cy="729520"/>
            </a:xfrm>
            <a:prstGeom prst="rect">
              <a:avLst/>
            </a:prstGeom>
            <a:noFill/>
          </p:spPr>
          <p:txBody>
            <a:bodyPr wrap="square" rtlCol="0">
              <a:spAutoFit/>
            </a:bodyPr>
            <a:lstStyle/>
            <a:p>
              <a:r>
                <a:rPr lang="pt-BR" dirty="0"/>
                <a:t>Camada limite de velocidade</a:t>
              </a:r>
            </a:p>
          </p:txBody>
        </p:sp>
      </p:grpSp>
      <p:sp>
        <p:nvSpPr>
          <p:cNvPr id="13" name="TextBox 12">
            <a:extLst>
              <a:ext uri="{FF2B5EF4-FFF2-40B4-BE49-F238E27FC236}">
                <a16:creationId xmlns:a16="http://schemas.microsoft.com/office/drawing/2014/main" id="{CFBA1961-D3DB-DC3F-EDC9-E9FA76A191A8}"/>
              </a:ext>
            </a:extLst>
          </p:cNvPr>
          <p:cNvSpPr txBox="1"/>
          <p:nvPr/>
        </p:nvSpPr>
        <p:spPr>
          <a:xfrm>
            <a:off x="457200" y="5980776"/>
            <a:ext cx="10716323" cy="318549"/>
          </a:xfrm>
          <a:prstGeom prst="rect">
            <a:avLst/>
          </a:prstGeom>
          <a:noFill/>
        </p:spPr>
        <p:txBody>
          <a:bodyPr wrap="square">
            <a:spAutoFit/>
          </a:bodyPr>
          <a:lstStyle/>
          <a:p>
            <a:pPr>
              <a:lnSpc>
                <a:spcPts val="2000"/>
              </a:lnSpc>
              <a:spcAft>
                <a:spcPts val="600"/>
              </a:spcAft>
              <a:buSzPct val="100000"/>
            </a:pPr>
            <a:r>
              <a:rPr lang="pt-PT" sz="1000" dirty="0">
                <a:solidFill>
                  <a:srgbClr val="182A32"/>
                </a:solidFill>
                <a:latin typeface="Calibri" pitchFamily="34" charset="0"/>
                <a:ea typeface="Calibri" pitchFamily="34" charset="-122"/>
                <a:cs typeface="Calibri" pitchFamily="34" charset="-120"/>
              </a:rPr>
              <a:t>Fonte: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mc:AlternateContent xmlns:mc="http://schemas.openxmlformats.org/markup-compatibility/2006">
        <mc:Choice xmlns:a14="http://schemas.microsoft.com/office/drawing/2010/main" Requires="a14">
          <p:sp>
            <p:nvSpPr>
              <p:cNvPr id="14" name="Text 2">
                <a:extLst>
                  <a:ext uri="{FF2B5EF4-FFF2-40B4-BE49-F238E27FC236}">
                    <a16:creationId xmlns:a16="http://schemas.microsoft.com/office/drawing/2014/main" id="{BB79C25F-188E-8E3D-B44D-E7C6E399CC05}"/>
                  </a:ext>
                </a:extLst>
              </p:cNvPr>
              <p:cNvSpPr/>
              <p:nvPr/>
            </p:nvSpPr>
            <p:spPr>
              <a:xfrm>
                <a:off x="655320" y="1382773"/>
                <a:ext cx="10881360" cy="822960"/>
              </a:xfrm>
              <a:prstGeom prst="rect">
                <a:avLst/>
              </a:prstGeom>
              <a:noFill/>
              <a:ln/>
            </p:spPr>
            <p:txBody>
              <a:bodyPr wrap="square" rtlCol="0" anchor="ctr"/>
              <a:lstStyle/>
              <a:p>
                <a:pPr>
                  <a:lnSpc>
                    <a:spcPts val="1900"/>
                  </a:lnSpc>
                </a:pPr>
                <a:r>
                  <a:rPr lang="pt-PT" sz="1400" noProof="0" dirty="0">
                    <a:solidFill>
                      <a:srgbClr val="182A32"/>
                    </a:solidFill>
                    <a:latin typeface="Calibri" pitchFamily="34" charset="0"/>
                    <a:ea typeface="Calibri" pitchFamily="34" charset="-122"/>
                    <a:cs typeface="Calibri" pitchFamily="34" charset="-120"/>
                  </a:rPr>
                  <a:t>Região próxima à superfície onde a velocidade do fluido varia de </a:t>
                </a:r>
                <a:r>
                  <a:rPr lang="pt-PT" sz="1400" b="1" noProof="0" dirty="0">
                    <a:solidFill>
                      <a:srgbClr val="E8602C"/>
                    </a:solidFill>
                    <a:latin typeface="Calibri" pitchFamily="34" charset="0"/>
                    <a:ea typeface="Calibri" pitchFamily="34" charset="-122"/>
                    <a:cs typeface="Calibri" pitchFamily="34" charset="-120"/>
                  </a:rPr>
                  <a:t>zero</a:t>
                </a:r>
                <a:r>
                  <a:rPr lang="pt-PT" sz="1400" noProof="0" dirty="0">
                    <a:solidFill>
                      <a:srgbClr val="182A32"/>
                    </a:solidFill>
                    <a:latin typeface="Calibri" pitchFamily="34" charset="0"/>
                    <a:ea typeface="Calibri" pitchFamily="34" charset="-122"/>
                    <a:cs typeface="Calibri" pitchFamily="34" charset="-120"/>
                  </a:rPr>
                  <a:t> (na parede — condição de não escorregamento) até 99% do valor da </a:t>
                </a:r>
                <a:r>
                  <a:rPr lang="pt-PT" sz="1400" b="1" noProof="0" dirty="0">
                    <a:solidFill>
                      <a:srgbClr val="065A82"/>
                    </a:solidFill>
                    <a:latin typeface="Calibri" pitchFamily="34" charset="0"/>
                    <a:ea typeface="Calibri" pitchFamily="34" charset="-122"/>
                    <a:cs typeface="Calibri" pitchFamily="34" charset="-120"/>
                  </a:rPr>
                  <a:t>corrente livre</a:t>
                </a:r>
                <a:r>
                  <a:rPr lang="pt-PT" sz="1400" noProof="0" dirty="0">
                    <a:solidFill>
                      <a:srgbClr val="182A32"/>
                    </a:solidFill>
                    <a:latin typeface="Calibri" pitchFamily="34" charset="0"/>
                    <a:ea typeface="Calibri" pitchFamily="34" charset="-122"/>
                    <a:cs typeface="Calibri" pitchFamily="34" charset="-120"/>
                  </a:rPr>
                  <a:t> (</a:t>
                </a:r>
                <a14:m>
                  <m:oMath xmlns:m="http://schemas.openxmlformats.org/officeDocument/2006/math">
                    <m:sSub>
                      <m:sSubPr>
                        <m:ctrlPr>
                          <a:rPr lang="en-BR" sz="1400" i="1" smtClean="0">
                            <a:solidFill>
                              <a:schemeClr val="tx1"/>
                            </a:solidFill>
                            <a:latin typeface="Cambria Math" panose="02040503050406030204" pitchFamily="18" charset="0"/>
                          </a:rPr>
                        </m:ctrlPr>
                      </m:sSubPr>
                      <m:e>
                        <m:r>
                          <a:rPr lang="pt-BR" sz="1400" i="1">
                            <a:solidFill>
                              <a:schemeClr val="tx1"/>
                            </a:solidFill>
                            <a:latin typeface="Cambria Math" panose="02040503050406030204" pitchFamily="18" charset="0"/>
                          </a:rPr>
                          <m:t>𝑢</m:t>
                        </m:r>
                      </m:e>
                      <m:sub>
                        <m:r>
                          <a:rPr lang="en-BR" sz="1400" i="1">
                            <a:solidFill>
                              <a:schemeClr val="tx1"/>
                            </a:solidFill>
                            <a:latin typeface="Cambria Math" panose="02040503050406030204" pitchFamily="18" charset="0"/>
                            <a:ea typeface="Cambria Math" panose="02040503050406030204" pitchFamily="18" charset="0"/>
                          </a:rPr>
                          <m:t>∞</m:t>
                        </m:r>
                      </m:sub>
                    </m:sSub>
                  </m:oMath>
                </a14:m>
                <a:r>
                  <a:rPr lang="pt-PT" sz="1400" noProof="0" dirty="0">
                    <a:solidFill>
                      <a:srgbClr val="182A32"/>
                    </a:solidFill>
                    <a:latin typeface="Calibri" pitchFamily="34" charset="0"/>
                    <a:ea typeface="Calibri" pitchFamily="34" charset="-122"/>
                    <a:cs typeface="Calibri" pitchFamily="34" charset="-120"/>
                  </a:rPr>
                  <a:t>), a uma distância </a:t>
                </a:r>
                <a:r>
                  <a:rPr lang="pt-PT" sz="1400" noProof="0" dirty="0" err="1">
                    <a:solidFill>
                      <a:srgbClr val="182A32"/>
                    </a:solidFill>
                    <a:latin typeface="Calibri" pitchFamily="34" charset="0"/>
                    <a:ea typeface="Calibri" pitchFamily="34" charset="-122"/>
                    <a:cs typeface="Calibri" pitchFamily="34" charset="-120"/>
                  </a:rPr>
                  <a:t>δ</a:t>
                </a:r>
                <a:r>
                  <a:rPr lang="pt-PT" sz="1400" noProof="0" dirty="0">
                    <a:solidFill>
                      <a:srgbClr val="182A32"/>
                    </a:solidFill>
                    <a:latin typeface="Calibri" pitchFamily="34" charset="0"/>
                    <a:ea typeface="Calibri" pitchFamily="34" charset="-122"/>
                    <a:cs typeface="Calibri" pitchFamily="34" charset="-120"/>
                  </a:rPr>
                  <a:t> da superfície.</a:t>
                </a:r>
                <a:endParaRPr lang="pt-PT" sz="1400" noProof="0" dirty="0"/>
              </a:p>
            </p:txBody>
          </p:sp>
        </mc:Choice>
        <mc:Fallback>
          <p:sp>
            <p:nvSpPr>
              <p:cNvPr id="14" name="Text 2">
                <a:extLst>
                  <a:ext uri="{FF2B5EF4-FFF2-40B4-BE49-F238E27FC236}">
                    <a16:creationId xmlns:a16="http://schemas.microsoft.com/office/drawing/2014/main" id="{BB79C25F-188E-8E3D-B44D-E7C6E399CC05}"/>
                  </a:ext>
                </a:extLst>
              </p:cNvPr>
              <p:cNvSpPr>
                <a:spLocks noRot="1" noChangeAspect="1" noMove="1" noResize="1" noEditPoints="1" noAdjustHandles="1" noChangeArrowheads="1" noChangeShapeType="1" noTextEdit="1"/>
              </p:cNvSpPr>
              <p:nvPr/>
            </p:nvSpPr>
            <p:spPr>
              <a:xfrm>
                <a:off x="655320" y="1382773"/>
                <a:ext cx="10881360" cy="822960"/>
              </a:xfrm>
              <a:prstGeom prst="rect">
                <a:avLst/>
              </a:prstGeom>
              <a:blipFill>
                <a:blip r:embed="rId4"/>
                <a:stretch>
                  <a:fillRect l="-233"/>
                </a:stretch>
              </a:blipFill>
              <a:ln/>
            </p:spPr>
            <p:txBody>
              <a:bodyPr/>
              <a:lstStyle/>
              <a:p>
                <a:r>
                  <a:rPr lang="en-BR">
                    <a:noFill/>
                  </a:rPr>
                  <a:t> </a:t>
                </a:r>
              </a:p>
            </p:txBody>
          </p:sp>
        </mc:Fallback>
      </mc:AlternateContent>
    </p:spTree>
    <p:extLst>
      <p:ext uri="{BB962C8B-B14F-4D97-AF65-F5344CB8AC3E}">
        <p14:creationId xmlns:p14="http://schemas.microsoft.com/office/powerpoint/2010/main" val="179769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C4BA53A-3AC9-4A9C-51D1-6D2BCBB4C5D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9864714C-A16B-CF11-35B5-CE140CECFE34}"/>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CAMADA LIMITE</a:t>
            </a:r>
            <a:endParaRPr lang="pt-PT" sz="1300" noProof="0" dirty="0"/>
          </a:p>
        </p:txBody>
      </p:sp>
      <p:sp>
        <p:nvSpPr>
          <p:cNvPr id="4" name="Text 1">
            <a:extLst>
              <a:ext uri="{FF2B5EF4-FFF2-40B4-BE49-F238E27FC236}">
                <a16:creationId xmlns:a16="http://schemas.microsoft.com/office/drawing/2014/main" id="{FFC7C911-4919-8840-DA51-99314A1953D3}"/>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Camada-limite hidrodinâmica</a:t>
            </a:r>
            <a:endParaRPr lang="pt-PT" sz="3200" noProof="0" dirty="0"/>
          </a:p>
        </p:txBody>
      </p:sp>
      <p:sp>
        <p:nvSpPr>
          <p:cNvPr id="20" name="Text 17">
            <a:extLst>
              <a:ext uri="{FF2B5EF4-FFF2-40B4-BE49-F238E27FC236}">
                <a16:creationId xmlns:a16="http://schemas.microsoft.com/office/drawing/2014/main" id="{08FC3B05-BF34-ACE3-81C9-AF4E81C581B2}"/>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a:extLst>
              <a:ext uri="{FF2B5EF4-FFF2-40B4-BE49-F238E27FC236}">
                <a16:creationId xmlns:a16="http://schemas.microsoft.com/office/drawing/2014/main" id="{E88CD82B-8382-1993-507A-8675A811EB1E}"/>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3 · Camada limite</a:t>
            </a:r>
            <a:endParaRPr lang="pt-PT" sz="950" noProof="0" dirty="0"/>
          </a:p>
        </p:txBody>
      </p:sp>
      <p:sp>
        <p:nvSpPr>
          <p:cNvPr id="22" name="Text 19">
            <a:extLst>
              <a:ext uri="{FF2B5EF4-FFF2-40B4-BE49-F238E27FC236}">
                <a16:creationId xmlns:a16="http://schemas.microsoft.com/office/drawing/2014/main" id="{F8E9F2A4-754B-C0FA-F5D5-40AA56B5FB46}"/>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dirty="0">
                <a:solidFill>
                  <a:srgbClr val="57707A"/>
                </a:solidFill>
                <a:latin typeface="Calibri" pitchFamily="34" charset="0"/>
                <a:cs typeface="Calibri" pitchFamily="34" charset="-120"/>
              </a:rPr>
              <a:t>6</a:t>
            </a:r>
            <a:endParaRPr lang="pt-PT" sz="950" noProof="0" dirty="0"/>
          </a:p>
        </p:txBody>
      </p:sp>
      <p:grpSp>
        <p:nvGrpSpPr>
          <p:cNvPr id="2" name="Agrupar 10">
            <a:extLst>
              <a:ext uri="{FF2B5EF4-FFF2-40B4-BE49-F238E27FC236}">
                <a16:creationId xmlns:a16="http://schemas.microsoft.com/office/drawing/2014/main" id="{915F5C9F-BFA9-4721-D8C8-5476CCDDAC2C}"/>
              </a:ext>
            </a:extLst>
          </p:cNvPr>
          <p:cNvGrpSpPr/>
          <p:nvPr/>
        </p:nvGrpSpPr>
        <p:grpSpPr>
          <a:xfrm>
            <a:off x="866077" y="2852928"/>
            <a:ext cx="9945358" cy="3291840"/>
            <a:chOff x="1773798" y="3251964"/>
            <a:chExt cx="9714838" cy="3378682"/>
          </a:xfrm>
        </p:grpSpPr>
        <p:grpSp>
          <p:nvGrpSpPr>
            <p:cNvPr id="6" name="Agrupar 7">
              <a:extLst>
                <a:ext uri="{FF2B5EF4-FFF2-40B4-BE49-F238E27FC236}">
                  <a16:creationId xmlns:a16="http://schemas.microsoft.com/office/drawing/2014/main" id="{450CE801-85B6-5145-4624-8DDFB79355B2}"/>
                </a:ext>
              </a:extLst>
            </p:cNvPr>
            <p:cNvGrpSpPr/>
            <p:nvPr/>
          </p:nvGrpSpPr>
          <p:grpSpPr>
            <a:xfrm>
              <a:off x="1773798" y="3251964"/>
              <a:ext cx="9714838" cy="3378682"/>
              <a:chOff x="838200" y="2180561"/>
              <a:chExt cx="10650436" cy="3858163"/>
            </a:xfrm>
          </p:grpSpPr>
          <p:pic>
            <p:nvPicPr>
              <p:cNvPr id="9" name="Imagem 3" descr="Diagrama&#10;&#10;O conteúdo gerado por IA pode estar incorreto.">
                <a:extLst>
                  <a:ext uri="{FF2B5EF4-FFF2-40B4-BE49-F238E27FC236}">
                    <a16:creationId xmlns:a16="http://schemas.microsoft.com/office/drawing/2014/main" id="{4E6AF7FD-BDA2-4980-9C4B-718BD94BB20C}"/>
                  </a:ext>
                </a:extLst>
              </p:cNvPr>
              <p:cNvPicPr>
                <a:picLocks noChangeAspect="1"/>
              </p:cNvPicPr>
              <p:nvPr/>
            </p:nvPicPr>
            <p:blipFill>
              <a:blip r:embed="rId3"/>
              <a:stretch>
                <a:fillRect/>
              </a:stretch>
            </p:blipFill>
            <p:spPr>
              <a:xfrm>
                <a:off x="838200" y="2180561"/>
                <a:ext cx="10650436" cy="3858163"/>
              </a:xfrm>
              <a:prstGeom prst="rect">
                <a:avLst/>
              </a:prstGeom>
            </p:spPr>
          </p:pic>
          <p:sp>
            <p:nvSpPr>
              <p:cNvPr id="10" name="Retângulo 5">
                <a:extLst>
                  <a:ext uri="{FF2B5EF4-FFF2-40B4-BE49-F238E27FC236}">
                    <a16:creationId xmlns:a16="http://schemas.microsoft.com/office/drawing/2014/main" id="{C0D0A8B8-9019-BAE1-7B00-5F4FCC709C17}"/>
                  </a:ext>
                </a:extLst>
              </p:cNvPr>
              <p:cNvSpPr/>
              <p:nvPr/>
            </p:nvSpPr>
            <p:spPr>
              <a:xfrm>
                <a:off x="7913341" y="2289438"/>
                <a:ext cx="1959429" cy="4606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6">
                <a:extLst>
                  <a:ext uri="{FF2B5EF4-FFF2-40B4-BE49-F238E27FC236}">
                    <a16:creationId xmlns:a16="http://schemas.microsoft.com/office/drawing/2014/main" id="{8501B802-1572-5F51-F44F-1C7B4CA164E2}"/>
                  </a:ext>
                </a:extLst>
              </p:cNvPr>
              <p:cNvSpPr/>
              <p:nvPr/>
            </p:nvSpPr>
            <p:spPr>
              <a:xfrm>
                <a:off x="8511483" y="3485720"/>
                <a:ext cx="1670670" cy="13062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7" name="CaixaDeTexto 8">
              <a:extLst>
                <a:ext uri="{FF2B5EF4-FFF2-40B4-BE49-F238E27FC236}">
                  <a16:creationId xmlns:a16="http://schemas.microsoft.com/office/drawing/2014/main" id="{A7DF56E4-D2D8-7D90-E9DE-866E3F5A1709}"/>
                </a:ext>
              </a:extLst>
            </p:cNvPr>
            <p:cNvSpPr txBox="1"/>
            <p:nvPr/>
          </p:nvSpPr>
          <p:spPr>
            <a:xfrm>
              <a:off x="8227416" y="3275677"/>
              <a:ext cx="1658883" cy="416868"/>
            </a:xfrm>
            <a:prstGeom prst="rect">
              <a:avLst/>
            </a:prstGeom>
            <a:noFill/>
          </p:spPr>
          <p:txBody>
            <a:bodyPr wrap="none" rtlCol="0">
              <a:spAutoFit/>
            </a:bodyPr>
            <a:lstStyle/>
            <a:p>
              <a:r>
                <a:rPr lang="pt-BR" dirty="0"/>
                <a:t>Corrente livre</a:t>
              </a:r>
            </a:p>
          </p:txBody>
        </p:sp>
        <p:sp>
          <p:nvSpPr>
            <p:cNvPr id="8" name="CaixaDeTexto 9">
              <a:extLst>
                <a:ext uri="{FF2B5EF4-FFF2-40B4-BE49-F238E27FC236}">
                  <a16:creationId xmlns:a16="http://schemas.microsoft.com/office/drawing/2014/main" id="{3F2BD30B-6DC9-BC13-0FD2-BD59EDC356A9}"/>
                </a:ext>
              </a:extLst>
            </p:cNvPr>
            <p:cNvSpPr txBox="1"/>
            <p:nvPr/>
          </p:nvSpPr>
          <p:spPr>
            <a:xfrm>
              <a:off x="8705103" y="4767758"/>
              <a:ext cx="1863175" cy="729520"/>
            </a:xfrm>
            <a:prstGeom prst="rect">
              <a:avLst/>
            </a:prstGeom>
            <a:noFill/>
          </p:spPr>
          <p:txBody>
            <a:bodyPr wrap="square" rtlCol="0">
              <a:spAutoFit/>
            </a:bodyPr>
            <a:lstStyle/>
            <a:p>
              <a:r>
                <a:rPr lang="pt-BR" dirty="0"/>
                <a:t>Camada limite de velocidade</a:t>
              </a:r>
            </a:p>
          </p:txBody>
        </p:sp>
      </p:grpSp>
      <p:sp>
        <p:nvSpPr>
          <p:cNvPr id="13" name="TextBox 12">
            <a:extLst>
              <a:ext uri="{FF2B5EF4-FFF2-40B4-BE49-F238E27FC236}">
                <a16:creationId xmlns:a16="http://schemas.microsoft.com/office/drawing/2014/main" id="{BD642829-97AF-E869-DAB2-B6F480EAC918}"/>
              </a:ext>
            </a:extLst>
          </p:cNvPr>
          <p:cNvSpPr txBox="1"/>
          <p:nvPr/>
        </p:nvSpPr>
        <p:spPr>
          <a:xfrm>
            <a:off x="457200" y="5980776"/>
            <a:ext cx="10716323" cy="318549"/>
          </a:xfrm>
          <a:prstGeom prst="rect">
            <a:avLst/>
          </a:prstGeom>
          <a:noFill/>
        </p:spPr>
        <p:txBody>
          <a:bodyPr wrap="square">
            <a:spAutoFit/>
          </a:bodyPr>
          <a:lstStyle/>
          <a:p>
            <a:pPr>
              <a:lnSpc>
                <a:spcPts val="2000"/>
              </a:lnSpc>
              <a:spcAft>
                <a:spcPts val="600"/>
              </a:spcAft>
              <a:buSzPct val="100000"/>
            </a:pPr>
            <a:r>
              <a:rPr lang="pt-PT" sz="1000" dirty="0">
                <a:solidFill>
                  <a:srgbClr val="182A32"/>
                </a:solidFill>
                <a:latin typeface="Calibri" pitchFamily="34" charset="0"/>
                <a:ea typeface="Calibri" pitchFamily="34" charset="-122"/>
                <a:cs typeface="Calibri" pitchFamily="34" charset="-120"/>
              </a:rPr>
              <a:t>Fonte: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mc:AlternateContent xmlns:mc="http://schemas.openxmlformats.org/markup-compatibility/2006">
        <mc:Choice xmlns:a14="http://schemas.microsoft.com/office/drawing/2010/main" Requires="a14">
          <p:sp>
            <p:nvSpPr>
              <p:cNvPr id="14" name="Text 2">
                <a:extLst>
                  <a:ext uri="{FF2B5EF4-FFF2-40B4-BE49-F238E27FC236}">
                    <a16:creationId xmlns:a16="http://schemas.microsoft.com/office/drawing/2014/main" id="{C10619EB-F4F6-1E93-6DAC-171B56C38C41}"/>
                  </a:ext>
                </a:extLst>
              </p:cNvPr>
              <p:cNvSpPr/>
              <p:nvPr/>
            </p:nvSpPr>
            <p:spPr>
              <a:xfrm>
                <a:off x="655320" y="1382773"/>
                <a:ext cx="10881360" cy="822960"/>
              </a:xfrm>
              <a:prstGeom prst="rect">
                <a:avLst/>
              </a:prstGeom>
              <a:noFill/>
              <a:ln/>
            </p:spPr>
            <p:txBody>
              <a:bodyPr wrap="square" rtlCol="0" anchor="ctr"/>
              <a:lstStyle/>
              <a:p>
                <a:pPr>
                  <a:lnSpc>
                    <a:spcPts val="1900"/>
                  </a:lnSpc>
                </a:pPr>
                <a:r>
                  <a:rPr lang="pt-PT" sz="1400" noProof="0" dirty="0">
                    <a:solidFill>
                      <a:srgbClr val="182A32"/>
                    </a:solidFill>
                    <a:latin typeface="Calibri" pitchFamily="34" charset="0"/>
                    <a:ea typeface="Calibri" pitchFamily="34" charset="-122"/>
                    <a:cs typeface="Calibri" pitchFamily="34" charset="-120"/>
                  </a:rPr>
                  <a:t>Região próxima à superfície onde a velocidade do fluido varia de </a:t>
                </a:r>
                <a:r>
                  <a:rPr lang="pt-PT" sz="1400" b="1" noProof="0" dirty="0">
                    <a:solidFill>
                      <a:srgbClr val="E8602C"/>
                    </a:solidFill>
                    <a:latin typeface="Calibri" pitchFamily="34" charset="0"/>
                    <a:ea typeface="Calibri" pitchFamily="34" charset="-122"/>
                    <a:cs typeface="Calibri" pitchFamily="34" charset="-120"/>
                  </a:rPr>
                  <a:t>zero</a:t>
                </a:r>
                <a:r>
                  <a:rPr lang="pt-PT" sz="1400" noProof="0" dirty="0">
                    <a:solidFill>
                      <a:srgbClr val="182A32"/>
                    </a:solidFill>
                    <a:latin typeface="Calibri" pitchFamily="34" charset="0"/>
                    <a:ea typeface="Calibri" pitchFamily="34" charset="-122"/>
                    <a:cs typeface="Calibri" pitchFamily="34" charset="-120"/>
                  </a:rPr>
                  <a:t> (na parede — condição de não escorregamento) até 99% do valor da </a:t>
                </a:r>
                <a:r>
                  <a:rPr lang="pt-PT" sz="1400" b="1" noProof="0" dirty="0">
                    <a:solidFill>
                      <a:srgbClr val="065A82"/>
                    </a:solidFill>
                    <a:latin typeface="Calibri" pitchFamily="34" charset="0"/>
                    <a:ea typeface="Calibri" pitchFamily="34" charset="-122"/>
                    <a:cs typeface="Calibri" pitchFamily="34" charset="-120"/>
                  </a:rPr>
                  <a:t>corrente livre</a:t>
                </a:r>
                <a:r>
                  <a:rPr lang="pt-PT" sz="1400" noProof="0" dirty="0">
                    <a:solidFill>
                      <a:srgbClr val="182A32"/>
                    </a:solidFill>
                    <a:latin typeface="Calibri" pitchFamily="34" charset="0"/>
                    <a:ea typeface="Calibri" pitchFamily="34" charset="-122"/>
                    <a:cs typeface="Calibri" pitchFamily="34" charset="-120"/>
                  </a:rPr>
                  <a:t> (</a:t>
                </a:r>
                <a14:m>
                  <m:oMath xmlns:m="http://schemas.openxmlformats.org/officeDocument/2006/math">
                    <m:sSub>
                      <m:sSubPr>
                        <m:ctrlPr>
                          <a:rPr lang="en-BR" sz="1400" i="1" smtClean="0">
                            <a:solidFill>
                              <a:schemeClr val="tx1"/>
                            </a:solidFill>
                            <a:latin typeface="Cambria Math" panose="02040503050406030204" pitchFamily="18" charset="0"/>
                          </a:rPr>
                        </m:ctrlPr>
                      </m:sSubPr>
                      <m:e>
                        <m:r>
                          <a:rPr lang="pt-BR" sz="1400" i="1">
                            <a:solidFill>
                              <a:schemeClr val="tx1"/>
                            </a:solidFill>
                            <a:latin typeface="Cambria Math" panose="02040503050406030204" pitchFamily="18" charset="0"/>
                          </a:rPr>
                          <m:t>𝑢</m:t>
                        </m:r>
                      </m:e>
                      <m:sub>
                        <m:r>
                          <a:rPr lang="en-BR" sz="1400" i="1">
                            <a:solidFill>
                              <a:schemeClr val="tx1"/>
                            </a:solidFill>
                            <a:latin typeface="Cambria Math" panose="02040503050406030204" pitchFamily="18" charset="0"/>
                            <a:ea typeface="Cambria Math" panose="02040503050406030204" pitchFamily="18" charset="0"/>
                          </a:rPr>
                          <m:t>∞</m:t>
                        </m:r>
                      </m:sub>
                    </m:sSub>
                  </m:oMath>
                </a14:m>
                <a:r>
                  <a:rPr lang="pt-PT" sz="1400" noProof="0" dirty="0">
                    <a:solidFill>
                      <a:srgbClr val="182A32"/>
                    </a:solidFill>
                    <a:latin typeface="Calibri" pitchFamily="34" charset="0"/>
                    <a:ea typeface="Calibri" pitchFamily="34" charset="-122"/>
                    <a:cs typeface="Calibri" pitchFamily="34" charset="-120"/>
                  </a:rPr>
                  <a:t>), a uma distância </a:t>
                </a:r>
                <a:r>
                  <a:rPr lang="pt-PT" sz="1400" noProof="0" dirty="0" err="1">
                    <a:solidFill>
                      <a:srgbClr val="182A32"/>
                    </a:solidFill>
                    <a:latin typeface="Calibri" pitchFamily="34" charset="0"/>
                    <a:ea typeface="Calibri" pitchFamily="34" charset="-122"/>
                    <a:cs typeface="Calibri" pitchFamily="34" charset="-120"/>
                  </a:rPr>
                  <a:t>δ</a:t>
                </a:r>
                <a:r>
                  <a:rPr lang="pt-PT" sz="1400" noProof="0" dirty="0">
                    <a:solidFill>
                      <a:srgbClr val="182A32"/>
                    </a:solidFill>
                    <a:latin typeface="Calibri" pitchFamily="34" charset="0"/>
                    <a:ea typeface="Calibri" pitchFamily="34" charset="-122"/>
                    <a:cs typeface="Calibri" pitchFamily="34" charset="-120"/>
                  </a:rPr>
                  <a:t> da superfície.</a:t>
                </a:r>
                <a:endParaRPr lang="pt-PT" sz="1400" noProof="0" dirty="0"/>
              </a:p>
            </p:txBody>
          </p:sp>
        </mc:Choice>
        <mc:Fallback>
          <p:sp>
            <p:nvSpPr>
              <p:cNvPr id="14" name="Text 2">
                <a:extLst>
                  <a:ext uri="{FF2B5EF4-FFF2-40B4-BE49-F238E27FC236}">
                    <a16:creationId xmlns:a16="http://schemas.microsoft.com/office/drawing/2014/main" id="{C10619EB-F4F6-1E93-6DAC-171B56C38C41}"/>
                  </a:ext>
                </a:extLst>
              </p:cNvPr>
              <p:cNvSpPr>
                <a:spLocks noRot="1" noChangeAspect="1" noMove="1" noResize="1" noEditPoints="1" noAdjustHandles="1" noChangeArrowheads="1" noChangeShapeType="1" noTextEdit="1"/>
              </p:cNvSpPr>
              <p:nvPr/>
            </p:nvSpPr>
            <p:spPr>
              <a:xfrm>
                <a:off x="655320" y="1382773"/>
                <a:ext cx="10881360" cy="822960"/>
              </a:xfrm>
              <a:prstGeom prst="rect">
                <a:avLst/>
              </a:prstGeom>
              <a:blipFill>
                <a:blip r:embed="rId4"/>
                <a:stretch>
                  <a:fillRect l="-233"/>
                </a:stretch>
              </a:blipFill>
              <a:ln/>
            </p:spPr>
            <p:txBody>
              <a:bodyPr/>
              <a:lstStyle/>
              <a:p>
                <a:r>
                  <a:rPr lang="en-BR">
                    <a:noFill/>
                  </a:rPr>
                  <a:t> </a:t>
                </a:r>
              </a:p>
            </p:txBody>
          </p:sp>
        </mc:Fallback>
      </mc:AlternateContent>
      <p:sp>
        <p:nvSpPr>
          <p:cNvPr id="15" name="Rounded Rectangle 14">
            <a:extLst>
              <a:ext uri="{FF2B5EF4-FFF2-40B4-BE49-F238E27FC236}">
                <a16:creationId xmlns:a16="http://schemas.microsoft.com/office/drawing/2014/main" id="{123C3066-BAD9-42D0-4E7B-FB98D04D8885}"/>
              </a:ext>
            </a:extLst>
          </p:cNvPr>
          <p:cNvSpPr/>
          <p:nvPr/>
        </p:nvSpPr>
        <p:spPr>
          <a:xfrm>
            <a:off x="1718930" y="3566551"/>
            <a:ext cx="1166037" cy="1767030"/>
          </a:xfrm>
          <a:prstGeom prst="roundRect">
            <a:avLst/>
          </a:prstGeom>
          <a:solidFill>
            <a:srgbClr val="FF0000">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3361703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C9E731C-B3B9-F10B-C69F-D22BA14F90F5}"/>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58A51AF4-FF73-559A-BECF-328159745E2D}"/>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CAMADA LIMITE</a:t>
            </a:r>
            <a:endParaRPr lang="pt-PT" sz="1300" noProof="0" dirty="0"/>
          </a:p>
        </p:txBody>
      </p:sp>
      <p:sp>
        <p:nvSpPr>
          <p:cNvPr id="4" name="Text 1">
            <a:extLst>
              <a:ext uri="{FF2B5EF4-FFF2-40B4-BE49-F238E27FC236}">
                <a16:creationId xmlns:a16="http://schemas.microsoft.com/office/drawing/2014/main" id="{0C804B59-3604-BE77-BE43-D65A3F410332}"/>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Camada-limite hidrodinâmica</a:t>
            </a:r>
            <a:endParaRPr lang="pt-PT" sz="3200" noProof="0" dirty="0"/>
          </a:p>
        </p:txBody>
      </p:sp>
      <p:sp>
        <p:nvSpPr>
          <p:cNvPr id="20" name="Text 17">
            <a:extLst>
              <a:ext uri="{FF2B5EF4-FFF2-40B4-BE49-F238E27FC236}">
                <a16:creationId xmlns:a16="http://schemas.microsoft.com/office/drawing/2014/main" id="{08D6A8F9-A491-00ED-F342-4A5197B1CAEA}"/>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a:extLst>
              <a:ext uri="{FF2B5EF4-FFF2-40B4-BE49-F238E27FC236}">
                <a16:creationId xmlns:a16="http://schemas.microsoft.com/office/drawing/2014/main" id="{4C0F4F01-90F9-E781-4243-B549BBEAE3D5}"/>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3 · Camada limite</a:t>
            </a:r>
            <a:endParaRPr lang="pt-PT" sz="950" noProof="0" dirty="0"/>
          </a:p>
        </p:txBody>
      </p:sp>
      <p:sp>
        <p:nvSpPr>
          <p:cNvPr id="22" name="Text 19">
            <a:extLst>
              <a:ext uri="{FF2B5EF4-FFF2-40B4-BE49-F238E27FC236}">
                <a16:creationId xmlns:a16="http://schemas.microsoft.com/office/drawing/2014/main" id="{D5477342-F833-AB80-7B98-7834A598C56F}"/>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dirty="0">
                <a:solidFill>
                  <a:srgbClr val="57707A"/>
                </a:solidFill>
                <a:latin typeface="Calibri" pitchFamily="34" charset="0"/>
                <a:cs typeface="Calibri" pitchFamily="34" charset="-120"/>
              </a:rPr>
              <a:t>6</a:t>
            </a:r>
            <a:endParaRPr lang="pt-PT" sz="950" noProof="0" dirty="0"/>
          </a:p>
        </p:txBody>
      </p:sp>
      <p:grpSp>
        <p:nvGrpSpPr>
          <p:cNvPr id="2" name="Agrupar 10">
            <a:extLst>
              <a:ext uri="{FF2B5EF4-FFF2-40B4-BE49-F238E27FC236}">
                <a16:creationId xmlns:a16="http://schemas.microsoft.com/office/drawing/2014/main" id="{B51160A9-A429-20A0-4C91-F249DA2A87FF}"/>
              </a:ext>
            </a:extLst>
          </p:cNvPr>
          <p:cNvGrpSpPr/>
          <p:nvPr/>
        </p:nvGrpSpPr>
        <p:grpSpPr>
          <a:xfrm>
            <a:off x="866077" y="2852928"/>
            <a:ext cx="9945358" cy="3291840"/>
            <a:chOff x="1773798" y="3251964"/>
            <a:chExt cx="9714838" cy="3378682"/>
          </a:xfrm>
        </p:grpSpPr>
        <p:grpSp>
          <p:nvGrpSpPr>
            <p:cNvPr id="6" name="Agrupar 7">
              <a:extLst>
                <a:ext uri="{FF2B5EF4-FFF2-40B4-BE49-F238E27FC236}">
                  <a16:creationId xmlns:a16="http://schemas.microsoft.com/office/drawing/2014/main" id="{4BC44A78-6836-6B96-01D2-D7D23D70BFF7}"/>
                </a:ext>
              </a:extLst>
            </p:cNvPr>
            <p:cNvGrpSpPr/>
            <p:nvPr/>
          </p:nvGrpSpPr>
          <p:grpSpPr>
            <a:xfrm>
              <a:off x="1773798" y="3251964"/>
              <a:ext cx="9714838" cy="3378682"/>
              <a:chOff x="838200" y="2180561"/>
              <a:chExt cx="10650436" cy="3858163"/>
            </a:xfrm>
          </p:grpSpPr>
          <p:pic>
            <p:nvPicPr>
              <p:cNvPr id="9" name="Imagem 3" descr="Diagrama&#10;&#10;O conteúdo gerado por IA pode estar incorreto.">
                <a:extLst>
                  <a:ext uri="{FF2B5EF4-FFF2-40B4-BE49-F238E27FC236}">
                    <a16:creationId xmlns:a16="http://schemas.microsoft.com/office/drawing/2014/main" id="{4822CBFE-3794-3F01-911A-4FE5089B90EC}"/>
                  </a:ext>
                </a:extLst>
              </p:cNvPr>
              <p:cNvPicPr>
                <a:picLocks noChangeAspect="1"/>
              </p:cNvPicPr>
              <p:nvPr/>
            </p:nvPicPr>
            <p:blipFill>
              <a:blip r:embed="rId3"/>
              <a:stretch>
                <a:fillRect/>
              </a:stretch>
            </p:blipFill>
            <p:spPr>
              <a:xfrm>
                <a:off x="838200" y="2180561"/>
                <a:ext cx="10650436" cy="3858163"/>
              </a:xfrm>
              <a:prstGeom prst="rect">
                <a:avLst/>
              </a:prstGeom>
            </p:spPr>
          </p:pic>
          <p:sp>
            <p:nvSpPr>
              <p:cNvPr id="10" name="Retângulo 5">
                <a:extLst>
                  <a:ext uri="{FF2B5EF4-FFF2-40B4-BE49-F238E27FC236}">
                    <a16:creationId xmlns:a16="http://schemas.microsoft.com/office/drawing/2014/main" id="{0CC80873-5BE9-8335-16AD-9AC630C8F4C6}"/>
                  </a:ext>
                </a:extLst>
              </p:cNvPr>
              <p:cNvSpPr/>
              <p:nvPr/>
            </p:nvSpPr>
            <p:spPr>
              <a:xfrm>
                <a:off x="7913341" y="2289438"/>
                <a:ext cx="1959429" cy="4606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6">
                <a:extLst>
                  <a:ext uri="{FF2B5EF4-FFF2-40B4-BE49-F238E27FC236}">
                    <a16:creationId xmlns:a16="http://schemas.microsoft.com/office/drawing/2014/main" id="{EAB2AB60-7D3F-5316-EDA4-3AAEA1E3D135}"/>
                  </a:ext>
                </a:extLst>
              </p:cNvPr>
              <p:cNvSpPr/>
              <p:nvPr/>
            </p:nvSpPr>
            <p:spPr>
              <a:xfrm>
                <a:off x="8511483" y="3485720"/>
                <a:ext cx="1670670" cy="13062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7" name="CaixaDeTexto 8">
              <a:extLst>
                <a:ext uri="{FF2B5EF4-FFF2-40B4-BE49-F238E27FC236}">
                  <a16:creationId xmlns:a16="http://schemas.microsoft.com/office/drawing/2014/main" id="{4D35D34A-30C4-00A3-A532-A486D55CB424}"/>
                </a:ext>
              </a:extLst>
            </p:cNvPr>
            <p:cNvSpPr txBox="1"/>
            <p:nvPr/>
          </p:nvSpPr>
          <p:spPr>
            <a:xfrm>
              <a:off x="8227416" y="3275677"/>
              <a:ext cx="1658883" cy="416868"/>
            </a:xfrm>
            <a:prstGeom prst="rect">
              <a:avLst/>
            </a:prstGeom>
            <a:noFill/>
          </p:spPr>
          <p:txBody>
            <a:bodyPr wrap="none" rtlCol="0">
              <a:spAutoFit/>
            </a:bodyPr>
            <a:lstStyle/>
            <a:p>
              <a:r>
                <a:rPr lang="pt-BR" dirty="0"/>
                <a:t>Corrente livre</a:t>
              </a:r>
            </a:p>
          </p:txBody>
        </p:sp>
        <p:sp>
          <p:nvSpPr>
            <p:cNvPr id="8" name="CaixaDeTexto 9">
              <a:extLst>
                <a:ext uri="{FF2B5EF4-FFF2-40B4-BE49-F238E27FC236}">
                  <a16:creationId xmlns:a16="http://schemas.microsoft.com/office/drawing/2014/main" id="{FFB46725-26FB-083A-C11A-75FBB1F8C17A}"/>
                </a:ext>
              </a:extLst>
            </p:cNvPr>
            <p:cNvSpPr txBox="1"/>
            <p:nvPr/>
          </p:nvSpPr>
          <p:spPr>
            <a:xfrm>
              <a:off x="8705103" y="4767758"/>
              <a:ext cx="1863175" cy="729520"/>
            </a:xfrm>
            <a:prstGeom prst="rect">
              <a:avLst/>
            </a:prstGeom>
            <a:noFill/>
          </p:spPr>
          <p:txBody>
            <a:bodyPr wrap="square" rtlCol="0">
              <a:spAutoFit/>
            </a:bodyPr>
            <a:lstStyle/>
            <a:p>
              <a:r>
                <a:rPr lang="pt-BR" dirty="0"/>
                <a:t>Camada limite de velocidade</a:t>
              </a:r>
            </a:p>
          </p:txBody>
        </p:sp>
      </p:grpSp>
      <p:sp>
        <p:nvSpPr>
          <p:cNvPr id="13" name="TextBox 12">
            <a:extLst>
              <a:ext uri="{FF2B5EF4-FFF2-40B4-BE49-F238E27FC236}">
                <a16:creationId xmlns:a16="http://schemas.microsoft.com/office/drawing/2014/main" id="{DC442876-96B3-FF6A-A9E0-1B5E04AF9E8A}"/>
              </a:ext>
            </a:extLst>
          </p:cNvPr>
          <p:cNvSpPr txBox="1"/>
          <p:nvPr/>
        </p:nvSpPr>
        <p:spPr>
          <a:xfrm>
            <a:off x="457200" y="5980776"/>
            <a:ext cx="10716323" cy="318549"/>
          </a:xfrm>
          <a:prstGeom prst="rect">
            <a:avLst/>
          </a:prstGeom>
          <a:noFill/>
        </p:spPr>
        <p:txBody>
          <a:bodyPr wrap="square">
            <a:spAutoFit/>
          </a:bodyPr>
          <a:lstStyle/>
          <a:p>
            <a:pPr>
              <a:lnSpc>
                <a:spcPts val="2000"/>
              </a:lnSpc>
              <a:spcAft>
                <a:spcPts val="600"/>
              </a:spcAft>
              <a:buSzPct val="100000"/>
            </a:pPr>
            <a:r>
              <a:rPr lang="pt-PT" sz="1000" dirty="0">
                <a:solidFill>
                  <a:srgbClr val="182A32"/>
                </a:solidFill>
                <a:latin typeface="Calibri" pitchFamily="34" charset="0"/>
                <a:ea typeface="Calibri" pitchFamily="34" charset="-122"/>
                <a:cs typeface="Calibri" pitchFamily="34" charset="-120"/>
              </a:rPr>
              <a:t>Fonte: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sp>
        <p:nvSpPr>
          <p:cNvPr id="14" name="TextBox 13">
            <a:extLst>
              <a:ext uri="{FF2B5EF4-FFF2-40B4-BE49-F238E27FC236}">
                <a16:creationId xmlns:a16="http://schemas.microsoft.com/office/drawing/2014/main" id="{55EC9DEA-1F74-2AC1-BB19-44CA37023CE2}"/>
              </a:ext>
            </a:extLst>
          </p:cNvPr>
          <p:cNvSpPr txBox="1"/>
          <p:nvPr/>
        </p:nvSpPr>
        <p:spPr>
          <a:xfrm>
            <a:off x="10058400" y="4975152"/>
            <a:ext cx="2004953" cy="830997"/>
          </a:xfrm>
          <a:prstGeom prst="rect">
            <a:avLst/>
          </a:prstGeom>
          <a:noFill/>
        </p:spPr>
        <p:txBody>
          <a:bodyPr wrap="square" rtlCol="0">
            <a:spAutoFit/>
          </a:bodyPr>
          <a:lstStyle/>
          <a:p>
            <a:pPr algn="ctr"/>
            <a:r>
              <a:rPr lang="en-BR" sz="1200" dirty="0">
                <a:solidFill>
                  <a:srgbClr val="FF0000"/>
                </a:solidFill>
              </a:rPr>
              <a:t>Das aulas passadas: Sobre a superfície de um sólido prevalece a condição de não escorregamento</a:t>
            </a:r>
          </a:p>
        </p:txBody>
      </p:sp>
      <mc:AlternateContent xmlns:mc="http://schemas.openxmlformats.org/markup-compatibility/2006">
        <mc:Choice xmlns:a14="http://schemas.microsoft.com/office/drawing/2010/main" Requires="a14">
          <p:sp>
            <p:nvSpPr>
              <p:cNvPr id="15" name="Text 2">
                <a:extLst>
                  <a:ext uri="{FF2B5EF4-FFF2-40B4-BE49-F238E27FC236}">
                    <a16:creationId xmlns:a16="http://schemas.microsoft.com/office/drawing/2014/main" id="{80C22A44-B4A0-6761-E5BD-0CC86C8229A5}"/>
                  </a:ext>
                </a:extLst>
              </p:cNvPr>
              <p:cNvSpPr/>
              <p:nvPr/>
            </p:nvSpPr>
            <p:spPr>
              <a:xfrm>
                <a:off x="655320" y="1382773"/>
                <a:ext cx="10881360" cy="822960"/>
              </a:xfrm>
              <a:prstGeom prst="rect">
                <a:avLst/>
              </a:prstGeom>
              <a:noFill/>
              <a:ln/>
            </p:spPr>
            <p:txBody>
              <a:bodyPr wrap="square" rtlCol="0" anchor="ctr"/>
              <a:lstStyle/>
              <a:p>
                <a:pPr>
                  <a:lnSpc>
                    <a:spcPts val="1900"/>
                  </a:lnSpc>
                </a:pPr>
                <a:r>
                  <a:rPr lang="pt-PT" sz="1400" noProof="0" dirty="0">
                    <a:solidFill>
                      <a:srgbClr val="182A32"/>
                    </a:solidFill>
                    <a:latin typeface="Calibri" pitchFamily="34" charset="0"/>
                    <a:ea typeface="Calibri" pitchFamily="34" charset="-122"/>
                    <a:cs typeface="Calibri" pitchFamily="34" charset="-120"/>
                  </a:rPr>
                  <a:t>Região próxima à superfície onde a velocidade do fluido varia de </a:t>
                </a:r>
                <a:r>
                  <a:rPr lang="pt-PT" sz="1400" b="1" noProof="0" dirty="0">
                    <a:solidFill>
                      <a:srgbClr val="E8602C"/>
                    </a:solidFill>
                    <a:latin typeface="Calibri" pitchFamily="34" charset="0"/>
                    <a:ea typeface="Calibri" pitchFamily="34" charset="-122"/>
                    <a:cs typeface="Calibri" pitchFamily="34" charset="-120"/>
                  </a:rPr>
                  <a:t>zero</a:t>
                </a:r>
                <a:r>
                  <a:rPr lang="pt-PT" sz="1400" noProof="0" dirty="0">
                    <a:solidFill>
                      <a:srgbClr val="182A32"/>
                    </a:solidFill>
                    <a:latin typeface="Calibri" pitchFamily="34" charset="0"/>
                    <a:ea typeface="Calibri" pitchFamily="34" charset="-122"/>
                    <a:cs typeface="Calibri" pitchFamily="34" charset="-120"/>
                  </a:rPr>
                  <a:t> (na parede — condição de não escorregamento) até 99% do valor da </a:t>
                </a:r>
                <a:r>
                  <a:rPr lang="pt-PT" sz="1400" b="1" noProof="0" dirty="0">
                    <a:solidFill>
                      <a:srgbClr val="065A82"/>
                    </a:solidFill>
                    <a:latin typeface="Calibri" pitchFamily="34" charset="0"/>
                    <a:ea typeface="Calibri" pitchFamily="34" charset="-122"/>
                    <a:cs typeface="Calibri" pitchFamily="34" charset="-120"/>
                  </a:rPr>
                  <a:t>corrente livre</a:t>
                </a:r>
                <a:r>
                  <a:rPr lang="pt-PT" sz="1400" noProof="0" dirty="0">
                    <a:solidFill>
                      <a:srgbClr val="182A32"/>
                    </a:solidFill>
                    <a:latin typeface="Calibri" pitchFamily="34" charset="0"/>
                    <a:ea typeface="Calibri" pitchFamily="34" charset="-122"/>
                    <a:cs typeface="Calibri" pitchFamily="34" charset="-120"/>
                  </a:rPr>
                  <a:t> (</a:t>
                </a:r>
                <a14:m>
                  <m:oMath xmlns:m="http://schemas.openxmlformats.org/officeDocument/2006/math">
                    <m:sSub>
                      <m:sSubPr>
                        <m:ctrlPr>
                          <a:rPr lang="en-BR" sz="1400" i="1" smtClean="0">
                            <a:solidFill>
                              <a:schemeClr val="tx1"/>
                            </a:solidFill>
                            <a:latin typeface="Cambria Math" panose="02040503050406030204" pitchFamily="18" charset="0"/>
                          </a:rPr>
                        </m:ctrlPr>
                      </m:sSubPr>
                      <m:e>
                        <m:r>
                          <a:rPr lang="pt-BR" sz="1400" i="1">
                            <a:solidFill>
                              <a:schemeClr val="tx1"/>
                            </a:solidFill>
                            <a:latin typeface="Cambria Math" panose="02040503050406030204" pitchFamily="18" charset="0"/>
                          </a:rPr>
                          <m:t>𝑢</m:t>
                        </m:r>
                      </m:e>
                      <m:sub>
                        <m:r>
                          <a:rPr lang="en-BR" sz="1400" i="1">
                            <a:solidFill>
                              <a:schemeClr val="tx1"/>
                            </a:solidFill>
                            <a:latin typeface="Cambria Math" panose="02040503050406030204" pitchFamily="18" charset="0"/>
                            <a:ea typeface="Cambria Math" panose="02040503050406030204" pitchFamily="18" charset="0"/>
                          </a:rPr>
                          <m:t>∞</m:t>
                        </m:r>
                      </m:sub>
                    </m:sSub>
                  </m:oMath>
                </a14:m>
                <a:r>
                  <a:rPr lang="pt-PT" sz="1400" noProof="0" dirty="0">
                    <a:solidFill>
                      <a:srgbClr val="182A32"/>
                    </a:solidFill>
                    <a:latin typeface="Calibri" pitchFamily="34" charset="0"/>
                    <a:ea typeface="Calibri" pitchFamily="34" charset="-122"/>
                    <a:cs typeface="Calibri" pitchFamily="34" charset="-120"/>
                  </a:rPr>
                  <a:t>), a uma distância </a:t>
                </a:r>
                <a:r>
                  <a:rPr lang="pt-PT" sz="1400" noProof="0" dirty="0" err="1">
                    <a:solidFill>
                      <a:srgbClr val="182A32"/>
                    </a:solidFill>
                    <a:latin typeface="Calibri" pitchFamily="34" charset="0"/>
                    <a:ea typeface="Calibri" pitchFamily="34" charset="-122"/>
                    <a:cs typeface="Calibri" pitchFamily="34" charset="-120"/>
                  </a:rPr>
                  <a:t>δ</a:t>
                </a:r>
                <a:r>
                  <a:rPr lang="pt-PT" sz="1400" noProof="0" dirty="0">
                    <a:solidFill>
                      <a:srgbClr val="182A32"/>
                    </a:solidFill>
                    <a:latin typeface="Calibri" pitchFamily="34" charset="0"/>
                    <a:ea typeface="Calibri" pitchFamily="34" charset="-122"/>
                    <a:cs typeface="Calibri" pitchFamily="34" charset="-120"/>
                  </a:rPr>
                  <a:t> da superfície.</a:t>
                </a:r>
                <a:endParaRPr lang="pt-PT" sz="1400" noProof="0" dirty="0"/>
              </a:p>
            </p:txBody>
          </p:sp>
        </mc:Choice>
        <mc:Fallback>
          <p:sp>
            <p:nvSpPr>
              <p:cNvPr id="15" name="Text 2">
                <a:extLst>
                  <a:ext uri="{FF2B5EF4-FFF2-40B4-BE49-F238E27FC236}">
                    <a16:creationId xmlns:a16="http://schemas.microsoft.com/office/drawing/2014/main" id="{80C22A44-B4A0-6761-E5BD-0CC86C8229A5}"/>
                  </a:ext>
                </a:extLst>
              </p:cNvPr>
              <p:cNvSpPr>
                <a:spLocks noRot="1" noChangeAspect="1" noMove="1" noResize="1" noEditPoints="1" noAdjustHandles="1" noChangeArrowheads="1" noChangeShapeType="1" noTextEdit="1"/>
              </p:cNvSpPr>
              <p:nvPr/>
            </p:nvSpPr>
            <p:spPr>
              <a:xfrm>
                <a:off x="655320" y="1382773"/>
                <a:ext cx="10881360" cy="822960"/>
              </a:xfrm>
              <a:prstGeom prst="rect">
                <a:avLst/>
              </a:prstGeom>
              <a:blipFill>
                <a:blip r:embed="rId4"/>
                <a:stretch>
                  <a:fillRect l="-233"/>
                </a:stretch>
              </a:blipFill>
              <a:ln/>
            </p:spPr>
            <p:txBody>
              <a:bodyPr/>
              <a:lstStyle/>
              <a:p>
                <a:r>
                  <a:rPr lang="en-BR">
                    <a:noFill/>
                  </a:rPr>
                  <a:t> </a:t>
                </a:r>
              </a:p>
            </p:txBody>
          </p:sp>
        </mc:Fallback>
      </mc:AlternateContent>
    </p:spTree>
    <p:extLst>
      <p:ext uri="{BB962C8B-B14F-4D97-AF65-F5344CB8AC3E}">
        <p14:creationId xmlns:p14="http://schemas.microsoft.com/office/powerpoint/2010/main" val="1926854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53F700D-E3A4-1188-4281-8F621241EBD1}"/>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410A90C3-9C0D-76F3-5977-79B0BBC67FEC}"/>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CAMADA LIMITE</a:t>
            </a:r>
            <a:endParaRPr lang="pt-PT" sz="1300" noProof="0" dirty="0"/>
          </a:p>
        </p:txBody>
      </p:sp>
      <p:sp>
        <p:nvSpPr>
          <p:cNvPr id="4" name="Text 1">
            <a:extLst>
              <a:ext uri="{FF2B5EF4-FFF2-40B4-BE49-F238E27FC236}">
                <a16:creationId xmlns:a16="http://schemas.microsoft.com/office/drawing/2014/main" id="{7B1BA237-E34C-C409-7A0E-73300553EA53}"/>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Camada-limite hidrodinâmica</a:t>
            </a:r>
            <a:endParaRPr lang="pt-PT" sz="3200" noProof="0" dirty="0"/>
          </a:p>
        </p:txBody>
      </p:sp>
      <p:sp>
        <p:nvSpPr>
          <p:cNvPr id="20" name="Text 17">
            <a:extLst>
              <a:ext uri="{FF2B5EF4-FFF2-40B4-BE49-F238E27FC236}">
                <a16:creationId xmlns:a16="http://schemas.microsoft.com/office/drawing/2014/main" id="{A7677117-07F5-FDEF-699C-7E333815AD19}"/>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a:extLst>
              <a:ext uri="{FF2B5EF4-FFF2-40B4-BE49-F238E27FC236}">
                <a16:creationId xmlns:a16="http://schemas.microsoft.com/office/drawing/2014/main" id="{A82055F8-094B-A59E-7B82-900794871C02}"/>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3 · Camada limite</a:t>
            </a:r>
            <a:endParaRPr lang="pt-PT" sz="950" noProof="0" dirty="0"/>
          </a:p>
        </p:txBody>
      </p:sp>
      <p:sp>
        <p:nvSpPr>
          <p:cNvPr id="22" name="Text 19">
            <a:extLst>
              <a:ext uri="{FF2B5EF4-FFF2-40B4-BE49-F238E27FC236}">
                <a16:creationId xmlns:a16="http://schemas.microsoft.com/office/drawing/2014/main" id="{3FD92B73-5C9E-4700-A907-72EB5BEBD7A5}"/>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dirty="0">
                <a:solidFill>
                  <a:srgbClr val="57707A"/>
                </a:solidFill>
                <a:latin typeface="Calibri" pitchFamily="34" charset="0"/>
                <a:cs typeface="Calibri" pitchFamily="34" charset="-120"/>
              </a:rPr>
              <a:t>6</a:t>
            </a:r>
            <a:endParaRPr lang="pt-PT" sz="950" noProof="0" dirty="0"/>
          </a:p>
        </p:txBody>
      </p:sp>
      <p:grpSp>
        <p:nvGrpSpPr>
          <p:cNvPr id="2" name="Agrupar 10">
            <a:extLst>
              <a:ext uri="{FF2B5EF4-FFF2-40B4-BE49-F238E27FC236}">
                <a16:creationId xmlns:a16="http://schemas.microsoft.com/office/drawing/2014/main" id="{7A874C9C-B454-B6DA-0169-697AB40E90F9}"/>
              </a:ext>
            </a:extLst>
          </p:cNvPr>
          <p:cNvGrpSpPr/>
          <p:nvPr/>
        </p:nvGrpSpPr>
        <p:grpSpPr>
          <a:xfrm>
            <a:off x="866077" y="2852928"/>
            <a:ext cx="9945358" cy="3291840"/>
            <a:chOff x="1773798" y="3251964"/>
            <a:chExt cx="9714838" cy="3378682"/>
          </a:xfrm>
        </p:grpSpPr>
        <p:grpSp>
          <p:nvGrpSpPr>
            <p:cNvPr id="6" name="Agrupar 7">
              <a:extLst>
                <a:ext uri="{FF2B5EF4-FFF2-40B4-BE49-F238E27FC236}">
                  <a16:creationId xmlns:a16="http://schemas.microsoft.com/office/drawing/2014/main" id="{9E885E49-50AE-69D0-BE26-6850DEACD8DA}"/>
                </a:ext>
              </a:extLst>
            </p:cNvPr>
            <p:cNvGrpSpPr/>
            <p:nvPr/>
          </p:nvGrpSpPr>
          <p:grpSpPr>
            <a:xfrm>
              <a:off x="1773798" y="3251964"/>
              <a:ext cx="9714838" cy="3378682"/>
              <a:chOff x="838200" y="2180561"/>
              <a:chExt cx="10650436" cy="3858163"/>
            </a:xfrm>
          </p:grpSpPr>
          <p:pic>
            <p:nvPicPr>
              <p:cNvPr id="9" name="Imagem 3" descr="Diagrama&#10;&#10;O conteúdo gerado por IA pode estar incorreto.">
                <a:extLst>
                  <a:ext uri="{FF2B5EF4-FFF2-40B4-BE49-F238E27FC236}">
                    <a16:creationId xmlns:a16="http://schemas.microsoft.com/office/drawing/2014/main" id="{1FC4F1AF-E383-3976-EC48-32C94CB4302D}"/>
                  </a:ext>
                </a:extLst>
              </p:cNvPr>
              <p:cNvPicPr>
                <a:picLocks noChangeAspect="1"/>
              </p:cNvPicPr>
              <p:nvPr/>
            </p:nvPicPr>
            <p:blipFill>
              <a:blip r:embed="rId3"/>
              <a:stretch>
                <a:fillRect/>
              </a:stretch>
            </p:blipFill>
            <p:spPr>
              <a:xfrm>
                <a:off x="838200" y="2180561"/>
                <a:ext cx="10650436" cy="3858163"/>
              </a:xfrm>
              <a:prstGeom prst="rect">
                <a:avLst/>
              </a:prstGeom>
            </p:spPr>
          </p:pic>
          <p:sp>
            <p:nvSpPr>
              <p:cNvPr id="10" name="Retângulo 5">
                <a:extLst>
                  <a:ext uri="{FF2B5EF4-FFF2-40B4-BE49-F238E27FC236}">
                    <a16:creationId xmlns:a16="http://schemas.microsoft.com/office/drawing/2014/main" id="{3CDCE9BE-795E-9597-2422-209FA6671E72}"/>
                  </a:ext>
                </a:extLst>
              </p:cNvPr>
              <p:cNvSpPr/>
              <p:nvPr/>
            </p:nvSpPr>
            <p:spPr>
              <a:xfrm>
                <a:off x="7913341" y="2289438"/>
                <a:ext cx="1959429" cy="4606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6">
                <a:extLst>
                  <a:ext uri="{FF2B5EF4-FFF2-40B4-BE49-F238E27FC236}">
                    <a16:creationId xmlns:a16="http://schemas.microsoft.com/office/drawing/2014/main" id="{FA930402-5695-7352-B475-3C13A4017D5B}"/>
                  </a:ext>
                </a:extLst>
              </p:cNvPr>
              <p:cNvSpPr/>
              <p:nvPr/>
            </p:nvSpPr>
            <p:spPr>
              <a:xfrm>
                <a:off x="8511483" y="3485720"/>
                <a:ext cx="1670670" cy="13062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7" name="CaixaDeTexto 8">
              <a:extLst>
                <a:ext uri="{FF2B5EF4-FFF2-40B4-BE49-F238E27FC236}">
                  <a16:creationId xmlns:a16="http://schemas.microsoft.com/office/drawing/2014/main" id="{918DFD67-1290-4793-B539-9C09FB845EA3}"/>
                </a:ext>
              </a:extLst>
            </p:cNvPr>
            <p:cNvSpPr txBox="1"/>
            <p:nvPr/>
          </p:nvSpPr>
          <p:spPr>
            <a:xfrm>
              <a:off x="8227416" y="3275677"/>
              <a:ext cx="1658883" cy="416868"/>
            </a:xfrm>
            <a:prstGeom prst="rect">
              <a:avLst/>
            </a:prstGeom>
            <a:noFill/>
          </p:spPr>
          <p:txBody>
            <a:bodyPr wrap="none" rtlCol="0">
              <a:spAutoFit/>
            </a:bodyPr>
            <a:lstStyle/>
            <a:p>
              <a:r>
                <a:rPr lang="pt-BR" dirty="0"/>
                <a:t>Corrente livre</a:t>
              </a:r>
            </a:p>
          </p:txBody>
        </p:sp>
        <p:sp>
          <p:nvSpPr>
            <p:cNvPr id="8" name="CaixaDeTexto 9">
              <a:extLst>
                <a:ext uri="{FF2B5EF4-FFF2-40B4-BE49-F238E27FC236}">
                  <a16:creationId xmlns:a16="http://schemas.microsoft.com/office/drawing/2014/main" id="{1201350F-EC4F-EAFC-801B-BED6AD93DC23}"/>
                </a:ext>
              </a:extLst>
            </p:cNvPr>
            <p:cNvSpPr txBox="1"/>
            <p:nvPr/>
          </p:nvSpPr>
          <p:spPr>
            <a:xfrm>
              <a:off x="8705103" y="4767758"/>
              <a:ext cx="1863175" cy="729520"/>
            </a:xfrm>
            <a:prstGeom prst="rect">
              <a:avLst/>
            </a:prstGeom>
            <a:noFill/>
          </p:spPr>
          <p:txBody>
            <a:bodyPr wrap="square" rtlCol="0">
              <a:spAutoFit/>
            </a:bodyPr>
            <a:lstStyle/>
            <a:p>
              <a:r>
                <a:rPr lang="pt-BR" dirty="0"/>
                <a:t>Camada limite de velocidade</a:t>
              </a:r>
            </a:p>
          </p:txBody>
        </p:sp>
      </p:grpSp>
      <p:sp>
        <p:nvSpPr>
          <p:cNvPr id="13" name="TextBox 12">
            <a:extLst>
              <a:ext uri="{FF2B5EF4-FFF2-40B4-BE49-F238E27FC236}">
                <a16:creationId xmlns:a16="http://schemas.microsoft.com/office/drawing/2014/main" id="{24DBC573-4C5D-CB48-66C5-A200767969C1}"/>
              </a:ext>
            </a:extLst>
          </p:cNvPr>
          <p:cNvSpPr txBox="1"/>
          <p:nvPr/>
        </p:nvSpPr>
        <p:spPr>
          <a:xfrm>
            <a:off x="457200" y="5980776"/>
            <a:ext cx="10716323" cy="318549"/>
          </a:xfrm>
          <a:prstGeom prst="rect">
            <a:avLst/>
          </a:prstGeom>
          <a:noFill/>
        </p:spPr>
        <p:txBody>
          <a:bodyPr wrap="square">
            <a:spAutoFit/>
          </a:bodyPr>
          <a:lstStyle/>
          <a:p>
            <a:pPr>
              <a:lnSpc>
                <a:spcPts val="2000"/>
              </a:lnSpc>
              <a:spcAft>
                <a:spcPts val="600"/>
              </a:spcAft>
              <a:buSzPct val="100000"/>
            </a:pPr>
            <a:r>
              <a:rPr lang="pt-PT" sz="1000" dirty="0">
                <a:solidFill>
                  <a:srgbClr val="182A32"/>
                </a:solidFill>
                <a:latin typeface="Calibri" pitchFamily="34" charset="0"/>
                <a:ea typeface="Calibri" pitchFamily="34" charset="-122"/>
                <a:cs typeface="Calibri" pitchFamily="34" charset="-120"/>
              </a:rPr>
              <a:t>Fonte: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sp>
        <p:nvSpPr>
          <p:cNvPr id="16" name="Rounded Rectangle 15">
            <a:extLst>
              <a:ext uri="{FF2B5EF4-FFF2-40B4-BE49-F238E27FC236}">
                <a16:creationId xmlns:a16="http://schemas.microsoft.com/office/drawing/2014/main" id="{90512750-70CE-0A0A-D1D1-1521ED6BF0A4}"/>
              </a:ext>
            </a:extLst>
          </p:cNvPr>
          <p:cNvSpPr/>
          <p:nvPr/>
        </p:nvSpPr>
        <p:spPr>
          <a:xfrm>
            <a:off x="5943600" y="4770473"/>
            <a:ext cx="1166037" cy="439479"/>
          </a:xfrm>
          <a:prstGeom prst="roundRect">
            <a:avLst/>
          </a:prstGeom>
          <a:solidFill>
            <a:srgbClr val="FF0000">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mc:AlternateContent xmlns:mc="http://schemas.openxmlformats.org/markup-compatibility/2006">
        <mc:Choice xmlns:a14="http://schemas.microsoft.com/office/drawing/2010/main" Requires="a14">
          <p:sp>
            <p:nvSpPr>
              <p:cNvPr id="17" name="Text 2">
                <a:extLst>
                  <a:ext uri="{FF2B5EF4-FFF2-40B4-BE49-F238E27FC236}">
                    <a16:creationId xmlns:a16="http://schemas.microsoft.com/office/drawing/2014/main" id="{F9955D55-17DF-535D-8FE7-98B9C340213A}"/>
                  </a:ext>
                </a:extLst>
              </p:cNvPr>
              <p:cNvSpPr/>
              <p:nvPr/>
            </p:nvSpPr>
            <p:spPr>
              <a:xfrm>
                <a:off x="655320" y="1382773"/>
                <a:ext cx="10881360" cy="822960"/>
              </a:xfrm>
              <a:prstGeom prst="rect">
                <a:avLst/>
              </a:prstGeom>
              <a:noFill/>
              <a:ln/>
            </p:spPr>
            <p:txBody>
              <a:bodyPr wrap="square" rtlCol="0" anchor="ctr"/>
              <a:lstStyle/>
              <a:p>
                <a:pPr>
                  <a:lnSpc>
                    <a:spcPts val="1900"/>
                  </a:lnSpc>
                </a:pPr>
                <a:r>
                  <a:rPr lang="pt-PT" sz="1400" noProof="0" dirty="0">
                    <a:solidFill>
                      <a:srgbClr val="182A32"/>
                    </a:solidFill>
                    <a:latin typeface="Calibri" pitchFamily="34" charset="0"/>
                    <a:ea typeface="Calibri" pitchFamily="34" charset="-122"/>
                    <a:cs typeface="Calibri" pitchFamily="34" charset="-120"/>
                  </a:rPr>
                  <a:t>Região próxima à superfície onde a velocidade do fluido varia de </a:t>
                </a:r>
                <a:r>
                  <a:rPr lang="pt-PT" sz="1400" b="1" noProof="0" dirty="0">
                    <a:solidFill>
                      <a:srgbClr val="E8602C"/>
                    </a:solidFill>
                    <a:latin typeface="Calibri" pitchFamily="34" charset="0"/>
                    <a:ea typeface="Calibri" pitchFamily="34" charset="-122"/>
                    <a:cs typeface="Calibri" pitchFamily="34" charset="-120"/>
                  </a:rPr>
                  <a:t>zero</a:t>
                </a:r>
                <a:r>
                  <a:rPr lang="pt-PT" sz="1400" noProof="0" dirty="0">
                    <a:solidFill>
                      <a:srgbClr val="182A32"/>
                    </a:solidFill>
                    <a:latin typeface="Calibri" pitchFamily="34" charset="0"/>
                    <a:ea typeface="Calibri" pitchFamily="34" charset="-122"/>
                    <a:cs typeface="Calibri" pitchFamily="34" charset="-120"/>
                  </a:rPr>
                  <a:t> (na parede — condição de não escorregamento) até 99% do valor da </a:t>
                </a:r>
                <a:r>
                  <a:rPr lang="pt-PT" sz="1400" b="1" noProof="0" dirty="0">
                    <a:solidFill>
                      <a:srgbClr val="065A82"/>
                    </a:solidFill>
                    <a:latin typeface="Calibri" pitchFamily="34" charset="0"/>
                    <a:ea typeface="Calibri" pitchFamily="34" charset="-122"/>
                    <a:cs typeface="Calibri" pitchFamily="34" charset="-120"/>
                  </a:rPr>
                  <a:t>corrente livre</a:t>
                </a:r>
                <a:r>
                  <a:rPr lang="pt-PT" sz="1400" noProof="0" dirty="0">
                    <a:solidFill>
                      <a:srgbClr val="182A32"/>
                    </a:solidFill>
                    <a:latin typeface="Calibri" pitchFamily="34" charset="0"/>
                    <a:ea typeface="Calibri" pitchFamily="34" charset="-122"/>
                    <a:cs typeface="Calibri" pitchFamily="34" charset="-120"/>
                  </a:rPr>
                  <a:t> (</a:t>
                </a:r>
                <a14:m>
                  <m:oMath xmlns:m="http://schemas.openxmlformats.org/officeDocument/2006/math">
                    <m:sSub>
                      <m:sSubPr>
                        <m:ctrlPr>
                          <a:rPr lang="en-BR" sz="1400" i="1" smtClean="0">
                            <a:solidFill>
                              <a:schemeClr val="tx1"/>
                            </a:solidFill>
                            <a:latin typeface="Cambria Math" panose="02040503050406030204" pitchFamily="18" charset="0"/>
                          </a:rPr>
                        </m:ctrlPr>
                      </m:sSubPr>
                      <m:e>
                        <m:r>
                          <a:rPr lang="pt-BR" sz="1400" i="1">
                            <a:solidFill>
                              <a:schemeClr val="tx1"/>
                            </a:solidFill>
                            <a:latin typeface="Cambria Math" panose="02040503050406030204" pitchFamily="18" charset="0"/>
                          </a:rPr>
                          <m:t>𝑢</m:t>
                        </m:r>
                      </m:e>
                      <m:sub>
                        <m:r>
                          <a:rPr lang="en-BR" sz="1400" i="1">
                            <a:solidFill>
                              <a:schemeClr val="tx1"/>
                            </a:solidFill>
                            <a:latin typeface="Cambria Math" panose="02040503050406030204" pitchFamily="18" charset="0"/>
                            <a:ea typeface="Cambria Math" panose="02040503050406030204" pitchFamily="18" charset="0"/>
                          </a:rPr>
                          <m:t>∞</m:t>
                        </m:r>
                      </m:sub>
                    </m:sSub>
                  </m:oMath>
                </a14:m>
                <a:r>
                  <a:rPr lang="pt-PT" sz="1400" noProof="0" dirty="0">
                    <a:solidFill>
                      <a:srgbClr val="182A32"/>
                    </a:solidFill>
                    <a:latin typeface="Calibri" pitchFamily="34" charset="0"/>
                    <a:ea typeface="Calibri" pitchFamily="34" charset="-122"/>
                    <a:cs typeface="Calibri" pitchFamily="34" charset="-120"/>
                  </a:rPr>
                  <a:t>), a uma distância </a:t>
                </a:r>
                <a:r>
                  <a:rPr lang="pt-PT" sz="1400" noProof="0" dirty="0" err="1">
                    <a:solidFill>
                      <a:srgbClr val="182A32"/>
                    </a:solidFill>
                    <a:latin typeface="Calibri" pitchFamily="34" charset="0"/>
                    <a:ea typeface="Calibri" pitchFamily="34" charset="-122"/>
                    <a:cs typeface="Calibri" pitchFamily="34" charset="-120"/>
                  </a:rPr>
                  <a:t>δ</a:t>
                </a:r>
                <a:r>
                  <a:rPr lang="pt-PT" sz="1400" noProof="0" dirty="0">
                    <a:solidFill>
                      <a:srgbClr val="182A32"/>
                    </a:solidFill>
                    <a:latin typeface="Calibri" pitchFamily="34" charset="0"/>
                    <a:ea typeface="Calibri" pitchFamily="34" charset="-122"/>
                    <a:cs typeface="Calibri" pitchFamily="34" charset="-120"/>
                  </a:rPr>
                  <a:t> da superfície.</a:t>
                </a:r>
                <a:endParaRPr lang="pt-PT" sz="1400" noProof="0" dirty="0"/>
              </a:p>
            </p:txBody>
          </p:sp>
        </mc:Choice>
        <mc:Fallback>
          <p:sp>
            <p:nvSpPr>
              <p:cNvPr id="17" name="Text 2">
                <a:extLst>
                  <a:ext uri="{FF2B5EF4-FFF2-40B4-BE49-F238E27FC236}">
                    <a16:creationId xmlns:a16="http://schemas.microsoft.com/office/drawing/2014/main" id="{F9955D55-17DF-535D-8FE7-98B9C340213A}"/>
                  </a:ext>
                </a:extLst>
              </p:cNvPr>
              <p:cNvSpPr>
                <a:spLocks noRot="1" noChangeAspect="1" noMove="1" noResize="1" noEditPoints="1" noAdjustHandles="1" noChangeArrowheads="1" noChangeShapeType="1" noTextEdit="1"/>
              </p:cNvSpPr>
              <p:nvPr/>
            </p:nvSpPr>
            <p:spPr>
              <a:xfrm>
                <a:off x="655320" y="1382773"/>
                <a:ext cx="10881360" cy="822960"/>
              </a:xfrm>
              <a:prstGeom prst="rect">
                <a:avLst/>
              </a:prstGeom>
              <a:blipFill>
                <a:blip r:embed="rId4"/>
                <a:stretch>
                  <a:fillRect l="-233"/>
                </a:stretch>
              </a:blipFill>
              <a:ln/>
            </p:spPr>
            <p:txBody>
              <a:bodyPr/>
              <a:lstStyle/>
              <a:p>
                <a:r>
                  <a:rPr lang="en-BR">
                    <a:noFill/>
                  </a:rPr>
                  <a:t> </a:t>
                </a:r>
              </a:p>
            </p:txBody>
          </p:sp>
        </mc:Fallback>
      </mc:AlternateContent>
    </p:spTree>
    <p:extLst>
      <p:ext uri="{BB962C8B-B14F-4D97-AF65-F5344CB8AC3E}">
        <p14:creationId xmlns:p14="http://schemas.microsoft.com/office/powerpoint/2010/main" val="1286531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3B2ADBF-6AA2-FD67-D83D-63C87F513276}"/>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B8B8C503-8F4B-4140-13AF-02A2ED20F556}"/>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CAMADA LIMITE</a:t>
            </a:r>
            <a:endParaRPr lang="pt-PT" sz="1300" noProof="0" dirty="0"/>
          </a:p>
        </p:txBody>
      </p:sp>
      <p:sp>
        <p:nvSpPr>
          <p:cNvPr id="4" name="Text 1">
            <a:extLst>
              <a:ext uri="{FF2B5EF4-FFF2-40B4-BE49-F238E27FC236}">
                <a16:creationId xmlns:a16="http://schemas.microsoft.com/office/drawing/2014/main" id="{D667B698-99D6-CA7C-34B0-027D9BAE3593}"/>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Camada-limite hidrodinâmica</a:t>
            </a:r>
            <a:endParaRPr lang="pt-PT" sz="3200" noProof="0" dirty="0"/>
          </a:p>
        </p:txBody>
      </p:sp>
      <p:sp>
        <p:nvSpPr>
          <p:cNvPr id="20" name="Text 17">
            <a:extLst>
              <a:ext uri="{FF2B5EF4-FFF2-40B4-BE49-F238E27FC236}">
                <a16:creationId xmlns:a16="http://schemas.microsoft.com/office/drawing/2014/main" id="{0D9E18E5-9C8A-9D91-ECCC-BCEB9581ECFB}"/>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a:extLst>
              <a:ext uri="{FF2B5EF4-FFF2-40B4-BE49-F238E27FC236}">
                <a16:creationId xmlns:a16="http://schemas.microsoft.com/office/drawing/2014/main" id="{B57D5C24-0061-7105-A371-3447C8077B28}"/>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3 · Camada limite</a:t>
            </a:r>
            <a:endParaRPr lang="pt-PT" sz="950" noProof="0" dirty="0"/>
          </a:p>
        </p:txBody>
      </p:sp>
      <p:sp>
        <p:nvSpPr>
          <p:cNvPr id="22" name="Text 19">
            <a:extLst>
              <a:ext uri="{FF2B5EF4-FFF2-40B4-BE49-F238E27FC236}">
                <a16:creationId xmlns:a16="http://schemas.microsoft.com/office/drawing/2014/main" id="{DA290E67-7A59-A97F-982E-7AAB27F3E6B4}"/>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dirty="0">
                <a:solidFill>
                  <a:srgbClr val="57707A"/>
                </a:solidFill>
                <a:latin typeface="Calibri" pitchFamily="34" charset="0"/>
                <a:cs typeface="Calibri" pitchFamily="34" charset="-120"/>
              </a:rPr>
              <a:t>6</a:t>
            </a:r>
            <a:endParaRPr lang="pt-PT" sz="950" noProof="0" dirty="0"/>
          </a:p>
        </p:txBody>
      </p:sp>
      <p:grpSp>
        <p:nvGrpSpPr>
          <p:cNvPr id="2" name="Agrupar 10">
            <a:extLst>
              <a:ext uri="{FF2B5EF4-FFF2-40B4-BE49-F238E27FC236}">
                <a16:creationId xmlns:a16="http://schemas.microsoft.com/office/drawing/2014/main" id="{98D3B42E-707B-6E1C-BCB2-5423CE452CD4}"/>
              </a:ext>
            </a:extLst>
          </p:cNvPr>
          <p:cNvGrpSpPr/>
          <p:nvPr/>
        </p:nvGrpSpPr>
        <p:grpSpPr>
          <a:xfrm>
            <a:off x="866077" y="2852928"/>
            <a:ext cx="9945358" cy="3291840"/>
            <a:chOff x="1773798" y="3251964"/>
            <a:chExt cx="9714838" cy="3378682"/>
          </a:xfrm>
        </p:grpSpPr>
        <p:grpSp>
          <p:nvGrpSpPr>
            <p:cNvPr id="6" name="Agrupar 7">
              <a:extLst>
                <a:ext uri="{FF2B5EF4-FFF2-40B4-BE49-F238E27FC236}">
                  <a16:creationId xmlns:a16="http://schemas.microsoft.com/office/drawing/2014/main" id="{8E1FE1A9-BC73-AD89-8954-2B7E2111952F}"/>
                </a:ext>
              </a:extLst>
            </p:cNvPr>
            <p:cNvGrpSpPr/>
            <p:nvPr/>
          </p:nvGrpSpPr>
          <p:grpSpPr>
            <a:xfrm>
              <a:off x="1773798" y="3251964"/>
              <a:ext cx="9714838" cy="3378682"/>
              <a:chOff x="838200" y="2180561"/>
              <a:chExt cx="10650436" cy="3858163"/>
            </a:xfrm>
          </p:grpSpPr>
          <p:pic>
            <p:nvPicPr>
              <p:cNvPr id="9" name="Imagem 3" descr="Diagrama&#10;&#10;O conteúdo gerado por IA pode estar incorreto.">
                <a:extLst>
                  <a:ext uri="{FF2B5EF4-FFF2-40B4-BE49-F238E27FC236}">
                    <a16:creationId xmlns:a16="http://schemas.microsoft.com/office/drawing/2014/main" id="{8287A634-712F-004A-0EBD-CD467E598125}"/>
                  </a:ext>
                </a:extLst>
              </p:cNvPr>
              <p:cNvPicPr>
                <a:picLocks noChangeAspect="1"/>
              </p:cNvPicPr>
              <p:nvPr/>
            </p:nvPicPr>
            <p:blipFill>
              <a:blip r:embed="rId3"/>
              <a:stretch>
                <a:fillRect/>
              </a:stretch>
            </p:blipFill>
            <p:spPr>
              <a:xfrm>
                <a:off x="838200" y="2180561"/>
                <a:ext cx="10650436" cy="3858163"/>
              </a:xfrm>
              <a:prstGeom prst="rect">
                <a:avLst/>
              </a:prstGeom>
            </p:spPr>
          </p:pic>
          <p:sp>
            <p:nvSpPr>
              <p:cNvPr id="10" name="Retângulo 5">
                <a:extLst>
                  <a:ext uri="{FF2B5EF4-FFF2-40B4-BE49-F238E27FC236}">
                    <a16:creationId xmlns:a16="http://schemas.microsoft.com/office/drawing/2014/main" id="{E809E384-0EA5-2963-D514-AFF898A8171E}"/>
                  </a:ext>
                </a:extLst>
              </p:cNvPr>
              <p:cNvSpPr/>
              <p:nvPr/>
            </p:nvSpPr>
            <p:spPr>
              <a:xfrm>
                <a:off x="7913341" y="2289438"/>
                <a:ext cx="1959429" cy="4606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6">
                <a:extLst>
                  <a:ext uri="{FF2B5EF4-FFF2-40B4-BE49-F238E27FC236}">
                    <a16:creationId xmlns:a16="http://schemas.microsoft.com/office/drawing/2014/main" id="{460F72AF-7444-FFCD-7013-5B3DDF4A0088}"/>
                  </a:ext>
                </a:extLst>
              </p:cNvPr>
              <p:cNvSpPr/>
              <p:nvPr/>
            </p:nvSpPr>
            <p:spPr>
              <a:xfrm>
                <a:off x="8511483" y="3485720"/>
                <a:ext cx="1670670" cy="13062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7" name="CaixaDeTexto 8">
              <a:extLst>
                <a:ext uri="{FF2B5EF4-FFF2-40B4-BE49-F238E27FC236}">
                  <a16:creationId xmlns:a16="http://schemas.microsoft.com/office/drawing/2014/main" id="{10D17BD8-D1D8-ED6D-DD06-C7D92512B90D}"/>
                </a:ext>
              </a:extLst>
            </p:cNvPr>
            <p:cNvSpPr txBox="1"/>
            <p:nvPr/>
          </p:nvSpPr>
          <p:spPr>
            <a:xfrm>
              <a:off x="8227416" y="3275677"/>
              <a:ext cx="1658883" cy="416868"/>
            </a:xfrm>
            <a:prstGeom prst="rect">
              <a:avLst/>
            </a:prstGeom>
            <a:noFill/>
          </p:spPr>
          <p:txBody>
            <a:bodyPr wrap="none" rtlCol="0">
              <a:spAutoFit/>
            </a:bodyPr>
            <a:lstStyle/>
            <a:p>
              <a:r>
                <a:rPr lang="pt-BR" dirty="0"/>
                <a:t>Corrente livre</a:t>
              </a:r>
            </a:p>
          </p:txBody>
        </p:sp>
        <p:sp>
          <p:nvSpPr>
            <p:cNvPr id="8" name="CaixaDeTexto 9">
              <a:extLst>
                <a:ext uri="{FF2B5EF4-FFF2-40B4-BE49-F238E27FC236}">
                  <a16:creationId xmlns:a16="http://schemas.microsoft.com/office/drawing/2014/main" id="{A263DBD1-AEFA-8357-87B7-E438ABC797D7}"/>
                </a:ext>
              </a:extLst>
            </p:cNvPr>
            <p:cNvSpPr txBox="1"/>
            <p:nvPr/>
          </p:nvSpPr>
          <p:spPr>
            <a:xfrm>
              <a:off x="8705103" y="4767758"/>
              <a:ext cx="1863175" cy="729520"/>
            </a:xfrm>
            <a:prstGeom prst="rect">
              <a:avLst/>
            </a:prstGeom>
            <a:noFill/>
          </p:spPr>
          <p:txBody>
            <a:bodyPr wrap="square" rtlCol="0">
              <a:spAutoFit/>
            </a:bodyPr>
            <a:lstStyle/>
            <a:p>
              <a:r>
                <a:rPr lang="pt-BR" dirty="0"/>
                <a:t>Camada limite de velocidade</a:t>
              </a:r>
            </a:p>
          </p:txBody>
        </p:sp>
      </p:grpSp>
      <p:sp>
        <p:nvSpPr>
          <p:cNvPr id="13" name="TextBox 12">
            <a:extLst>
              <a:ext uri="{FF2B5EF4-FFF2-40B4-BE49-F238E27FC236}">
                <a16:creationId xmlns:a16="http://schemas.microsoft.com/office/drawing/2014/main" id="{B5869D5D-C5D1-8EA0-4404-E7192413FAC8}"/>
              </a:ext>
            </a:extLst>
          </p:cNvPr>
          <p:cNvSpPr txBox="1"/>
          <p:nvPr/>
        </p:nvSpPr>
        <p:spPr>
          <a:xfrm>
            <a:off x="457200" y="5980776"/>
            <a:ext cx="10716323" cy="318549"/>
          </a:xfrm>
          <a:prstGeom prst="rect">
            <a:avLst/>
          </a:prstGeom>
          <a:noFill/>
        </p:spPr>
        <p:txBody>
          <a:bodyPr wrap="square">
            <a:spAutoFit/>
          </a:bodyPr>
          <a:lstStyle/>
          <a:p>
            <a:pPr>
              <a:lnSpc>
                <a:spcPts val="2000"/>
              </a:lnSpc>
              <a:spcAft>
                <a:spcPts val="600"/>
              </a:spcAft>
              <a:buSzPct val="100000"/>
            </a:pPr>
            <a:r>
              <a:rPr lang="pt-PT" sz="1000" dirty="0">
                <a:solidFill>
                  <a:srgbClr val="182A32"/>
                </a:solidFill>
                <a:latin typeface="Calibri" pitchFamily="34" charset="0"/>
                <a:ea typeface="Calibri" pitchFamily="34" charset="-122"/>
                <a:cs typeface="Calibri" pitchFamily="34" charset="-120"/>
              </a:rPr>
              <a:t>Fonte: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sp>
        <p:nvSpPr>
          <p:cNvPr id="16" name="Rounded Rectangle 15">
            <a:extLst>
              <a:ext uri="{FF2B5EF4-FFF2-40B4-BE49-F238E27FC236}">
                <a16:creationId xmlns:a16="http://schemas.microsoft.com/office/drawing/2014/main" id="{FE12BF9A-FD8A-0F8A-DCB7-C6977A6E9DE9}"/>
              </a:ext>
            </a:extLst>
          </p:cNvPr>
          <p:cNvSpPr/>
          <p:nvPr/>
        </p:nvSpPr>
        <p:spPr>
          <a:xfrm>
            <a:off x="5943600" y="4770473"/>
            <a:ext cx="1166037" cy="439479"/>
          </a:xfrm>
          <a:prstGeom prst="roundRect">
            <a:avLst/>
          </a:prstGeom>
          <a:solidFill>
            <a:srgbClr val="FF0000">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7" name="Rounded Rectangle 16">
            <a:extLst>
              <a:ext uri="{FF2B5EF4-FFF2-40B4-BE49-F238E27FC236}">
                <a16:creationId xmlns:a16="http://schemas.microsoft.com/office/drawing/2014/main" id="{4750D2B6-2C2D-BA9F-48C8-787B3027C15C}"/>
              </a:ext>
            </a:extLst>
          </p:cNvPr>
          <p:cNvSpPr/>
          <p:nvPr/>
        </p:nvSpPr>
        <p:spPr>
          <a:xfrm>
            <a:off x="6102355" y="2988636"/>
            <a:ext cx="1166037" cy="439479"/>
          </a:xfrm>
          <a:prstGeom prst="roundRect">
            <a:avLst/>
          </a:prstGeom>
          <a:solidFill>
            <a:srgbClr val="FF0000">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mc:AlternateContent xmlns:mc="http://schemas.openxmlformats.org/markup-compatibility/2006">
        <mc:Choice xmlns:a14="http://schemas.microsoft.com/office/drawing/2010/main" Requires="a14">
          <p:sp>
            <p:nvSpPr>
              <p:cNvPr id="18" name="Text 2">
                <a:extLst>
                  <a:ext uri="{FF2B5EF4-FFF2-40B4-BE49-F238E27FC236}">
                    <a16:creationId xmlns:a16="http://schemas.microsoft.com/office/drawing/2014/main" id="{4ABDFA0F-1570-E848-9D62-2F43AC6676F0}"/>
                  </a:ext>
                </a:extLst>
              </p:cNvPr>
              <p:cNvSpPr/>
              <p:nvPr/>
            </p:nvSpPr>
            <p:spPr>
              <a:xfrm>
                <a:off x="655320" y="1382773"/>
                <a:ext cx="10881360" cy="822960"/>
              </a:xfrm>
              <a:prstGeom prst="rect">
                <a:avLst/>
              </a:prstGeom>
              <a:noFill/>
              <a:ln/>
            </p:spPr>
            <p:txBody>
              <a:bodyPr wrap="square" rtlCol="0" anchor="ctr"/>
              <a:lstStyle/>
              <a:p>
                <a:pPr>
                  <a:lnSpc>
                    <a:spcPts val="1900"/>
                  </a:lnSpc>
                </a:pPr>
                <a:r>
                  <a:rPr lang="pt-PT" sz="1400" noProof="0" dirty="0">
                    <a:solidFill>
                      <a:srgbClr val="182A32"/>
                    </a:solidFill>
                    <a:latin typeface="Calibri" pitchFamily="34" charset="0"/>
                    <a:ea typeface="Calibri" pitchFamily="34" charset="-122"/>
                    <a:cs typeface="Calibri" pitchFamily="34" charset="-120"/>
                  </a:rPr>
                  <a:t>Região próxima à superfície onde a velocidade do fluido varia de </a:t>
                </a:r>
                <a:r>
                  <a:rPr lang="pt-PT" sz="1400" b="1" noProof="0" dirty="0">
                    <a:solidFill>
                      <a:srgbClr val="E8602C"/>
                    </a:solidFill>
                    <a:latin typeface="Calibri" pitchFamily="34" charset="0"/>
                    <a:ea typeface="Calibri" pitchFamily="34" charset="-122"/>
                    <a:cs typeface="Calibri" pitchFamily="34" charset="-120"/>
                  </a:rPr>
                  <a:t>zero</a:t>
                </a:r>
                <a:r>
                  <a:rPr lang="pt-PT" sz="1400" noProof="0" dirty="0">
                    <a:solidFill>
                      <a:srgbClr val="182A32"/>
                    </a:solidFill>
                    <a:latin typeface="Calibri" pitchFamily="34" charset="0"/>
                    <a:ea typeface="Calibri" pitchFamily="34" charset="-122"/>
                    <a:cs typeface="Calibri" pitchFamily="34" charset="-120"/>
                  </a:rPr>
                  <a:t> (na parede — condição de não escorregamento) até 99% do valor da </a:t>
                </a:r>
                <a:r>
                  <a:rPr lang="pt-PT" sz="1400" b="1" noProof="0" dirty="0">
                    <a:solidFill>
                      <a:srgbClr val="065A82"/>
                    </a:solidFill>
                    <a:latin typeface="Calibri" pitchFamily="34" charset="0"/>
                    <a:ea typeface="Calibri" pitchFamily="34" charset="-122"/>
                    <a:cs typeface="Calibri" pitchFamily="34" charset="-120"/>
                  </a:rPr>
                  <a:t>corrente livre</a:t>
                </a:r>
                <a:r>
                  <a:rPr lang="pt-PT" sz="1400" noProof="0" dirty="0">
                    <a:solidFill>
                      <a:srgbClr val="182A32"/>
                    </a:solidFill>
                    <a:latin typeface="Calibri" pitchFamily="34" charset="0"/>
                    <a:ea typeface="Calibri" pitchFamily="34" charset="-122"/>
                    <a:cs typeface="Calibri" pitchFamily="34" charset="-120"/>
                  </a:rPr>
                  <a:t> (</a:t>
                </a:r>
                <a14:m>
                  <m:oMath xmlns:m="http://schemas.openxmlformats.org/officeDocument/2006/math">
                    <m:sSub>
                      <m:sSubPr>
                        <m:ctrlPr>
                          <a:rPr lang="en-BR" sz="1400" i="1" smtClean="0">
                            <a:solidFill>
                              <a:schemeClr val="tx1"/>
                            </a:solidFill>
                            <a:latin typeface="Cambria Math" panose="02040503050406030204" pitchFamily="18" charset="0"/>
                          </a:rPr>
                        </m:ctrlPr>
                      </m:sSubPr>
                      <m:e>
                        <m:r>
                          <a:rPr lang="pt-BR" sz="1400" i="1">
                            <a:solidFill>
                              <a:schemeClr val="tx1"/>
                            </a:solidFill>
                            <a:latin typeface="Cambria Math" panose="02040503050406030204" pitchFamily="18" charset="0"/>
                          </a:rPr>
                          <m:t>𝑢</m:t>
                        </m:r>
                      </m:e>
                      <m:sub>
                        <m:r>
                          <a:rPr lang="en-BR" sz="1400" i="1">
                            <a:solidFill>
                              <a:schemeClr val="tx1"/>
                            </a:solidFill>
                            <a:latin typeface="Cambria Math" panose="02040503050406030204" pitchFamily="18" charset="0"/>
                            <a:ea typeface="Cambria Math" panose="02040503050406030204" pitchFamily="18" charset="0"/>
                          </a:rPr>
                          <m:t>∞</m:t>
                        </m:r>
                      </m:sub>
                    </m:sSub>
                  </m:oMath>
                </a14:m>
                <a:r>
                  <a:rPr lang="pt-PT" sz="1400" noProof="0" dirty="0">
                    <a:solidFill>
                      <a:srgbClr val="182A32"/>
                    </a:solidFill>
                    <a:latin typeface="Calibri" pitchFamily="34" charset="0"/>
                    <a:ea typeface="Calibri" pitchFamily="34" charset="-122"/>
                    <a:cs typeface="Calibri" pitchFamily="34" charset="-120"/>
                  </a:rPr>
                  <a:t>), a uma distância </a:t>
                </a:r>
                <a:r>
                  <a:rPr lang="pt-PT" sz="1400" noProof="0" dirty="0" err="1">
                    <a:solidFill>
                      <a:srgbClr val="182A32"/>
                    </a:solidFill>
                    <a:latin typeface="Calibri" pitchFamily="34" charset="0"/>
                    <a:ea typeface="Calibri" pitchFamily="34" charset="-122"/>
                    <a:cs typeface="Calibri" pitchFamily="34" charset="-120"/>
                  </a:rPr>
                  <a:t>δ</a:t>
                </a:r>
                <a:r>
                  <a:rPr lang="pt-PT" sz="1400" noProof="0" dirty="0">
                    <a:solidFill>
                      <a:srgbClr val="182A32"/>
                    </a:solidFill>
                    <a:latin typeface="Calibri" pitchFamily="34" charset="0"/>
                    <a:ea typeface="Calibri" pitchFamily="34" charset="-122"/>
                    <a:cs typeface="Calibri" pitchFamily="34" charset="-120"/>
                  </a:rPr>
                  <a:t> da superfície.</a:t>
                </a:r>
                <a:endParaRPr lang="pt-PT" sz="1400" noProof="0" dirty="0"/>
              </a:p>
            </p:txBody>
          </p:sp>
        </mc:Choice>
        <mc:Fallback>
          <p:sp>
            <p:nvSpPr>
              <p:cNvPr id="18" name="Text 2">
                <a:extLst>
                  <a:ext uri="{FF2B5EF4-FFF2-40B4-BE49-F238E27FC236}">
                    <a16:creationId xmlns:a16="http://schemas.microsoft.com/office/drawing/2014/main" id="{4ABDFA0F-1570-E848-9D62-2F43AC6676F0}"/>
                  </a:ext>
                </a:extLst>
              </p:cNvPr>
              <p:cNvSpPr>
                <a:spLocks noRot="1" noChangeAspect="1" noMove="1" noResize="1" noEditPoints="1" noAdjustHandles="1" noChangeArrowheads="1" noChangeShapeType="1" noTextEdit="1"/>
              </p:cNvSpPr>
              <p:nvPr/>
            </p:nvSpPr>
            <p:spPr>
              <a:xfrm>
                <a:off x="655320" y="1382773"/>
                <a:ext cx="10881360" cy="822960"/>
              </a:xfrm>
              <a:prstGeom prst="rect">
                <a:avLst/>
              </a:prstGeom>
              <a:blipFill>
                <a:blip r:embed="rId4"/>
                <a:stretch>
                  <a:fillRect l="-233"/>
                </a:stretch>
              </a:blipFill>
              <a:ln/>
            </p:spPr>
            <p:txBody>
              <a:bodyPr/>
              <a:lstStyle/>
              <a:p>
                <a:r>
                  <a:rPr lang="en-BR">
                    <a:noFill/>
                  </a:rPr>
                  <a:t> </a:t>
                </a:r>
              </a:p>
            </p:txBody>
          </p:sp>
        </mc:Fallback>
      </mc:AlternateContent>
    </p:spTree>
    <p:extLst>
      <p:ext uri="{BB962C8B-B14F-4D97-AF65-F5344CB8AC3E}">
        <p14:creationId xmlns:p14="http://schemas.microsoft.com/office/powerpoint/2010/main" val="1267377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CB38DE3-D6BF-CF94-03C4-69E65B6B096A}"/>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D53B621-2847-2788-FDAB-5274D87BCE7F}"/>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CAMADA LIMITE</a:t>
            </a:r>
            <a:endParaRPr lang="pt-PT" sz="1300" noProof="0" dirty="0"/>
          </a:p>
        </p:txBody>
      </p:sp>
      <p:sp>
        <p:nvSpPr>
          <p:cNvPr id="4" name="Text 1">
            <a:extLst>
              <a:ext uri="{FF2B5EF4-FFF2-40B4-BE49-F238E27FC236}">
                <a16:creationId xmlns:a16="http://schemas.microsoft.com/office/drawing/2014/main" id="{C27D98B1-EBAB-2D9C-E20A-E80311AA8493}"/>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Camada-limite hidrodinâmica</a:t>
            </a:r>
            <a:endParaRPr lang="pt-PT" sz="3200" noProof="0" dirty="0"/>
          </a:p>
        </p:txBody>
      </p:sp>
      <mc:AlternateContent xmlns:mc="http://schemas.openxmlformats.org/markup-compatibility/2006">
        <mc:Choice xmlns:a14="http://schemas.microsoft.com/office/drawing/2010/main" Requires="a14">
          <p:sp>
            <p:nvSpPr>
              <p:cNvPr id="5" name="Text 2">
                <a:extLst>
                  <a:ext uri="{FF2B5EF4-FFF2-40B4-BE49-F238E27FC236}">
                    <a16:creationId xmlns:a16="http://schemas.microsoft.com/office/drawing/2014/main" id="{7F71FBF0-5034-0FD9-4244-35B84A43DBE7}"/>
                  </a:ext>
                </a:extLst>
              </p:cNvPr>
              <p:cNvSpPr/>
              <p:nvPr/>
            </p:nvSpPr>
            <p:spPr>
              <a:xfrm>
                <a:off x="655320" y="1382773"/>
                <a:ext cx="10881360" cy="822960"/>
              </a:xfrm>
              <a:prstGeom prst="rect">
                <a:avLst/>
              </a:prstGeom>
              <a:noFill/>
              <a:ln/>
            </p:spPr>
            <p:txBody>
              <a:bodyPr wrap="square" rtlCol="0" anchor="ctr"/>
              <a:lstStyle/>
              <a:p>
                <a:pPr>
                  <a:lnSpc>
                    <a:spcPts val="1900"/>
                  </a:lnSpc>
                </a:pPr>
                <a:r>
                  <a:rPr lang="pt-PT" sz="1400" noProof="0" dirty="0">
                    <a:solidFill>
                      <a:srgbClr val="182A32"/>
                    </a:solidFill>
                    <a:latin typeface="Calibri" pitchFamily="34" charset="0"/>
                    <a:ea typeface="Calibri" pitchFamily="34" charset="-122"/>
                    <a:cs typeface="Calibri" pitchFamily="34" charset="-120"/>
                  </a:rPr>
                  <a:t>Região próxima à superfície onde a velocidade do fluido varia de </a:t>
                </a:r>
                <a:r>
                  <a:rPr lang="pt-PT" sz="1400" b="1" noProof="0" dirty="0">
                    <a:solidFill>
                      <a:srgbClr val="E8602C"/>
                    </a:solidFill>
                    <a:latin typeface="Calibri" pitchFamily="34" charset="0"/>
                    <a:ea typeface="Calibri" pitchFamily="34" charset="-122"/>
                    <a:cs typeface="Calibri" pitchFamily="34" charset="-120"/>
                  </a:rPr>
                  <a:t>zero</a:t>
                </a:r>
                <a:r>
                  <a:rPr lang="pt-PT" sz="1400" noProof="0" dirty="0">
                    <a:solidFill>
                      <a:srgbClr val="182A32"/>
                    </a:solidFill>
                    <a:latin typeface="Calibri" pitchFamily="34" charset="0"/>
                    <a:ea typeface="Calibri" pitchFamily="34" charset="-122"/>
                    <a:cs typeface="Calibri" pitchFamily="34" charset="-120"/>
                  </a:rPr>
                  <a:t> (na parede — condição de não escorregamento) até 99% do valor da </a:t>
                </a:r>
                <a:r>
                  <a:rPr lang="pt-PT" sz="1400" b="1" noProof="0" dirty="0">
                    <a:solidFill>
                      <a:srgbClr val="065A82"/>
                    </a:solidFill>
                    <a:latin typeface="Calibri" pitchFamily="34" charset="0"/>
                    <a:ea typeface="Calibri" pitchFamily="34" charset="-122"/>
                    <a:cs typeface="Calibri" pitchFamily="34" charset="-120"/>
                  </a:rPr>
                  <a:t>corrente livre</a:t>
                </a:r>
                <a:r>
                  <a:rPr lang="pt-PT" sz="1400" noProof="0" dirty="0">
                    <a:solidFill>
                      <a:srgbClr val="182A32"/>
                    </a:solidFill>
                    <a:latin typeface="Calibri" pitchFamily="34" charset="0"/>
                    <a:ea typeface="Calibri" pitchFamily="34" charset="-122"/>
                    <a:cs typeface="Calibri" pitchFamily="34" charset="-120"/>
                  </a:rPr>
                  <a:t> (</a:t>
                </a:r>
                <a14:m>
                  <m:oMath xmlns:m="http://schemas.openxmlformats.org/officeDocument/2006/math">
                    <m:sSub>
                      <m:sSubPr>
                        <m:ctrlPr>
                          <a:rPr lang="en-BR" sz="1400" i="1" smtClean="0">
                            <a:solidFill>
                              <a:schemeClr val="tx1"/>
                            </a:solidFill>
                            <a:latin typeface="Cambria Math" panose="02040503050406030204" pitchFamily="18" charset="0"/>
                          </a:rPr>
                        </m:ctrlPr>
                      </m:sSubPr>
                      <m:e>
                        <m:r>
                          <a:rPr lang="pt-BR" sz="1400" i="1">
                            <a:solidFill>
                              <a:schemeClr val="tx1"/>
                            </a:solidFill>
                            <a:latin typeface="Cambria Math" panose="02040503050406030204" pitchFamily="18" charset="0"/>
                          </a:rPr>
                          <m:t>𝑢</m:t>
                        </m:r>
                      </m:e>
                      <m:sub>
                        <m:r>
                          <a:rPr lang="en-BR" sz="1400" i="1">
                            <a:solidFill>
                              <a:schemeClr val="tx1"/>
                            </a:solidFill>
                            <a:latin typeface="Cambria Math" panose="02040503050406030204" pitchFamily="18" charset="0"/>
                            <a:ea typeface="Cambria Math" panose="02040503050406030204" pitchFamily="18" charset="0"/>
                          </a:rPr>
                          <m:t>∞</m:t>
                        </m:r>
                      </m:sub>
                    </m:sSub>
                  </m:oMath>
                </a14:m>
                <a:r>
                  <a:rPr lang="pt-PT" sz="1400" noProof="0" dirty="0">
                    <a:solidFill>
                      <a:srgbClr val="182A32"/>
                    </a:solidFill>
                    <a:latin typeface="Calibri" pitchFamily="34" charset="0"/>
                    <a:ea typeface="Calibri" pitchFamily="34" charset="-122"/>
                    <a:cs typeface="Calibri" pitchFamily="34" charset="-120"/>
                  </a:rPr>
                  <a:t>), a uma distância </a:t>
                </a:r>
                <a:r>
                  <a:rPr lang="pt-PT" sz="1400" noProof="0" dirty="0" err="1">
                    <a:solidFill>
                      <a:srgbClr val="182A32"/>
                    </a:solidFill>
                    <a:latin typeface="Calibri" pitchFamily="34" charset="0"/>
                    <a:ea typeface="Calibri" pitchFamily="34" charset="-122"/>
                    <a:cs typeface="Calibri" pitchFamily="34" charset="-120"/>
                  </a:rPr>
                  <a:t>δ</a:t>
                </a:r>
                <a:r>
                  <a:rPr lang="pt-PT" sz="1400" noProof="0" dirty="0">
                    <a:solidFill>
                      <a:srgbClr val="182A32"/>
                    </a:solidFill>
                    <a:latin typeface="Calibri" pitchFamily="34" charset="0"/>
                    <a:ea typeface="Calibri" pitchFamily="34" charset="-122"/>
                    <a:cs typeface="Calibri" pitchFamily="34" charset="-120"/>
                  </a:rPr>
                  <a:t> da superfície.</a:t>
                </a:r>
                <a:endParaRPr lang="pt-PT" sz="1400" noProof="0" dirty="0"/>
              </a:p>
            </p:txBody>
          </p:sp>
        </mc:Choice>
        <mc:Fallback>
          <p:sp>
            <p:nvSpPr>
              <p:cNvPr id="5" name="Text 2">
                <a:extLst>
                  <a:ext uri="{FF2B5EF4-FFF2-40B4-BE49-F238E27FC236}">
                    <a16:creationId xmlns:a16="http://schemas.microsoft.com/office/drawing/2014/main" id="{7F71FBF0-5034-0FD9-4244-35B84A43DBE7}"/>
                  </a:ext>
                </a:extLst>
              </p:cNvPr>
              <p:cNvSpPr>
                <a:spLocks noRot="1" noChangeAspect="1" noMove="1" noResize="1" noEditPoints="1" noAdjustHandles="1" noChangeArrowheads="1" noChangeShapeType="1" noTextEdit="1"/>
              </p:cNvSpPr>
              <p:nvPr/>
            </p:nvSpPr>
            <p:spPr>
              <a:xfrm>
                <a:off x="655320" y="1382773"/>
                <a:ext cx="10881360" cy="822960"/>
              </a:xfrm>
              <a:prstGeom prst="rect">
                <a:avLst/>
              </a:prstGeom>
              <a:blipFill>
                <a:blip r:embed="rId3"/>
                <a:stretch>
                  <a:fillRect l="-233"/>
                </a:stretch>
              </a:blipFill>
              <a:ln/>
            </p:spPr>
            <p:txBody>
              <a:bodyPr/>
              <a:lstStyle/>
              <a:p>
                <a:r>
                  <a:rPr lang="en-BR">
                    <a:noFill/>
                  </a:rPr>
                  <a:t> </a:t>
                </a:r>
              </a:p>
            </p:txBody>
          </p:sp>
        </mc:Fallback>
      </mc:AlternateContent>
      <p:sp>
        <p:nvSpPr>
          <p:cNvPr id="20" name="Text 17">
            <a:extLst>
              <a:ext uri="{FF2B5EF4-FFF2-40B4-BE49-F238E27FC236}">
                <a16:creationId xmlns:a16="http://schemas.microsoft.com/office/drawing/2014/main" id="{C2D4D859-29E6-7D34-A952-3833BA73ECF4}"/>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a:extLst>
              <a:ext uri="{FF2B5EF4-FFF2-40B4-BE49-F238E27FC236}">
                <a16:creationId xmlns:a16="http://schemas.microsoft.com/office/drawing/2014/main" id="{CA37A878-6BFC-EFE9-9870-B100AEFB353B}"/>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3 · Camada limite</a:t>
            </a:r>
            <a:endParaRPr lang="pt-PT" sz="950" noProof="0" dirty="0"/>
          </a:p>
        </p:txBody>
      </p:sp>
      <p:sp>
        <p:nvSpPr>
          <p:cNvPr id="22" name="Text 19">
            <a:extLst>
              <a:ext uri="{FF2B5EF4-FFF2-40B4-BE49-F238E27FC236}">
                <a16:creationId xmlns:a16="http://schemas.microsoft.com/office/drawing/2014/main" id="{BF2B97C4-EB22-62ED-FF60-A1BD4DC62AD9}"/>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dirty="0">
                <a:solidFill>
                  <a:srgbClr val="57707A"/>
                </a:solidFill>
                <a:latin typeface="Calibri" pitchFamily="34" charset="0"/>
                <a:cs typeface="Calibri" pitchFamily="34" charset="-120"/>
              </a:rPr>
              <a:t>6</a:t>
            </a:r>
            <a:endParaRPr lang="pt-PT" sz="950" noProof="0" dirty="0"/>
          </a:p>
        </p:txBody>
      </p:sp>
      <p:grpSp>
        <p:nvGrpSpPr>
          <p:cNvPr id="2" name="Agrupar 10">
            <a:extLst>
              <a:ext uri="{FF2B5EF4-FFF2-40B4-BE49-F238E27FC236}">
                <a16:creationId xmlns:a16="http://schemas.microsoft.com/office/drawing/2014/main" id="{8D8C2659-F970-08B5-1D64-B0BE9FDD9BF5}"/>
              </a:ext>
            </a:extLst>
          </p:cNvPr>
          <p:cNvGrpSpPr/>
          <p:nvPr/>
        </p:nvGrpSpPr>
        <p:grpSpPr>
          <a:xfrm>
            <a:off x="866077" y="2852928"/>
            <a:ext cx="9945358" cy="3291840"/>
            <a:chOff x="1773798" y="3251964"/>
            <a:chExt cx="9714838" cy="3378682"/>
          </a:xfrm>
        </p:grpSpPr>
        <p:grpSp>
          <p:nvGrpSpPr>
            <p:cNvPr id="6" name="Agrupar 7">
              <a:extLst>
                <a:ext uri="{FF2B5EF4-FFF2-40B4-BE49-F238E27FC236}">
                  <a16:creationId xmlns:a16="http://schemas.microsoft.com/office/drawing/2014/main" id="{5093A4D6-F438-9B5B-2DC8-8C91D3940748}"/>
                </a:ext>
              </a:extLst>
            </p:cNvPr>
            <p:cNvGrpSpPr/>
            <p:nvPr/>
          </p:nvGrpSpPr>
          <p:grpSpPr>
            <a:xfrm>
              <a:off x="1773798" y="3251964"/>
              <a:ext cx="9714838" cy="3378682"/>
              <a:chOff x="838200" y="2180561"/>
              <a:chExt cx="10650436" cy="3858163"/>
            </a:xfrm>
          </p:grpSpPr>
          <p:pic>
            <p:nvPicPr>
              <p:cNvPr id="9" name="Imagem 3" descr="Diagrama&#10;&#10;O conteúdo gerado por IA pode estar incorreto.">
                <a:extLst>
                  <a:ext uri="{FF2B5EF4-FFF2-40B4-BE49-F238E27FC236}">
                    <a16:creationId xmlns:a16="http://schemas.microsoft.com/office/drawing/2014/main" id="{44F0CFED-220C-A54F-3B72-77CCA2820788}"/>
                  </a:ext>
                </a:extLst>
              </p:cNvPr>
              <p:cNvPicPr>
                <a:picLocks noChangeAspect="1"/>
              </p:cNvPicPr>
              <p:nvPr/>
            </p:nvPicPr>
            <p:blipFill>
              <a:blip r:embed="rId4"/>
              <a:stretch>
                <a:fillRect/>
              </a:stretch>
            </p:blipFill>
            <p:spPr>
              <a:xfrm>
                <a:off x="838200" y="2180561"/>
                <a:ext cx="10650436" cy="3858163"/>
              </a:xfrm>
              <a:prstGeom prst="rect">
                <a:avLst/>
              </a:prstGeom>
            </p:spPr>
          </p:pic>
          <p:sp>
            <p:nvSpPr>
              <p:cNvPr id="10" name="Retângulo 5">
                <a:extLst>
                  <a:ext uri="{FF2B5EF4-FFF2-40B4-BE49-F238E27FC236}">
                    <a16:creationId xmlns:a16="http://schemas.microsoft.com/office/drawing/2014/main" id="{2F2E4AE7-864B-0C52-F686-D598BDBC98C2}"/>
                  </a:ext>
                </a:extLst>
              </p:cNvPr>
              <p:cNvSpPr/>
              <p:nvPr/>
            </p:nvSpPr>
            <p:spPr>
              <a:xfrm>
                <a:off x="7913341" y="2289438"/>
                <a:ext cx="1959429" cy="4606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6">
                <a:extLst>
                  <a:ext uri="{FF2B5EF4-FFF2-40B4-BE49-F238E27FC236}">
                    <a16:creationId xmlns:a16="http://schemas.microsoft.com/office/drawing/2014/main" id="{7C699056-B806-3F7C-FD81-699BB98334A4}"/>
                  </a:ext>
                </a:extLst>
              </p:cNvPr>
              <p:cNvSpPr/>
              <p:nvPr/>
            </p:nvSpPr>
            <p:spPr>
              <a:xfrm>
                <a:off x="8511483" y="3485720"/>
                <a:ext cx="1670670" cy="13062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7" name="CaixaDeTexto 8">
              <a:extLst>
                <a:ext uri="{FF2B5EF4-FFF2-40B4-BE49-F238E27FC236}">
                  <a16:creationId xmlns:a16="http://schemas.microsoft.com/office/drawing/2014/main" id="{F26B84E3-9723-A073-B48A-8BE0176DD26A}"/>
                </a:ext>
              </a:extLst>
            </p:cNvPr>
            <p:cNvSpPr txBox="1"/>
            <p:nvPr/>
          </p:nvSpPr>
          <p:spPr>
            <a:xfrm>
              <a:off x="8227416" y="3275677"/>
              <a:ext cx="1658883" cy="416868"/>
            </a:xfrm>
            <a:prstGeom prst="rect">
              <a:avLst/>
            </a:prstGeom>
            <a:noFill/>
          </p:spPr>
          <p:txBody>
            <a:bodyPr wrap="none" rtlCol="0">
              <a:spAutoFit/>
            </a:bodyPr>
            <a:lstStyle/>
            <a:p>
              <a:r>
                <a:rPr lang="pt-BR" dirty="0"/>
                <a:t>Corrente livre</a:t>
              </a:r>
            </a:p>
          </p:txBody>
        </p:sp>
        <p:sp>
          <p:nvSpPr>
            <p:cNvPr id="8" name="CaixaDeTexto 9">
              <a:extLst>
                <a:ext uri="{FF2B5EF4-FFF2-40B4-BE49-F238E27FC236}">
                  <a16:creationId xmlns:a16="http://schemas.microsoft.com/office/drawing/2014/main" id="{A8691210-C9C1-C141-5419-F69F47CE5358}"/>
                </a:ext>
              </a:extLst>
            </p:cNvPr>
            <p:cNvSpPr txBox="1"/>
            <p:nvPr/>
          </p:nvSpPr>
          <p:spPr>
            <a:xfrm>
              <a:off x="8705103" y="4767758"/>
              <a:ext cx="1863175" cy="729520"/>
            </a:xfrm>
            <a:prstGeom prst="rect">
              <a:avLst/>
            </a:prstGeom>
            <a:noFill/>
          </p:spPr>
          <p:txBody>
            <a:bodyPr wrap="square" rtlCol="0">
              <a:spAutoFit/>
            </a:bodyPr>
            <a:lstStyle/>
            <a:p>
              <a:r>
                <a:rPr lang="pt-BR" dirty="0"/>
                <a:t>Camada limite de velocidade</a:t>
              </a:r>
            </a:p>
          </p:txBody>
        </p:sp>
      </p:grpSp>
      <p:sp>
        <p:nvSpPr>
          <p:cNvPr id="13" name="TextBox 12">
            <a:extLst>
              <a:ext uri="{FF2B5EF4-FFF2-40B4-BE49-F238E27FC236}">
                <a16:creationId xmlns:a16="http://schemas.microsoft.com/office/drawing/2014/main" id="{FC8BBEFA-0502-EA1F-BB9A-5254A2EBD996}"/>
              </a:ext>
            </a:extLst>
          </p:cNvPr>
          <p:cNvSpPr txBox="1"/>
          <p:nvPr/>
        </p:nvSpPr>
        <p:spPr>
          <a:xfrm>
            <a:off x="457200" y="5980776"/>
            <a:ext cx="10716323" cy="318549"/>
          </a:xfrm>
          <a:prstGeom prst="rect">
            <a:avLst/>
          </a:prstGeom>
          <a:noFill/>
        </p:spPr>
        <p:txBody>
          <a:bodyPr wrap="square">
            <a:spAutoFit/>
          </a:bodyPr>
          <a:lstStyle/>
          <a:p>
            <a:pPr>
              <a:lnSpc>
                <a:spcPts val="2000"/>
              </a:lnSpc>
              <a:spcAft>
                <a:spcPts val="600"/>
              </a:spcAft>
              <a:buSzPct val="100000"/>
            </a:pPr>
            <a:r>
              <a:rPr lang="pt-PT" sz="1000" dirty="0">
                <a:solidFill>
                  <a:srgbClr val="182A32"/>
                </a:solidFill>
                <a:latin typeface="Calibri" pitchFamily="34" charset="0"/>
                <a:ea typeface="Calibri" pitchFamily="34" charset="-122"/>
                <a:cs typeface="Calibri" pitchFamily="34" charset="-120"/>
              </a:rPr>
              <a:t>Fonte: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sp>
        <p:nvSpPr>
          <p:cNvPr id="17" name="Rounded Rectangle 16">
            <a:extLst>
              <a:ext uri="{FF2B5EF4-FFF2-40B4-BE49-F238E27FC236}">
                <a16:creationId xmlns:a16="http://schemas.microsoft.com/office/drawing/2014/main" id="{D9B44194-5993-2902-E731-63656A8FB87E}"/>
              </a:ext>
            </a:extLst>
          </p:cNvPr>
          <p:cNvSpPr/>
          <p:nvPr/>
        </p:nvSpPr>
        <p:spPr>
          <a:xfrm>
            <a:off x="7955280" y="4356741"/>
            <a:ext cx="1825325" cy="683790"/>
          </a:xfrm>
          <a:prstGeom prst="roundRect">
            <a:avLst/>
          </a:prstGeom>
          <a:solidFill>
            <a:srgbClr val="FF0000">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1263241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4D94E3F-B987-056A-0B33-CF9EDBF1DFFB}"/>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929274C-EAF3-D9A6-C062-235B827B9E83}"/>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CAMADA LIMITE</a:t>
            </a:r>
            <a:endParaRPr lang="pt-PT" sz="1300" noProof="0" dirty="0"/>
          </a:p>
        </p:txBody>
      </p:sp>
      <p:sp>
        <p:nvSpPr>
          <p:cNvPr id="4" name="Text 1">
            <a:extLst>
              <a:ext uri="{FF2B5EF4-FFF2-40B4-BE49-F238E27FC236}">
                <a16:creationId xmlns:a16="http://schemas.microsoft.com/office/drawing/2014/main" id="{7895E98B-7212-40FB-DFA3-DE6C90540882}"/>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Camada-limite hidrodinâmica</a:t>
            </a:r>
            <a:endParaRPr lang="pt-PT" sz="3200" noProof="0" dirty="0"/>
          </a:p>
        </p:txBody>
      </p:sp>
      <mc:AlternateContent xmlns:mc="http://schemas.openxmlformats.org/markup-compatibility/2006">
        <mc:Choice xmlns:a14="http://schemas.microsoft.com/office/drawing/2010/main" Requires="a14">
          <p:sp>
            <p:nvSpPr>
              <p:cNvPr id="5" name="Text 2">
                <a:extLst>
                  <a:ext uri="{FF2B5EF4-FFF2-40B4-BE49-F238E27FC236}">
                    <a16:creationId xmlns:a16="http://schemas.microsoft.com/office/drawing/2014/main" id="{00DF90F9-BF5B-80F6-FE07-6C9DD96D103D}"/>
                  </a:ext>
                </a:extLst>
              </p:cNvPr>
              <p:cNvSpPr/>
              <p:nvPr/>
            </p:nvSpPr>
            <p:spPr>
              <a:xfrm>
                <a:off x="655320" y="1382773"/>
                <a:ext cx="10881360" cy="822960"/>
              </a:xfrm>
              <a:prstGeom prst="rect">
                <a:avLst/>
              </a:prstGeom>
              <a:noFill/>
              <a:ln/>
            </p:spPr>
            <p:txBody>
              <a:bodyPr wrap="square" rtlCol="0" anchor="ctr"/>
              <a:lstStyle/>
              <a:p>
                <a:pPr>
                  <a:lnSpc>
                    <a:spcPts val="1900"/>
                  </a:lnSpc>
                </a:pPr>
                <a:r>
                  <a:rPr lang="pt-PT" sz="1400" noProof="0" dirty="0">
                    <a:solidFill>
                      <a:srgbClr val="182A32"/>
                    </a:solidFill>
                    <a:latin typeface="Calibri" pitchFamily="34" charset="0"/>
                    <a:ea typeface="Calibri" pitchFamily="34" charset="-122"/>
                    <a:cs typeface="Calibri" pitchFamily="34" charset="-120"/>
                  </a:rPr>
                  <a:t>Região próxima à superfície onde a velocidade do fluido varia de </a:t>
                </a:r>
                <a:r>
                  <a:rPr lang="pt-PT" sz="1400" b="1" noProof="0" dirty="0">
                    <a:solidFill>
                      <a:srgbClr val="E8602C"/>
                    </a:solidFill>
                    <a:latin typeface="Calibri" pitchFamily="34" charset="0"/>
                    <a:ea typeface="Calibri" pitchFamily="34" charset="-122"/>
                    <a:cs typeface="Calibri" pitchFamily="34" charset="-120"/>
                  </a:rPr>
                  <a:t>zero</a:t>
                </a:r>
                <a:r>
                  <a:rPr lang="pt-PT" sz="1400" noProof="0" dirty="0">
                    <a:solidFill>
                      <a:srgbClr val="182A32"/>
                    </a:solidFill>
                    <a:latin typeface="Calibri" pitchFamily="34" charset="0"/>
                    <a:ea typeface="Calibri" pitchFamily="34" charset="-122"/>
                    <a:cs typeface="Calibri" pitchFamily="34" charset="-120"/>
                  </a:rPr>
                  <a:t> (na parede — condição de não escorregamento) até 99% do valor da </a:t>
                </a:r>
                <a:r>
                  <a:rPr lang="pt-PT" sz="1400" b="1" noProof="0" dirty="0">
                    <a:solidFill>
                      <a:srgbClr val="065A82"/>
                    </a:solidFill>
                    <a:latin typeface="Calibri" pitchFamily="34" charset="0"/>
                    <a:ea typeface="Calibri" pitchFamily="34" charset="-122"/>
                    <a:cs typeface="Calibri" pitchFamily="34" charset="-120"/>
                  </a:rPr>
                  <a:t>corrente livre</a:t>
                </a:r>
                <a:r>
                  <a:rPr lang="pt-PT" sz="1400" noProof="0" dirty="0">
                    <a:solidFill>
                      <a:srgbClr val="182A32"/>
                    </a:solidFill>
                    <a:latin typeface="Calibri" pitchFamily="34" charset="0"/>
                    <a:ea typeface="Calibri" pitchFamily="34" charset="-122"/>
                    <a:cs typeface="Calibri" pitchFamily="34" charset="-120"/>
                  </a:rPr>
                  <a:t> (</a:t>
                </a:r>
                <a14:m>
                  <m:oMath xmlns:m="http://schemas.openxmlformats.org/officeDocument/2006/math">
                    <m:sSub>
                      <m:sSubPr>
                        <m:ctrlPr>
                          <a:rPr lang="en-BR" sz="1400" i="1" smtClean="0">
                            <a:solidFill>
                              <a:schemeClr val="tx1"/>
                            </a:solidFill>
                            <a:latin typeface="Cambria Math" panose="02040503050406030204" pitchFamily="18" charset="0"/>
                          </a:rPr>
                        </m:ctrlPr>
                      </m:sSubPr>
                      <m:e>
                        <m:r>
                          <a:rPr lang="pt-BR" sz="1400" i="1">
                            <a:solidFill>
                              <a:schemeClr val="tx1"/>
                            </a:solidFill>
                            <a:latin typeface="Cambria Math" panose="02040503050406030204" pitchFamily="18" charset="0"/>
                          </a:rPr>
                          <m:t>𝑢</m:t>
                        </m:r>
                      </m:e>
                      <m:sub>
                        <m:r>
                          <a:rPr lang="en-BR" sz="1400" i="1">
                            <a:solidFill>
                              <a:schemeClr val="tx1"/>
                            </a:solidFill>
                            <a:latin typeface="Cambria Math" panose="02040503050406030204" pitchFamily="18" charset="0"/>
                            <a:ea typeface="Cambria Math" panose="02040503050406030204" pitchFamily="18" charset="0"/>
                          </a:rPr>
                          <m:t>∞</m:t>
                        </m:r>
                      </m:sub>
                    </m:sSub>
                  </m:oMath>
                </a14:m>
                <a:r>
                  <a:rPr lang="pt-PT" sz="1400" noProof="0" dirty="0">
                    <a:solidFill>
                      <a:srgbClr val="182A32"/>
                    </a:solidFill>
                    <a:latin typeface="Calibri" pitchFamily="34" charset="0"/>
                    <a:ea typeface="Calibri" pitchFamily="34" charset="-122"/>
                    <a:cs typeface="Calibri" pitchFamily="34" charset="-120"/>
                  </a:rPr>
                  <a:t>), a uma distância </a:t>
                </a:r>
                <a:r>
                  <a:rPr lang="pt-PT" sz="1400" noProof="0" dirty="0" err="1">
                    <a:solidFill>
                      <a:srgbClr val="182A32"/>
                    </a:solidFill>
                    <a:latin typeface="Calibri" pitchFamily="34" charset="0"/>
                    <a:ea typeface="Calibri" pitchFamily="34" charset="-122"/>
                    <a:cs typeface="Calibri" pitchFamily="34" charset="-120"/>
                  </a:rPr>
                  <a:t>δ</a:t>
                </a:r>
                <a:r>
                  <a:rPr lang="pt-PT" sz="1400" noProof="0" dirty="0">
                    <a:solidFill>
                      <a:srgbClr val="182A32"/>
                    </a:solidFill>
                    <a:latin typeface="Calibri" pitchFamily="34" charset="0"/>
                    <a:ea typeface="Calibri" pitchFamily="34" charset="-122"/>
                    <a:cs typeface="Calibri" pitchFamily="34" charset="-120"/>
                  </a:rPr>
                  <a:t> da superfície.</a:t>
                </a:r>
                <a:endParaRPr lang="pt-PT" sz="1400" noProof="0" dirty="0"/>
              </a:p>
            </p:txBody>
          </p:sp>
        </mc:Choice>
        <mc:Fallback>
          <p:sp>
            <p:nvSpPr>
              <p:cNvPr id="5" name="Text 2">
                <a:extLst>
                  <a:ext uri="{FF2B5EF4-FFF2-40B4-BE49-F238E27FC236}">
                    <a16:creationId xmlns:a16="http://schemas.microsoft.com/office/drawing/2014/main" id="{00DF90F9-BF5B-80F6-FE07-6C9DD96D103D}"/>
                  </a:ext>
                </a:extLst>
              </p:cNvPr>
              <p:cNvSpPr>
                <a:spLocks noRot="1" noChangeAspect="1" noMove="1" noResize="1" noEditPoints="1" noAdjustHandles="1" noChangeArrowheads="1" noChangeShapeType="1" noTextEdit="1"/>
              </p:cNvSpPr>
              <p:nvPr/>
            </p:nvSpPr>
            <p:spPr>
              <a:xfrm>
                <a:off x="655320" y="1382773"/>
                <a:ext cx="10881360" cy="822960"/>
              </a:xfrm>
              <a:prstGeom prst="rect">
                <a:avLst/>
              </a:prstGeom>
              <a:blipFill>
                <a:blip r:embed="rId3"/>
                <a:stretch>
                  <a:fillRect l="-233"/>
                </a:stretch>
              </a:blipFill>
              <a:ln/>
            </p:spPr>
            <p:txBody>
              <a:bodyPr/>
              <a:lstStyle/>
              <a:p>
                <a:r>
                  <a:rPr lang="en-BR">
                    <a:noFill/>
                  </a:rPr>
                  <a:t> </a:t>
                </a:r>
              </a:p>
            </p:txBody>
          </p:sp>
        </mc:Fallback>
      </mc:AlternateContent>
      <p:sp>
        <p:nvSpPr>
          <p:cNvPr id="20" name="Text 17">
            <a:extLst>
              <a:ext uri="{FF2B5EF4-FFF2-40B4-BE49-F238E27FC236}">
                <a16:creationId xmlns:a16="http://schemas.microsoft.com/office/drawing/2014/main" id="{73812D21-35F7-C286-B2D1-13D9D4C88A2B}"/>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a:extLst>
              <a:ext uri="{FF2B5EF4-FFF2-40B4-BE49-F238E27FC236}">
                <a16:creationId xmlns:a16="http://schemas.microsoft.com/office/drawing/2014/main" id="{CB477257-2DB0-F253-52A3-88359A1E2E45}"/>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3 · Camada limite</a:t>
            </a:r>
            <a:endParaRPr lang="pt-PT" sz="950" noProof="0" dirty="0"/>
          </a:p>
        </p:txBody>
      </p:sp>
      <p:sp>
        <p:nvSpPr>
          <p:cNvPr id="22" name="Text 19">
            <a:extLst>
              <a:ext uri="{FF2B5EF4-FFF2-40B4-BE49-F238E27FC236}">
                <a16:creationId xmlns:a16="http://schemas.microsoft.com/office/drawing/2014/main" id="{D1CE0B24-9B1E-B63E-117A-AEED010B4F4F}"/>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dirty="0">
                <a:solidFill>
                  <a:srgbClr val="57707A"/>
                </a:solidFill>
                <a:latin typeface="Calibri" pitchFamily="34" charset="0"/>
                <a:cs typeface="Calibri" pitchFamily="34" charset="-120"/>
              </a:rPr>
              <a:t>6</a:t>
            </a:r>
            <a:endParaRPr lang="pt-PT" sz="950" noProof="0" dirty="0"/>
          </a:p>
        </p:txBody>
      </p:sp>
      <p:grpSp>
        <p:nvGrpSpPr>
          <p:cNvPr id="2" name="Agrupar 10">
            <a:extLst>
              <a:ext uri="{FF2B5EF4-FFF2-40B4-BE49-F238E27FC236}">
                <a16:creationId xmlns:a16="http://schemas.microsoft.com/office/drawing/2014/main" id="{66060326-454E-4148-3D11-B07ED66E8AEF}"/>
              </a:ext>
            </a:extLst>
          </p:cNvPr>
          <p:cNvGrpSpPr/>
          <p:nvPr/>
        </p:nvGrpSpPr>
        <p:grpSpPr>
          <a:xfrm>
            <a:off x="866077" y="2852928"/>
            <a:ext cx="9945358" cy="3291840"/>
            <a:chOff x="1773798" y="3251964"/>
            <a:chExt cx="9714838" cy="3378682"/>
          </a:xfrm>
        </p:grpSpPr>
        <p:grpSp>
          <p:nvGrpSpPr>
            <p:cNvPr id="6" name="Agrupar 7">
              <a:extLst>
                <a:ext uri="{FF2B5EF4-FFF2-40B4-BE49-F238E27FC236}">
                  <a16:creationId xmlns:a16="http://schemas.microsoft.com/office/drawing/2014/main" id="{9613C9E6-9C29-E8DA-4981-5C62D2CED661}"/>
                </a:ext>
              </a:extLst>
            </p:cNvPr>
            <p:cNvGrpSpPr/>
            <p:nvPr/>
          </p:nvGrpSpPr>
          <p:grpSpPr>
            <a:xfrm>
              <a:off x="1773798" y="3251964"/>
              <a:ext cx="9714838" cy="3378682"/>
              <a:chOff x="838200" y="2180561"/>
              <a:chExt cx="10650436" cy="3858163"/>
            </a:xfrm>
          </p:grpSpPr>
          <p:pic>
            <p:nvPicPr>
              <p:cNvPr id="9" name="Imagem 3" descr="Diagrama&#10;&#10;O conteúdo gerado por IA pode estar incorreto.">
                <a:extLst>
                  <a:ext uri="{FF2B5EF4-FFF2-40B4-BE49-F238E27FC236}">
                    <a16:creationId xmlns:a16="http://schemas.microsoft.com/office/drawing/2014/main" id="{07E83440-7A96-9166-DF71-F9869D5F6582}"/>
                  </a:ext>
                </a:extLst>
              </p:cNvPr>
              <p:cNvPicPr>
                <a:picLocks noChangeAspect="1"/>
              </p:cNvPicPr>
              <p:nvPr/>
            </p:nvPicPr>
            <p:blipFill>
              <a:blip r:embed="rId4"/>
              <a:stretch>
                <a:fillRect/>
              </a:stretch>
            </p:blipFill>
            <p:spPr>
              <a:xfrm>
                <a:off x="838200" y="2180561"/>
                <a:ext cx="10650436" cy="3858163"/>
              </a:xfrm>
              <a:prstGeom prst="rect">
                <a:avLst/>
              </a:prstGeom>
            </p:spPr>
          </p:pic>
          <p:sp>
            <p:nvSpPr>
              <p:cNvPr id="10" name="Retângulo 5">
                <a:extLst>
                  <a:ext uri="{FF2B5EF4-FFF2-40B4-BE49-F238E27FC236}">
                    <a16:creationId xmlns:a16="http://schemas.microsoft.com/office/drawing/2014/main" id="{70B74023-8C1C-D66F-E197-B21EC32664FA}"/>
                  </a:ext>
                </a:extLst>
              </p:cNvPr>
              <p:cNvSpPr/>
              <p:nvPr/>
            </p:nvSpPr>
            <p:spPr>
              <a:xfrm>
                <a:off x="7913341" y="2289438"/>
                <a:ext cx="1959429" cy="4606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6">
                <a:extLst>
                  <a:ext uri="{FF2B5EF4-FFF2-40B4-BE49-F238E27FC236}">
                    <a16:creationId xmlns:a16="http://schemas.microsoft.com/office/drawing/2014/main" id="{0308A49B-6AD2-5B67-2751-09A11725DD1A}"/>
                  </a:ext>
                </a:extLst>
              </p:cNvPr>
              <p:cNvSpPr/>
              <p:nvPr/>
            </p:nvSpPr>
            <p:spPr>
              <a:xfrm>
                <a:off x="8511483" y="3485720"/>
                <a:ext cx="1670670" cy="13062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7" name="CaixaDeTexto 8">
              <a:extLst>
                <a:ext uri="{FF2B5EF4-FFF2-40B4-BE49-F238E27FC236}">
                  <a16:creationId xmlns:a16="http://schemas.microsoft.com/office/drawing/2014/main" id="{CDB377DD-BDD4-6365-DD90-FD3B71E216B4}"/>
                </a:ext>
              </a:extLst>
            </p:cNvPr>
            <p:cNvSpPr txBox="1"/>
            <p:nvPr/>
          </p:nvSpPr>
          <p:spPr>
            <a:xfrm>
              <a:off x="8227416" y="3275677"/>
              <a:ext cx="1658883" cy="416868"/>
            </a:xfrm>
            <a:prstGeom prst="rect">
              <a:avLst/>
            </a:prstGeom>
            <a:noFill/>
          </p:spPr>
          <p:txBody>
            <a:bodyPr wrap="none" rtlCol="0">
              <a:spAutoFit/>
            </a:bodyPr>
            <a:lstStyle/>
            <a:p>
              <a:r>
                <a:rPr lang="pt-BR" dirty="0"/>
                <a:t>Corrente livre</a:t>
              </a:r>
            </a:p>
          </p:txBody>
        </p:sp>
        <p:sp>
          <p:nvSpPr>
            <p:cNvPr id="8" name="CaixaDeTexto 9">
              <a:extLst>
                <a:ext uri="{FF2B5EF4-FFF2-40B4-BE49-F238E27FC236}">
                  <a16:creationId xmlns:a16="http://schemas.microsoft.com/office/drawing/2014/main" id="{8C95511D-A4FA-377E-66E7-DD2E34778A4D}"/>
                </a:ext>
              </a:extLst>
            </p:cNvPr>
            <p:cNvSpPr txBox="1"/>
            <p:nvPr/>
          </p:nvSpPr>
          <p:spPr>
            <a:xfrm>
              <a:off x="8705103" y="4767758"/>
              <a:ext cx="1863175" cy="729520"/>
            </a:xfrm>
            <a:prstGeom prst="rect">
              <a:avLst/>
            </a:prstGeom>
            <a:noFill/>
          </p:spPr>
          <p:txBody>
            <a:bodyPr wrap="square" rtlCol="0">
              <a:spAutoFit/>
            </a:bodyPr>
            <a:lstStyle/>
            <a:p>
              <a:r>
                <a:rPr lang="pt-BR" dirty="0"/>
                <a:t>Camada limite de velocidade</a:t>
              </a:r>
            </a:p>
          </p:txBody>
        </p:sp>
      </p:grpSp>
      <p:sp>
        <p:nvSpPr>
          <p:cNvPr id="13" name="TextBox 12">
            <a:extLst>
              <a:ext uri="{FF2B5EF4-FFF2-40B4-BE49-F238E27FC236}">
                <a16:creationId xmlns:a16="http://schemas.microsoft.com/office/drawing/2014/main" id="{0C91E80D-5BA4-C421-1BDF-53D9BDE955D6}"/>
              </a:ext>
            </a:extLst>
          </p:cNvPr>
          <p:cNvSpPr txBox="1"/>
          <p:nvPr/>
        </p:nvSpPr>
        <p:spPr>
          <a:xfrm>
            <a:off x="457200" y="5980776"/>
            <a:ext cx="10716323" cy="318549"/>
          </a:xfrm>
          <a:prstGeom prst="rect">
            <a:avLst/>
          </a:prstGeom>
          <a:noFill/>
        </p:spPr>
        <p:txBody>
          <a:bodyPr wrap="square">
            <a:spAutoFit/>
          </a:bodyPr>
          <a:lstStyle/>
          <a:p>
            <a:pPr>
              <a:lnSpc>
                <a:spcPts val="2000"/>
              </a:lnSpc>
              <a:spcAft>
                <a:spcPts val="600"/>
              </a:spcAft>
              <a:buSzPct val="100000"/>
            </a:pPr>
            <a:r>
              <a:rPr lang="pt-PT" sz="1000" dirty="0">
                <a:solidFill>
                  <a:srgbClr val="182A32"/>
                </a:solidFill>
                <a:latin typeface="Calibri" pitchFamily="34" charset="0"/>
                <a:ea typeface="Calibri" pitchFamily="34" charset="-122"/>
                <a:cs typeface="Calibri" pitchFamily="34" charset="-120"/>
              </a:rPr>
              <a:t>Fonte: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sp>
        <p:nvSpPr>
          <p:cNvPr id="17" name="Rounded Rectangle 16">
            <a:extLst>
              <a:ext uri="{FF2B5EF4-FFF2-40B4-BE49-F238E27FC236}">
                <a16:creationId xmlns:a16="http://schemas.microsoft.com/office/drawing/2014/main" id="{6BA09107-14B1-7D74-822E-A0B6EF45B347}"/>
              </a:ext>
            </a:extLst>
          </p:cNvPr>
          <p:cNvSpPr/>
          <p:nvPr/>
        </p:nvSpPr>
        <p:spPr>
          <a:xfrm>
            <a:off x="7955280" y="4356741"/>
            <a:ext cx="1825325" cy="683790"/>
          </a:xfrm>
          <a:prstGeom prst="roundRect">
            <a:avLst/>
          </a:prstGeom>
          <a:solidFill>
            <a:srgbClr val="FF0000">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2" name="Rounded Rectangle 11">
            <a:extLst>
              <a:ext uri="{FF2B5EF4-FFF2-40B4-BE49-F238E27FC236}">
                <a16:creationId xmlns:a16="http://schemas.microsoft.com/office/drawing/2014/main" id="{7D912DF5-F36D-9A49-B81E-B973CF15D8A2}"/>
              </a:ext>
            </a:extLst>
          </p:cNvPr>
          <p:cNvSpPr/>
          <p:nvPr/>
        </p:nvSpPr>
        <p:spPr>
          <a:xfrm>
            <a:off x="624840" y="1517895"/>
            <a:ext cx="10881360" cy="683790"/>
          </a:xfrm>
          <a:prstGeom prst="roundRect">
            <a:avLst/>
          </a:prstGeom>
          <a:solidFill>
            <a:srgbClr val="FF0000">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3660935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22938F7-9520-1237-5CC8-EC701DE8C474}"/>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95048735-3893-E8B8-74C9-8B78B2EC283B}"/>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CAMADA LIMITE</a:t>
            </a:r>
            <a:endParaRPr lang="pt-PT" sz="1300" noProof="0" dirty="0"/>
          </a:p>
        </p:txBody>
      </p:sp>
      <p:sp>
        <p:nvSpPr>
          <p:cNvPr id="4" name="Text 1">
            <a:extLst>
              <a:ext uri="{FF2B5EF4-FFF2-40B4-BE49-F238E27FC236}">
                <a16:creationId xmlns:a16="http://schemas.microsoft.com/office/drawing/2014/main" id="{CF0F7B31-EB9E-480B-AE01-41E578740550}"/>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Camada-limite hidrodinâmica</a:t>
            </a:r>
            <a:endParaRPr lang="pt-PT" sz="3200" noProof="0" dirty="0"/>
          </a:p>
        </p:txBody>
      </p:sp>
      <mc:AlternateContent xmlns:mc="http://schemas.openxmlformats.org/markup-compatibility/2006">
        <mc:Choice xmlns:a14="http://schemas.microsoft.com/office/drawing/2010/main" Requires="a14">
          <p:sp>
            <p:nvSpPr>
              <p:cNvPr id="5" name="Text 2">
                <a:extLst>
                  <a:ext uri="{FF2B5EF4-FFF2-40B4-BE49-F238E27FC236}">
                    <a16:creationId xmlns:a16="http://schemas.microsoft.com/office/drawing/2014/main" id="{82570B46-F591-A62E-5889-CE715504455D}"/>
                  </a:ext>
                </a:extLst>
              </p:cNvPr>
              <p:cNvSpPr/>
              <p:nvPr/>
            </p:nvSpPr>
            <p:spPr>
              <a:xfrm>
                <a:off x="655320" y="1382773"/>
                <a:ext cx="10881360" cy="822960"/>
              </a:xfrm>
              <a:prstGeom prst="rect">
                <a:avLst/>
              </a:prstGeom>
              <a:noFill/>
              <a:ln/>
            </p:spPr>
            <p:txBody>
              <a:bodyPr wrap="square" rtlCol="0" anchor="ctr"/>
              <a:lstStyle/>
              <a:p>
                <a:pPr>
                  <a:lnSpc>
                    <a:spcPts val="1900"/>
                  </a:lnSpc>
                </a:pPr>
                <a:r>
                  <a:rPr lang="pt-PT" sz="1400" noProof="0" dirty="0">
                    <a:solidFill>
                      <a:srgbClr val="182A32"/>
                    </a:solidFill>
                    <a:latin typeface="Calibri" pitchFamily="34" charset="0"/>
                    <a:ea typeface="Calibri" pitchFamily="34" charset="-122"/>
                    <a:cs typeface="Calibri" pitchFamily="34" charset="-120"/>
                  </a:rPr>
                  <a:t>Região próxima à superfície onde a velocidade do fluido varia de </a:t>
                </a:r>
                <a:r>
                  <a:rPr lang="pt-PT" sz="1400" b="1" noProof="0" dirty="0">
                    <a:solidFill>
                      <a:srgbClr val="E8602C"/>
                    </a:solidFill>
                    <a:latin typeface="Calibri" pitchFamily="34" charset="0"/>
                    <a:ea typeface="Calibri" pitchFamily="34" charset="-122"/>
                    <a:cs typeface="Calibri" pitchFamily="34" charset="-120"/>
                  </a:rPr>
                  <a:t>zero</a:t>
                </a:r>
                <a:r>
                  <a:rPr lang="pt-PT" sz="1400" noProof="0" dirty="0">
                    <a:solidFill>
                      <a:srgbClr val="182A32"/>
                    </a:solidFill>
                    <a:latin typeface="Calibri" pitchFamily="34" charset="0"/>
                    <a:ea typeface="Calibri" pitchFamily="34" charset="-122"/>
                    <a:cs typeface="Calibri" pitchFamily="34" charset="-120"/>
                  </a:rPr>
                  <a:t> (na parede — condição de não escorregamento) até 99% do valor da </a:t>
                </a:r>
                <a:r>
                  <a:rPr lang="pt-PT" sz="1400" b="1" noProof="0" dirty="0">
                    <a:solidFill>
                      <a:srgbClr val="065A82"/>
                    </a:solidFill>
                    <a:latin typeface="Calibri" pitchFamily="34" charset="0"/>
                    <a:ea typeface="Calibri" pitchFamily="34" charset="-122"/>
                    <a:cs typeface="Calibri" pitchFamily="34" charset="-120"/>
                  </a:rPr>
                  <a:t>corrente livre</a:t>
                </a:r>
                <a:r>
                  <a:rPr lang="pt-PT" sz="1400" noProof="0" dirty="0">
                    <a:solidFill>
                      <a:srgbClr val="182A32"/>
                    </a:solidFill>
                    <a:latin typeface="Calibri" pitchFamily="34" charset="0"/>
                    <a:ea typeface="Calibri" pitchFamily="34" charset="-122"/>
                    <a:cs typeface="Calibri" pitchFamily="34" charset="-120"/>
                  </a:rPr>
                  <a:t> (</a:t>
                </a:r>
                <a14:m>
                  <m:oMath xmlns:m="http://schemas.openxmlformats.org/officeDocument/2006/math">
                    <m:sSub>
                      <m:sSubPr>
                        <m:ctrlPr>
                          <a:rPr lang="en-BR" sz="1400" i="1" smtClean="0">
                            <a:solidFill>
                              <a:schemeClr val="tx1"/>
                            </a:solidFill>
                            <a:latin typeface="Cambria Math" panose="02040503050406030204" pitchFamily="18" charset="0"/>
                          </a:rPr>
                        </m:ctrlPr>
                      </m:sSubPr>
                      <m:e>
                        <m:r>
                          <a:rPr lang="pt-BR" sz="1400" i="1">
                            <a:solidFill>
                              <a:schemeClr val="tx1"/>
                            </a:solidFill>
                            <a:latin typeface="Cambria Math" panose="02040503050406030204" pitchFamily="18" charset="0"/>
                          </a:rPr>
                          <m:t>𝑢</m:t>
                        </m:r>
                      </m:e>
                      <m:sub>
                        <m:r>
                          <a:rPr lang="en-BR" sz="1400" i="1">
                            <a:solidFill>
                              <a:schemeClr val="tx1"/>
                            </a:solidFill>
                            <a:latin typeface="Cambria Math" panose="02040503050406030204" pitchFamily="18" charset="0"/>
                            <a:ea typeface="Cambria Math" panose="02040503050406030204" pitchFamily="18" charset="0"/>
                          </a:rPr>
                          <m:t>∞</m:t>
                        </m:r>
                      </m:sub>
                    </m:sSub>
                  </m:oMath>
                </a14:m>
                <a:r>
                  <a:rPr lang="pt-PT" sz="1400" noProof="0" dirty="0">
                    <a:solidFill>
                      <a:srgbClr val="182A32"/>
                    </a:solidFill>
                    <a:latin typeface="Calibri" pitchFamily="34" charset="0"/>
                    <a:ea typeface="Calibri" pitchFamily="34" charset="-122"/>
                    <a:cs typeface="Calibri" pitchFamily="34" charset="-120"/>
                  </a:rPr>
                  <a:t>), a uma distância </a:t>
                </a:r>
                <a:r>
                  <a:rPr lang="pt-PT" sz="1400" noProof="0" dirty="0" err="1">
                    <a:solidFill>
                      <a:srgbClr val="182A32"/>
                    </a:solidFill>
                    <a:latin typeface="Calibri" pitchFamily="34" charset="0"/>
                    <a:ea typeface="Calibri" pitchFamily="34" charset="-122"/>
                    <a:cs typeface="Calibri" pitchFamily="34" charset="-120"/>
                  </a:rPr>
                  <a:t>δ</a:t>
                </a:r>
                <a:r>
                  <a:rPr lang="pt-PT" sz="1400" noProof="0" dirty="0">
                    <a:solidFill>
                      <a:srgbClr val="182A32"/>
                    </a:solidFill>
                    <a:latin typeface="Calibri" pitchFamily="34" charset="0"/>
                    <a:ea typeface="Calibri" pitchFamily="34" charset="-122"/>
                    <a:cs typeface="Calibri" pitchFamily="34" charset="-120"/>
                  </a:rPr>
                  <a:t> da superfície.</a:t>
                </a:r>
                <a:endParaRPr lang="pt-PT" sz="1400" noProof="0" dirty="0"/>
              </a:p>
            </p:txBody>
          </p:sp>
        </mc:Choice>
        <mc:Fallback>
          <p:sp>
            <p:nvSpPr>
              <p:cNvPr id="5" name="Text 2">
                <a:extLst>
                  <a:ext uri="{FF2B5EF4-FFF2-40B4-BE49-F238E27FC236}">
                    <a16:creationId xmlns:a16="http://schemas.microsoft.com/office/drawing/2014/main" id="{82570B46-F591-A62E-5889-CE715504455D}"/>
                  </a:ext>
                </a:extLst>
              </p:cNvPr>
              <p:cNvSpPr>
                <a:spLocks noRot="1" noChangeAspect="1" noMove="1" noResize="1" noEditPoints="1" noAdjustHandles="1" noChangeArrowheads="1" noChangeShapeType="1" noTextEdit="1"/>
              </p:cNvSpPr>
              <p:nvPr/>
            </p:nvSpPr>
            <p:spPr>
              <a:xfrm>
                <a:off x="655320" y="1382773"/>
                <a:ext cx="10881360" cy="822960"/>
              </a:xfrm>
              <a:prstGeom prst="rect">
                <a:avLst/>
              </a:prstGeom>
              <a:blipFill>
                <a:blip r:embed="rId3"/>
                <a:stretch>
                  <a:fillRect l="-233"/>
                </a:stretch>
              </a:blipFill>
              <a:ln/>
            </p:spPr>
            <p:txBody>
              <a:bodyPr/>
              <a:lstStyle/>
              <a:p>
                <a:r>
                  <a:rPr lang="en-BR">
                    <a:noFill/>
                  </a:rPr>
                  <a:t> </a:t>
                </a:r>
              </a:p>
            </p:txBody>
          </p:sp>
        </mc:Fallback>
      </mc:AlternateContent>
      <p:sp>
        <p:nvSpPr>
          <p:cNvPr id="20" name="Text 17">
            <a:extLst>
              <a:ext uri="{FF2B5EF4-FFF2-40B4-BE49-F238E27FC236}">
                <a16:creationId xmlns:a16="http://schemas.microsoft.com/office/drawing/2014/main" id="{52BA1559-1149-132B-0D97-9FECB6A6D0E0}"/>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a:extLst>
              <a:ext uri="{FF2B5EF4-FFF2-40B4-BE49-F238E27FC236}">
                <a16:creationId xmlns:a16="http://schemas.microsoft.com/office/drawing/2014/main" id="{3E8D107D-1780-880A-0CF0-181F008F781F}"/>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3 · Camada limite</a:t>
            </a:r>
            <a:endParaRPr lang="pt-PT" sz="950" noProof="0" dirty="0"/>
          </a:p>
        </p:txBody>
      </p:sp>
      <p:sp>
        <p:nvSpPr>
          <p:cNvPr id="22" name="Text 19">
            <a:extLst>
              <a:ext uri="{FF2B5EF4-FFF2-40B4-BE49-F238E27FC236}">
                <a16:creationId xmlns:a16="http://schemas.microsoft.com/office/drawing/2014/main" id="{A8A24AFB-8D17-BE27-5415-EFBE53FB2270}"/>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dirty="0">
                <a:solidFill>
                  <a:srgbClr val="57707A"/>
                </a:solidFill>
                <a:latin typeface="Calibri" pitchFamily="34" charset="0"/>
                <a:cs typeface="Calibri" pitchFamily="34" charset="-120"/>
              </a:rPr>
              <a:t>6</a:t>
            </a:r>
            <a:endParaRPr lang="pt-PT" sz="950" noProof="0" dirty="0"/>
          </a:p>
        </p:txBody>
      </p:sp>
      <p:grpSp>
        <p:nvGrpSpPr>
          <p:cNvPr id="2" name="Agrupar 10">
            <a:extLst>
              <a:ext uri="{FF2B5EF4-FFF2-40B4-BE49-F238E27FC236}">
                <a16:creationId xmlns:a16="http://schemas.microsoft.com/office/drawing/2014/main" id="{FAB4684E-C8D6-36B8-4D37-8E68C108D7A4}"/>
              </a:ext>
            </a:extLst>
          </p:cNvPr>
          <p:cNvGrpSpPr/>
          <p:nvPr/>
        </p:nvGrpSpPr>
        <p:grpSpPr>
          <a:xfrm>
            <a:off x="866077" y="2852928"/>
            <a:ext cx="9945358" cy="3291840"/>
            <a:chOff x="1773798" y="3251964"/>
            <a:chExt cx="9714838" cy="3378682"/>
          </a:xfrm>
        </p:grpSpPr>
        <p:grpSp>
          <p:nvGrpSpPr>
            <p:cNvPr id="6" name="Agrupar 7">
              <a:extLst>
                <a:ext uri="{FF2B5EF4-FFF2-40B4-BE49-F238E27FC236}">
                  <a16:creationId xmlns:a16="http://schemas.microsoft.com/office/drawing/2014/main" id="{D5AD1193-00E4-17EA-BE8C-2732A3FD2D2A}"/>
                </a:ext>
              </a:extLst>
            </p:cNvPr>
            <p:cNvGrpSpPr/>
            <p:nvPr/>
          </p:nvGrpSpPr>
          <p:grpSpPr>
            <a:xfrm>
              <a:off x="1773798" y="3251964"/>
              <a:ext cx="9714838" cy="3378682"/>
              <a:chOff x="838200" y="2180561"/>
              <a:chExt cx="10650436" cy="3858163"/>
            </a:xfrm>
          </p:grpSpPr>
          <p:pic>
            <p:nvPicPr>
              <p:cNvPr id="9" name="Imagem 3" descr="Diagrama&#10;&#10;O conteúdo gerado por IA pode estar incorreto.">
                <a:extLst>
                  <a:ext uri="{FF2B5EF4-FFF2-40B4-BE49-F238E27FC236}">
                    <a16:creationId xmlns:a16="http://schemas.microsoft.com/office/drawing/2014/main" id="{A43E10E7-009E-6A0C-8443-60D713399787}"/>
                  </a:ext>
                </a:extLst>
              </p:cNvPr>
              <p:cNvPicPr>
                <a:picLocks noChangeAspect="1"/>
              </p:cNvPicPr>
              <p:nvPr/>
            </p:nvPicPr>
            <p:blipFill>
              <a:blip r:embed="rId4"/>
              <a:stretch>
                <a:fillRect/>
              </a:stretch>
            </p:blipFill>
            <p:spPr>
              <a:xfrm>
                <a:off x="838200" y="2180561"/>
                <a:ext cx="10650436" cy="3858163"/>
              </a:xfrm>
              <a:prstGeom prst="rect">
                <a:avLst/>
              </a:prstGeom>
            </p:spPr>
          </p:pic>
          <p:sp>
            <p:nvSpPr>
              <p:cNvPr id="10" name="Retângulo 5">
                <a:extLst>
                  <a:ext uri="{FF2B5EF4-FFF2-40B4-BE49-F238E27FC236}">
                    <a16:creationId xmlns:a16="http://schemas.microsoft.com/office/drawing/2014/main" id="{2580CFA7-114C-9F0E-3B2C-162AE4CE54B8}"/>
                  </a:ext>
                </a:extLst>
              </p:cNvPr>
              <p:cNvSpPr/>
              <p:nvPr/>
            </p:nvSpPr>
            <p:spPr>
              <a:xfrm>
                <a:off x="7913341" y="2289438"/>
                <a:ext cx="1959429" cy="4606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6">
                <a:extLst>
                  <a:ext uri="{FF2B5EF4-FFF2-40B4-BE49-F238E27FC236}">
                    <a16:creationId xmlns:a16="http://schemas.microsoft.com/office/drawing/2014/main" id="{3333EE0D-F6C5-856A-E0B4-4D3670E608AC}"/>
                  </a:ext>
                </a:extLst>
              </p:cNvPr>
              <p:cNvSpPr/>
              <p:nvPr/>
            </p:nvSpPr>
            <p:spPr>
              <a:xfrm>
                <a:off x="8511483" y="3485720"/>
                <a:ext cx="1670670" cy="13062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7" name="CaixaDeTexto 8">
              <a:extLst>
                <a:ext uri="{FF2B5EF4-FFF2-40B4-BE49-F238E27FC236}">
                  <a16:creationId xmlns:a16="http://schemas.microsoft.com/office/drawing/2014/main" id="{9092FD54-13BF-249C-4D4E-B10BCED1DDD1}"/>
                </a:ext>
              </a:extLst>
            </p:cNvPr>
            <p:cNvSpPr txBox="1"/>
            <p:nvPr/>
          </p:nvSpPr>
          <p:spPr>
            <a:xfrm>
              <a:off x="8227416" y="3275677"/>
              <a:ext cx="1658883" cy="416868"/>
            </a:xfrm>
            <a:prstGeom prst="rect">
              <a:avLst/>
            </a:prstGeom>
            <a:noFill/>
          </p:spPr>
          <p:txBody>
            <a:bodyPr wrap="none" rtlCol="0">
              <a:spAutoFit/>
            </a:bodyPr>
            <a:lstStyle/>
            <a:p>
              <a:r>
                <a:rPr lang="pt-BR" dirty="0"/>
                <a:t>Corrente livre</a:t>
              </a:r>
            </a:p>
          </p:txBody>
        </p:sp>
        <p:sp>
          <p:nvSpPr>
            <p:cNvPr id="8" name="CaixaDeTexto 9">
              <a:extLst>
                <a:ext uri="{FF2B5EF4-FFF2-40B4-BE49-F238E27FC236}">
                  <a16:creationId xmlns:a16="http://schemas.microsoft.com/office/drawing/2014/main" id="{EBFEF8C3-F449-78EE-A771-BD3D469EFC3D}"/>
                </a:ext>
              </a:extLst>
            </p:cNvPr>
            <p:cNvSpPr txBox="1"/>
            <p:nvPr/>
          </p:nvSpPr>
          <p:spPr>
            <a:xfrm>
              <a:off x="8705103" y="4767758"/>
              <a:ext cx="1863175" cy="729520"/>
            </a:xfrm>
            <a:prstGeom prst="rect">
              <a:avLst/>
            </a:prstGeom>
            <a:noFill/>
          </p:spPr>
          <p:txBody>
            <a:bodyPr wrap="square" rtlCol="0">
              <a:spAutoFit/>
            </a:bodyPr>
            <a:lstStyle/>
            <a:p>
              <a:r>
                <a:rPr lang="pt-BR" dirty="0"/>
                <a:t>Camada limite de velocidade</a:t>
              </a:r>
            </a:p>
          </p:txBody>
        </p:sp>
      </p:grpSp>
      <p:sp>
        <p:nvSpPr>
          <p:cNvPr id="13" name="TextBox 12">
            <a:extLst>
              <a:ext uri="{FF2B5EF4-FFF2-40B4-BE49-F238E27FC236}">
                <a16:creationId xmlns:a16="http://schemas.microsoft.com/office/drawing/2014/main" id="{7E579EAD-CD2E-9C4C-1B78-15C29F4C81A2}"/>
              </a:ext>
            </a:extLst>
          </p:cNvPr>
          <p:cNvSpPr txBox="1"/>
          <p:nvPr/>
        </p:nvSpPr>
        <p:spPr>
          <a:xfrm>
            <a:off x="457200" y="5980776"/>
            <a:ext cx="10716323" cy="318549"/>
          </a:xfrm>
          <a:prstGeom prst="rect">
            <a:avLst/>
          </a:prstGeom>
          <a:noFill/>
        </p:spPr>
        <p:txBody>
          <a:bodyPr wrap="square">
            <a:spAutoFit/>
          </a:bodyPr>
          <a:lstStyle/>
          <a:p>
            <a:pPr>
              <a:lnSpc>
                <a:spcPts val="2000"/>
              </a:lnSpc>
              <a:spcAft>
                <a:spcPts val="600"/>
              </a:spcAft>
              <a:buSzPct val="100000"/>
            </a:pPr>
            <a:r>
              <a:rPr lang="pt-PT" sz="1000" dirty="0">
                <a:solidFill>
                  <a:srgbClr val="182A32"/>
                </a:solidFill>
                <a:latin typeface="Calibri" pitchFamily="34" charset="0"/>
                <a:ea typeface="Calibri" pitchFamily="34" charset="-122"/>
                <a:cs typeface="Calibri" pitchFamily="34" charset="-120"/>
              </a:rPr>
              <a:t>Fonte: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sp>
        <p:nvSpPr>
          <p:cNvPr id="19" name="Rounded Rectangle 18">
            <a:extLst>
              <a:ext uri="{FF2B5EF4-FFF2-40B4-BE49-F238E27FC236}">
                <a16:creationId xmlns:a16="http://schemas.microsoft.com/office/drawing/2014/main" id="{03B41331-2D47-C5D5-C653-ACCFB616DED1}"/>
              </a:ext>
            </a:extLst>
          </p:cNvPr>
          <p:cNvSpPr/>
          <p:nvPr/>
        </p:nvSpPr>
        <p:spPr>
          <a:xfrm>
            <a:off x="10058400" y="3162071"/>
            <a:ext cx="753035" cy="439479"/>
          </a:xfrm>
          <a:prstGeom prst="roundRect">
            <a:avLst/>
          </a:prstGeom>
          <a:solidFill>
            <a:srgbClr val="FF0000">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1191560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22ABDE3-03A8-F8A6-C1F2-98C3E49B3C32}"/>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CC8B5C4-6988-46B6-9768-B04AD3903913}"/>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CAMADA LIMITE</a:t>
            </a:r>
            <a:endParaRPr lang="pt-PT" sz="1300" noProof="0" dirty="0"/>
          </a:p>
        </p:txBody>
      </p:sp>
      <p:sp>
        <p:nvSpPr>
          <p:cNvPr id="4" name="Text 1">
            <a:extLst>
              <a:ext uri="{FF2B5EF4-FFF2-40B4-BE49-F238E27FC236}">
                <a16:creationId xmlns:a16="http://schemas.microsoft.com/office/drawing/2014/main" id="{6D1EDC34-DA59-55F9-79B3-A77F4D7A0B54}"/>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Camada-limite hidrodinâmica</a:t>
            </a:r>
            <a:endParaRPr lang="pt-PT" sz="3200" noProof="0" dirty="0"/>
          </a:p>
        </p:txBody>
      </p:sp>
      <mc:AlternateContent xmlns:mc="http://schemas.openxmlformats.org/markup-compatibility/2006">
        <mc:Choice xmlns:a14="http://schemas.microsoft.com/office/drawing/2010/main" Requires="a14">
          <p:sp>
            <p:nvSpPr>
              <p:cNvPr id="5" name="Text 2">
                <a:extLst>
                  <a:ext uri="{FF2B5EF4-FFF2-40B4-BE49-F238E27FC236}">
                    <a16:creationId xmlns:a16="http://schemas.microsoft.com/office/drawing/2014/main" id="{CEED21A6-1E3A-F0A1-BA33-E850C5604738}"/>
                  </a:ext>
                </a:extLst>
              </p:cNvPr>
              <p:cNvSpPr/>
              <p:nvPr/>
            </p:nvSpPr>
            <p:spPr>
              <a:xfrm>
                <a:off x="655320" y="1382773"/>
                <a:ext cx="10881360" cy="822960"/>
              </a:xfrm>
              <a:prstGeom prst="rect">
                <a:avLst/>
              </a:prstGeom>
              <a:noFill/>
              <a:ln/>
            </p:spPr>
            <p:txBody>
              <a:bodyPr wrap="square" rtlCol="0" anchor="ctr"/>
              <a:lstStyle/>
              <a:p>
                <a:pPr>
                  <a:lnSpc>
                    <a:spcPts val="1900"/>
                  </a:lnSpc>
                </a:pPr>
                <a:r>
                  <a:rPr lang="pt-PT" sz="1400" noProof="0" dirty="0">
                    <a:solidFill>
                      <a:srgbClr val="182A32"/>
                    </a:solidFill>
                    <a:latin typeface="Calibri" pitchFamily="34" charset="0"/>
                    <a:ea typeface="Calibri" pitchFamily="34" charset="-122"/>
                    <a:cs typeface="Calibri" pitchFamily="34" charset="-120"/>
                  </a:rPr>
                  <a:t>Região próxima à superfície onde a velocidade do fluido varia de </a:t>
                </a:r>
                <a:r>
                  <a:rPr lang="pt-PT" sz="1400" b="1" noProof="0" dirty="0">
                    <a:solidFill>
                      <a:srgbClr val="E8602C"/>
                    </a:solidFill>
                    <a:latin typeface="Calibri" pitchFamily="34" charset="0"/>
                    <a:ea typeface="Calibri" pitchFamily="34" charset="-122"/>
                    <a:cs typeface="Calibri" pitchFamily="34" charset="-120"/>
                  </a:rPr>
                  <a:t>zero</a:t>
                </a:r>
                <a:r>
                  <a:rPr lang="pt-PT" sz="1400" noProof="0" dirty="0">
                    <a:solidFill>
                      <a:srgbClr val="182A32"/>
                    </a:solidFill>
                    <a:latin typeface="Calibri" pitchFamily="34" charset="0"/>
                    <a:ea typeface="Calibri" pitchFamily="34" charset="-122"/>
                    <a:cs typeface="Calibri" pitchFamily="34" charset="-120"/>
                  </a:rPr>
                  <a:t> (na parede — condição de não escorregamento) até 99% do valor da </a:t>
                </a:r>
                <a:r>
                  <a:rPr lang="pt-PT" sz="1400" b="1" noProof="0" dirty="0">
                    <a:solidFill>
                      <a:srgbClr val="065A82"/>
                    </a:solidFill>
                    <a:latin typeface="Calibri" pitchFamily="34" charset="0"/>
                    <a:ea typeface="Calibri" pitchFamily="34" charset="-122"/>
                    <a:cs typeface="Calibri" pitchFamily="34" charset="-120"/>
                  </a:rPr>
                  <a:t>corrente livre</a:t>
                </a:r>
                <a:r>
                  <a:rPr lang="pt-PT" sz="1400" noProof="0" dirty="0">
                    <a:solidFill>
                      <a:srgbClr val="182A32"/>
                    </a:solidFill>
                    <a:latin typeface="Calibri" pitchFamily="34" charset="0"/>
                    <a:ea typeface="Calibri" pitchFamily="34" charset="-122"/>
                    <a:cs typeface="Calibri" pitchFamily="34" charset="-120"/>
                  </a:rPr>
                  <a:t> (</a:t>
                </a:r>
                <a14:m>
                  <m:oMath xmlns:m="http://schemas.openxmlformats.org/officeDocument/2006/math">
                    <m:sSub>
                      <m:sSubPr>
                        <m:ctrlPr>
                          <a:rPr lang="en-BR" sz="1400" i="1" smtClean="0">
                            <a:solidFill>
                              <a:schemeClr val="tx1"/>
                            </a:solidFill>
                            <a:latin typeface="Cambria Math" panose="02040503050406030204" pitchFamily="18" charset="0"/>
                          </a:rPr>
                        </m:ctrlPr>
                      </m:sSubPr>
                      <m:e>
                        <m:r>
                          <a:rPr lang="pt-BR" sz="1400" i="1">
                            <a:solidFill>
                              <a:schemeClr val="tx1"/>
                            </a:solidFill>
                            <a:latin typeface="Cambria Math" panose="02040503050406030204" pitchFamily="18" charset="0"/>
                          </a:rPr>
                          <m:t>𝑢</m:t>
                        </m:r>
                      </m:e>
                      <m:sub>
                        <m:r>
                          <a:rPr lang="en-BR" sz="1400" i="1">
                            <a:solidFill>
                              <a:schemeClr val="tx1"/>
                            </a:solidFill>
                            <a:latin typeface="Cambria Math" panose="02040503050406030204" pitchFamily="18" charset="0"/>
                            <a:ea typeface="Cambria Math" panose="02040503050406030204" pitchFamily="18" charset="0"/>
                          </a:rPr>
                          <m:t>∞</m:t>
                        </m:r>
                      </m:sub>
                    </m:sSub>
                  </m:oMath>
                </a14:m>
                <a:r>
                  <a:rPr lang="pt-PT" sz="1400" noProof="0" dirty="0">
                    <a:solidFill>
                      <a:srgbClr val="182A32"/>
                    </a:solidFill>
                    <a:latin typeface="Calibri" pitchFamily="34" charset="0"/>
                    <a:ea typeface="Calibri" pitchFamily="34" charset="-122"/>
                    <a:cs typeface="Calibri" pitchFamily="34" charset="-120"/>
                  </a:rPr>
                  <a:t>), a uma distância </a:t>
                </a:r>
                <a:r>
                  <a:rPr lang="pt-PT" sz="1400" noProof="0" dirty="0" err="1">
                    <a:solidFill>
                      <a:srgbClr val="182A32"/>
                    </a:solidFill>
                    <a:latin typeface="Calibri" pitchFamily="34" charset="0"/>
                    <a:ea typeface="Calibri" pitchFamily="34" charset="-122"/>
                    <a:cs typeface="Calibri" pitchFamily="34" charset="-120"/>
                  </a:rPr>
                  <a:t>δ</a:t>
                </a:r>
                <a:r>
                  <a:rPr lang="pt-PT" sz="1400" noProof="0" dirty="0">
                    <a:solidFill>
                      <a:srgbClr val="182A32"/>
                    </a:solidFill>
                    <a:latin typeface="Calibri" pitchFamily="34" charset="0"/>
                    <a:ea typeface="Calibri" pitchFamily="34" charset="-122"/>
                    <a:cs typeface="Calibri" pitchFamily="34" charset="-120"/>
                  </a:rPr>
                  <a:t> da superfície.</a:t>
                </a:r>
                <a:endParaRPr lang="pt-PT" sz="1400" noProof="0" dirty="0"/>
              </a:p>
            </p:txBody>
          </p:sp>
        </mc:Choice>
        <mc:Fallback>
          <p:sp>
            <p:nvSpPr>
              <p:cNvPr id="5" name="Text 2">
                <a:extLst>
                  <a:ext uri="{FF2B5EF4-FFF2-40B4-BE49-F238E27FC236}">
                    <a16:creationId xmlns:a16="http://schemas.microsoft.com/office/drawing/2014/main" id="{CEED21A6-1E3A-F0A1-BA33-E850C5604738}"/>
                  </a:ext>
                </a:extLst>
              </p:cNvPr>
              <p:cNvSpPr>
                <a:spLocks noRot="1" noChangeAspect="1" noMove="1" noResize="1" noEditPoints="1" noAdjustHandles="1" noChangeArrowheads="1" noChangeShapeType="1" noTextEdit="1"/>
              </p:cNvSpPr>
              <p:nvPr/>
            </p:nvSpPr>
            <p:spPr>
              <a:xfrm>
                <a:off x="655320" y="1382773"/>
                <a:ext cx="10881360" cy="822960"/>
              </a:xfrm>
              <a:prstGeom prst="rect">
                <a:avLst/>
              </a:prstGeom>
              <a:blipFill>
                <a:blip r:embed="rId3"/>
                <a:stretch>
                  <a:fillRect l="-233"/>
                </a:stretch>
              </a:blipFill>
              <a:ln/>
            </p:spPr>
            <p:txBody>
              <a:bodyPr/>
              <a:lstStyle/>
              <a:p>
                <a:r>
                  <a:rPr lang="en-BR">
                    <a:noFill/>
                  </a:rPr>
                  <a:t> </a:t>
                </a:r>
              </a:p>
            </p:txBody>
          </p:sp>
        </mc:Fallback>
      </mc:AlternateContent>
      <p:sp>
        <p:nvSpPr>
          <p:cNvPr id="20" name="Text 17">
            <a:extLst>
              <a:ext uri="{FF2B5EF4-FFF2-40B4-BE49-F238E27FC236}">
                <a16:creationId xmlns:a16="http://schemas.microsoft.com/office/drawing/2014/main" id="{C4893BE5-8820-D559-A8CB-057E4525D39B}"/>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a:extLst>
              <a:ext uri="{FF2B5EF4-FFF2-40B4-BE49-F238E27FC236}">
                <a16:creationId xmlns:a16="http://schemas.microsoft.com/office/drawing/2014/main" id="{241CB94B-AF35-B59F-DFDB-4D718B58AD6C}"/>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3 · Camada limite</a:t>
            </a:r>
            <a:endParaRPr lang="pt-PT" sz="950" noProof="0" dirty="0"/>
          </a:p>
        </p:txBody>
      </p:sp>
      <p:sp>
        <p:nvSpPr>
          <p:cNvPr id="22" name="Text 19">
            <a:extLst>
              <a:ext uri="{FF2B5EF4-FFF2-40B4-BE49-F238E27FC236}">
                <a16:creationId xmlns:a16="http://schemas.microsoft.com/office/drawing/2014/main" id="{6E9636A9-6916-EB18-DF68-3FE1EAA26910}"/>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dirty="0">
                <a:solidFill>
                  <a:srgbClr val="57707A"/>
                </a:solidFill>
                <a:latin typeface="Calibri" pitchFamily="34" charset="0"/>
                <a:cs typeface="Calibri" pitchFamily="34" charset="-120"/>
              </a:rPr>
              <a:t>6</a:t>
            </a:r>
            <a:endParaRPr lang="pt-PT" sz="950" noProof="0" dirty="0"/>
          </a:p>
        </p:txBody>
      </p:sp>
      <p:grpSp>
        <p:nvGrpSpPr>
          <p:cNvPr id="2" name="Agrupar 10">
            <a:extLst>
              <a:ext uri="{FF2B5EF4-FFF2-40B4-BE49-F238E27FC236}">
                <a16:creationId xmlns:a16="http://schemas.microsoft.com/office/drawing/2014/main" id="{5E73BC2E-AC79-F2DA-26B0-55FD67CE3F01}"/>
              </a:ext>
            </a:extLst>
          </p:cNvPr>
          <p:cNvGrpSpPr/>
          <p:nvPr/>
        </p:nvGrpSpPr>
        <p:grpSpPr>
          <a:xfrm>
            <a:off x="866077" y="2852928"/>
            <a:ext cx="9945358" cy="3291840"/>
            <a:chOff x="1773798" y="3251964"/>
            <a:chExt cx="9714838" cy="3378682"/>
          </a:xfrm>
        </p:grpSpPr>
        <p:grpSp>
          <p:nvGrpSpPr>
            <p:cNvPr id="6" name="Agrupar 7">
              <a:extLst>
                <a:ext uri="{FF2B5EF4-FFF2-40B4-BE49-F238E27FC236}">
                  <a16:creationId xmlns:a16="http://schemas.microsoft.com/office/drawing/2014/main" id="{0D175D6A-65DA-20BC-D608-6E337FF83C7A}"/>
                </a:ext>
              </a:extLst>
            </p:cNvPr>
            <p:cNvGrpSpPr/>
            <p:nvPr/>
          </p:nvGrpSpPr>
          <p:grpSpPr>
            <a:xfrm>
              <a:off x="1773798" y="3251964"/>
              <a:ext cx="9714838" cy="3378682"/>
              <a:chOff x="838200" y="2180561"/>
              <a:chExt cx="10650436" cy="3858163"/>
            </a:xfrm>
          </p:grpSpPr>
          <p:pic>
            <p:nvPicPr>
              <p:cNvPr id="9" name="Imagem 3" descr="Diagrama&#10;&#10;O conteúdo gerado por IA pode estar incorreto.">
                <a:extLst>
                  <a:ext uri="{FF2B5EF4-FFF2-40B4-BE49-F238E27FC236}">
                    <a16:creationId xmlns:a16="http://schemas.microsoft.com/office/drawing/2014/main" id="{1092D91B-755D-A77F-C54B-BBC760CD89CA}"/>
                  </a:ext>
                </a:extLst>
              </p:cNvPr>
              <p:cNvPicPr>
                <a:picLocks noChangeAspect="1"/>
              </p:cNvPicPr>
              <p:nvPr/>
            </p:nvPicPr>
            <p:blipFill>
              <a:blip r:embed="rId4"/>
              <a:stretch>
                <a:fillRect/>
              </a:stretch>
            </p:blipFill>
            <p:spPr>
              <a:xfrm>
                <a:off x="838200" y="2180561"/>
                <a:ext cx="10650436" cy="3858163"/>
              </a:xfrm>
              <a:prstGeom prst="rect">
                <a:avLst/>
              </a:prstGeom>
            </p:spPr>
          </p:pic>
          <p:sp>
            <p:nvSpPr>
              <p:cNvPr id="10" name="Retângulo 5">
                <a:extLst>
                  <a:ext uri="{FF2B5EF4-FFF2-40B4-BE49-F238E27FC236}">
                    <a16:creationId xmlns:a16="http://schemas.microsoft.com/office/drawing/2014/main" id="{E7270E3B-CEB0-4ED7-34E8-C928022B05D2}"/>
                  </a:ext>
                </a:extLst>
              </p:cNvPr>
              <p:cNvSpPr/>
              <p:nvPr/>
            </p:nvSpPr>
            <p:spPr>
              <a:xfrm>
                <a:off x="7913341" y="2289438"/>
                <a:ext cx="1959429" cy="4606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6">
                <a:extLst>
                  <a:ext uri="{FF2B5EF4-FFF2-40B4-BE49-F238E27FC236}">
                    <a16:creationId xmlns:a16="http://schemas.microsoft.com/office/drawing/2014/main" id="{7192AFEB-EE3E-74ED-9809-451ED94011A4}"/>
                  </a:ext>
                </a:extLst>
              </p:cNvPr>
              <p:cNvSpPr/>
              <p:nvPr/>
            </p:nvSpPr>
            <p:spPr>
              <a:xfrm>
                <a:off x="8511483" y="3485720"/>
                <a:ext cx="1670670" cy="13062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7" name="CaixaDeTexto 8">
              <a:extLst>
                <a:ext uri="{FF2B5EF4-FFF2-40B4-BE49-F238E27FC236}">
                  <a16:creationId xmlns:a16="http://schemas.microsoft.com/office/drawing/2014/main" id="{C0A65EC8-1F06-F386-542F-32F0ACAF01FE}"/>
                </a:ext>
              </a:extLst>
            </p:cNvPr>
            <p:cNvSpPr txBox="1"/>
            <p:nvPr/>
          </p:nvSpPr>
          <p:spPr>
            <a:xfrm>
              <a:off x="8227416" y="3275677"/>
              <a:ext cx="1658883" cy="416868"/>
            </a:xfrm>
            <a:prstGeom prst="rect">
              <a:avLst/>
            </a:prstGeom>
            <a:noFill/>
          </p:spPr>
          <p:txBody>
            <a:bodyPr wrap="none" rtlCol="0">
              <a:spAutoFit/>
            </a:bodyPr>
            <a:lstStyle/>
            <a:p>
              <a:r>
                <a:rPr lang="pt-BR" dirty="0"/>
                <a:t>Corrente livre</a:t>
              </a:r>
            </a:p>
          </p:txBody>
        </p:sp>
        <p:sp>
          <p:nvSpPr>
            <p:cNvPr id="8" name="CaixaDeTexto 9">
              <a:extLst>
                <a:ext uri="{FF2B5EF4-FFF2-40B4-BE49-F238E27FC236}">
                  <a16:creationId xmlns:a16="http://schemas.microsoft.com/office/drawing/2014/main" id="{94002EB7-1A1C-F4CC-6F83-20E2B0762D8F}"/>
                </a:ext>
              </a:extLst>
            </p:cNvPr>
            <p:cNvSpPr txBox="1"/>
            <p:nvPr/>
          </p:nvSpPr>
          <p:spPr>
            <a:xfrm>
              <a:off x="8705103" y="4767758"/>
              <a:ext cx="1863175" cy="729520"/>
            </a:xfrm>
            <a:prstGeom prst="rect">
              <a:avLst/>
            </a:prstGeom>
            <a:noFill/>
          </p:spPr>
          <p:txBody>
            <a:bodyPr wrap="square" rtlCol="0">
              <a:spAutoFit/>
            </a:bodyPr>
            <a:lstStyle/>
            <a:p>
              <a:r>
                <a:rPr lang="pt-BR" dirty="0"/>
                <a:t>Camada limite de velocidade</a:t>
              </a:r>
            </a:p>
          </p:txBody>
        </p:sp>
      </p:grpSp>
      <p:sp>
        <p:nvSpPr>
          <p:cNvPr id="13" name="TextBox 12">
            <a:extLst>
              <a:ext uri="{FF2B5EF4-FFF2-40B4-BE49-F238E27FC236}">
                <a16:creationId xmlns:a16="http://schemas.microsoft.com/office/drawing/2014/main" id="{1CF30883-D032-52AF-E687-B3FAD92F7DFB}"/>
              </a:ext>
            </a:extLst>
          </p:cNvPr>
          <p:cNvSpPr txBox="1"/>
          <p:nvPr/>
        </p:nvSpPr>
        <p:spPr>
          <a:xfrm>
            <a:off x="457200" y="5980776"/>
            <a:ext cx="10716323" cy="318549"/>
          </a:xfrm>
          <a:prstGeom prst="rect">
            <a:avLst/>
          </a:prstGeom>
          <a:noFill/>
        </p:spPr>
        <p:txBody>
          <a:bodyPr wrap="square">
            <a:spAutoFit/>
          </a:bodyPr>
          <a:lstStyle/>
          <a:p>
            <a:pPr>
              <a:lnSpc>
                <a:spcPts val="2000"/>
              </a:lnSpc>
              <a:spcAft>
                <a:spcPts val="600"/>
              </a:spcAft>
              <a:buSzPct val="100000"/>
            </a:pPr>
            <a:r>
              <a:rPr lang="pt-PT" sz="1000" dirty="0">
                <a:solidFill>
                  <a:srgbClr val="182A32"/>
                </a:solidFill>
                <a:latin typeface="Calibri" pitchFamily="34" charset="0"/>
                <a:ea typeface="Calibri" pitchFamily="34" charset="-122"/>
                <a:cs typeface="Calibri" pitchFamily="34" charset="-120"/>
              </a:rPr>
              <a:t>Fonte: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sp>
        <p:nvSpPr>
          <p:cNvPr id="16" name="TextBox 15">
            <a:extLst>
              <a:ext uri="{FF2B5EF4-FFF2-40B4-BE49-F238E27FC236}">
                <a16:creationId xmlns:a16="http://schemas.microsoft.com/office/drawing/2014/main" id="{BFE1BDE2-9D83-E5E1-4433-CC0247D0C615}"/>
              </a:ext>
            </a:extLst>
          </p:cNvPr>
          <p:cNvSpPr txBox="1"/>
          <p:nvPr/>
        </p:nvSpPr>
        <p:spPr>
          <a:xfrm>
            <a:off x="5216084" y="2071360"/>
            <a:ext cx="2745769" cy="646331"/>
          </a:xfrm>
          <a:prstGeom prst="rect">
            <a:avLst/>
          </a:prstGeom>
          <a:noFill/>
        </p:spPr>
        <p:txBody>
          <a:bodyPr wrap="square" rtlCol="0">
            <a:spAutoFit/>
          </a:bodyPr>
          <a:lstStyle/>
          <a:p>
            <a:pPr algn="ctr"/>
            <a:r>
              <a:rPr lang="pt-BR" sz="1200" dirty="0">
                <a:solidFill>
                  <a:srgbClr val="FF0000"/>
                </a:solidFill>
              </a:rPr>
              <a:t>Essa variação de velocidades também interfere na distribuição de temperaturas no fluido</a:t>
            </a:r>
            <a:endParaRPr lang="en-BR" sz="1200" dirty="0">
              <a:solidFill>
                <a:srgbClr val="FF0000"/>
              </a:solidFill>
            </a:endParaRPr>
          </a:p>
        </p:txBody>
      </p:sp>
      <p:sp>
        <p:nvSpPr>
          <p:cNvPr id="19" name="Rounded Rectangle 18">
            <a:extLst>
              <a:ext uri="{FF2B5EF4-FFF2-40B4-BE49-F238E27FC236}">
                <a16:creationId xmlns:a16="http://schemas.microsoft.com/office/drawing/2014/main" id="{1A7EB60E-4631-EE04-EFE1-6FA9B60F1200}"/>
              </a:ext>
            </a:extLst>
          </p:cNvPr>
          <p:cNvSpPr/>
          <p:nvPr/>
        </p:nvSpPr>
        <p:spPr>
          <a:xfrm>
            <a:off x="5893739" y="2933972"/>
            <a:ext cx="1364754" cy="2242132"/>
          </a:xfrm>
          <a:prstGeom prst="roundRect">
            <a:avLst/>
          </a:prstGeom>
          <a:solidFill>
            <a:srgbClr val="FF0000">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2446222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CAMADA LIMITE</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Camada-limite térmica</a:t>
            </a:r>
            <a:endParaRPr lang="pt-PT" sz="3200" noProof="0" dirty="0"/>
          </a:p>
        </p:txBody>
      </p:sp>
      <p:sp>
        <p:nvSpPr>
          <p:cNvPr id="22" name="Text 19"/>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3" name="Text 20"/>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3 · Camada limite</a:t>
            </a:r>
            <a:endParaRPr lang="pt-PT" sz="950" noProof="0" dirty="0"/>
          </a:p>
        </p:txBody>
      </p:sp>
      <p:sp>
        <p:nvSpPr>
          <p:cNvPr id="24" name="Text 21"/>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7</a:t>
            </a:r>
            <a:endParaRPr lang="pt-PT" sz="950" noProof="0" dirty="0"/>
          </a:p>
        </p:txBody>
      </p:sp>
      <p:pic>
        <p:nvPicPr>
          <p:cNvPr id="2" name="Imagem 3" descr="Diagrama&#10;&#10;O conteúdo gerado por IA pode estar incorreto.">
            <a:extLst>
              <a:ext uri="{FF2B5EF4-FFF2-40B4-BE49-F238E27FC236}">
                <a16:creationId xmlns:a16="http://schemas.microsoft.com/office/drawing/2014/main" id="{DBE23083-9E79-F706-AD4D-D0F8C1C95276}"/>
              </a:ext>
            </a:extLst>
          </p:cNvPr>
          <p:cNvPicPr>
            <a:picLocks noChangeAspect="1"/>
          </p:cNvPicPr>
          <p:nvPr/>
        </p:nvPicPr>
        <p:blipFill>
          <a:blip r:embed="rId3"/>
          <a:stretch>
            <a:fillRect/>
          </a:stretch>
        </p:blipFill>
        <p:spPr>
          <a:xfrm>
            <a:off x="1460895" y="2849796"/>
            <a:ext cx="8965410" cy="3380400"/>
          </a:xfrm>
          <a:prstGeom prst="rect">
            <a:avLst/>
          </a:prstGeom>
        </p:spPr>
      </p:pic>
      <p:sp>
        <p:nvSpPr>
          <p:cNvPr id="25" name="TextBox 24">
            <a:extLst>
              <a:ext uri="{FF2B5EF4-FFF2-40B4-BE49-F238E27FC236}">
                <a16:creationId xmlns:a16="http://schemas.microsoft.com/office/drawing/2014/main" id="{BB4DED9B-66ED-C727-0E75-4783ABA1364A}"/>
              </a:ext>
            </a:extLst>
          </p:cNvPr>
          <p:cNvSpPr txBox="1"/>
          <p:nvPr/>
        </p:nvSpPr>
        <p:spPr>
          <a:xfrm>
            <a:off x="457200" y="5980776"/>
            <a:ext cx="10716323" cy="318549"/>
          </a:xfrm>
          <a:prstGeom prst="rect">
            <a:avLst/>
          </a:prstGeom>
          <a:noFill/>
        </p:spPr>
        <p:txBody>
          <a:bodyPr wrap="square">
            <a:spAutoFit/>
          </a:bodyPr>
          <a:lstStyle/>
          <a:p>
            <a:pPr>
              <a:lnSpc>
                <a:spcPts val="2000"/>
              </a:lnSpc>
              <a:spcAft>
                <a:spcPts val="600"/>
              </a:spcAft>
              <a:buSzPct val="100000"/>
            </a:pPr>
            <a:r>
              <a:rPr lang="pt-PT" sz="1000" dirty="0">
                <a:solidFill>
                  <a:srgbClr val="182A32"/>
                </a:solidFill>
                <a:latin typeface="Calibri" pitchFamily="34" charset="0"/>
                <a:ea typeface="Calibri" pitchFamily="34" charset="-122"/>
                <a:cs typeface="Calibri" pitchFamily="34" charset="-120"/>
              </a:rPr>
              <a:t>Fonte: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sp>
        <p:nvSpPr>
          <p:cNvPr id="26" name="TextBox 25">
            <a:extLst>
              <a:ext uri="{FF2B5EF4-FFF2-40B4-BE49-F238E27FC236}">
                <a16:creationId xmlns:a16="http://schemas.microsoft.com/office/drawing/2014/main" id="{CAF5F525-DD1C-92EE-BC14-E2344702075C}"/>
              </a:ext>
            </a:extLst>
          </p:cNvPr>
          <p:cNvSpPr txBox="1"/>
          <p:nvPr/>
        </p:nvSpPr>
        <p:spPr>
          <a:xfrm>
            <a:off x="7034982" y="3130746"/>
            <a:ext cx="1858296" cy="400110"/>
          </a:xfrm>
          <a:prstGeom prst="rect">
            <a:avLst/>
          </a:prstGeom>
          <a:solidFill>
            <a:schemeClr val="bg1"/>
          </a:solidFill>
        </p:spPr>
        <p:txBody>
          <a:bodyPr wrap="square" rtlCol="0">
            <a:spAutoFit/>
          </a:bodyPr>
          <a:lstStyle/>
          <a:p>
            <a:r>
              <a:rPr lang="en-BR" sz="2000" dirty="0"/>
              <a:t>Corrente livre</a:t>
            </a:r>
          </a:p>
        </p:txBody>
      </p:sp>
      <p:sp>
        <p:nvSpPr>
          <p:cNvPr id="27" name="TextBox 26">
            <a:extLst>
              <a:ext uri="{FF2B5EF4-FFF2-40B4-BE49-F238E27FC236}">
                <a16:creationId xmlns:a16="http://schemas.microsoft.com/office/drawing/2014/main" id="{F5AFE7DA-252A-B263-418D-D7278F669A74}"/>
              </a:ext>
            </a:extLst>
          </p:cNvPr>
          <p:cNvSpPr txBox="1"/>
          <p:nvPr/>
        </p:nvSpPr>
        <p:spPr>
          <a:xfrm>
            <a:off x="7831105" y="4032164"/>
            <a:ext cx="1357142" cy="1015663"/>
          </a:xfrm>
          <a:prstGeom prst="rect">
            <a:avLst/>
          </a:prstGeom>
          <a:solidFill>
            <a:schemeClr val="bg1"/>
          </a:solidFill>
        </p:spPr>
        <p:txBody>
          <a:bodyPr wrap="square" rtlCol="0">
            <a:spAutoFit/>
          </a:bodyPr>
          <a:lstStyle/>
          <a:p>
            <a:r>
              <a:rPr lang="en-BR" sz="2000" dirty="0"/>
              <a:t>Camada-limite térmica</a:t>
            </a:r>
          </a:p>
        </p:txBody>
      </p:sp>
      <p:sp>
        <p:nvSpPr>
          <p:cNvPr id="29" name="Rounded Rectangle 28">
            <a:extLst>
              <a:ext uri="{FF2B5EF4-FFF2-40B4-BE49-F238E27FC236}">
                <a16:creationId xmlns:a16="http://schemas.microsoft.com/office/drawing/2014/main" id="{1D598807-B34C-C43C-D1A8-997BCEA22265}"/>
              </a:ext>
            </a:extLst>
          </p:cNvPr>
          <p:cNvSpPr/>
          <p:nvPr/>
        </p:nvSpPr>
        <p:spPr>
          <a:xfrm>
            <a:off x="2195476" y="3635680"/>
            <a:ext cx="1166037" cy="1767030"/>
          </a:xfrm>
          <a:prstGeom prst="roundRect">
            <a:avLst/>
          </a:prstGeom>
          <a:solidFill>
            <a:srgbClr val="FF0000">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30" name="Text 2">
            <a:extLst>
              <a:ext uri="{FF2B5EF4-FFF2-40B4-BE49-F238E27FC236}">
                <a16:creationId xmlns:a16="http://schemas.microsoft.com/office/drawing/2014/main" id="{0181E8FA-8330-15D4-6C86-93E837CDFB6E}"/>
              </a:ext>
            </a:extLst>
          </p:cNvPr>
          <p:cNvSpPr/>
          <p:nvPr/>
        </p:nvSpPr>
        <p:spPr>
          <a:xfrm>
            <a:off x="640080" y="1572764"/>
            <a:ext cx="10881360" cy="822960"/>
          </a:xfrm>
          <a:prstGeom prst="rect">
            <a:avLst/>
          </a:prstGeom>
          <a:noFill/>
          <a:ln/>
        </p:spPr>
        <p:txBody>
          <a:bodyPr wrap="square" rtlCol="0" anchor="ctr"/>
          <a:lstStyle/>
          <a:p>
            <a:pPr marL="0" indent="0">
              <a:lnSpc>
                <a:spcPts val="1900"/>
              </a:lnSpc>
              <a:buNone/>
            </a:pPr>
            <a:r>
              <a:rPr lang="pt-PT" sz="1400" noProof="0" dirty="0">
                <a:solidFill>
                  <a:srgbClr val="182A32"/>
                </a:solidFill>
                <a:latin typeface="Calibri" pitchFamily="34" charset="0"/>
                <a:ea typeface="Calibri" pitchFamily="34" charset="-122"/>
                <a:cs typeface="Calibri" pitchFamily="34" charset="-120"/>
              </a:rPr>
              <a:t>Região próxima à superfície onde a temperatura varia de </a:t>
            </a:r>
            <a:r>
              <a:rPr lang="pt-PT" sz="1400" b="1" noProof="0" dirty="0" err="1">
                <a:solidFill>
                  <a:srgbClr val="E8602C"/>
                </a:solidFill>
                <a:latin typeface="Calibri" pitchFamily="34" charset="0"/>
                <a:ea typeface="Calibri" pitchFamily="34" charset="-122"/>
                <a:cs typeface="Calibri" pitchFamily="34" charset="-120"/>
              </a:rPr>
              <a:t>Ts</a:t>
            </a:r>
            <a:r>
              <a:rPr lang="pt-PT" sz="1400" noProof="0" dirty="0">
                <a:solidFill>
                  <a:srgbClr val="182A32"/>
                </a:solidFill>
                <a:latin typeface="Calibri" pitchFamily="34" charset="0"/>
                <a:ea typeface="Calibri" pitchFamily="34" charset="-122"/>
                <a:cs typeface="Calibri" pitchFamily="34" charset="-120"/>
              </a:rPr>
              <a:t> (na parede) até 99% de </a:t>
            </a:r>
            <a:r>
              <a:rPr lang="pt-PT" sz="1400" b="1" noProof="0" dirty="0">
                <a:solidFill>
                  <a:srgbClr val="065A82"/>
                </a:solidFill>
                <a:latin typeface="Calibri" pitchFamily="34" charset="0"/>
                <a:ea typeface="Calibri" pitchFamily="34" charset="-122"/>
                <a:cs typeface="Calibri" pitchFamily="34" charset="-120"/>
              </a:rPr>
              <a:t>T∞</a:t>
            </a:r>
            <a:r>
              <a:rPr lang="pt-PT" sz="1400" noProof="0" dirty="0">
                <a:solidFill>
                  <a:srgbClr val="182A32"/>
                </a:solidFill>
                <a:latin typeface="Calibri" pitchFamily="34" charset="0"/>
                <a:ea typeface="Calibri" pitchFamily="34" charset="-122"/>
                <a:cs typeface="Calibri" pitchFamily="34" charset="-120"/>
              </a:rPr>
              <a:t> (na corrente livre), com espessura </a:t>
            </a:r>
            <a:r>
              <a:rPr lang="pt-PT" sz="1400" noProof="0" dirty="0" err="1">
                <a:solidFill>
                  <a:srgbClr val="182A32"/>
                </a:solidFill>
                <a:latin typeface="Calibri" pitchFamily="34" charset="0"/>
                <a:ea typeface="Calibri" pitchFamily="34" charset="-122"/>
                <a:cs typeface="Calibri" pitchFamily="34" charset="-120"/>
              </a:rPr>
              <a:t>δt</a:t>
            </a:r>
            <a:r>
              <a:rPr lang="pt-PT" sz="1400" noProof="0" dirty="0">
                <a:solidFill>
                  <a:srgbClr val="182A32"/>
                </a:solidFill>
                <a:latin typeface="Calibri" pitchFamily="34" charset="0"/>
                <a:ea typeface="Calibri" pitchFamily="34" charset="-122"/>
                <a:cs typeface="Calibri" pitchFamily="34" charset="-120"/>
              </a:rPr>
              <a:t>. </a:t>
            </a:r>
          </a:p>
          <a:p>
            <a:pPr marL="0" indent="0">
              <a:lnSpc>
                <a:spcPts val="1900"/>
              </a:lnSpc>
              <a:buNone/>
            </a:pPr>
            <a:r>
              <a:rPr lang="pt-PT" sz="1400" noProof="0" dirty="0">
                <a:solidFill>
                  <a:srgbClr val="182A32"/>
                </a:solidFill>
                <a:latin typeface="Calibri" pitchFamily="34" charset="0"/>
                <a:ea typeface="Calibri" pitchFamily="34" charset="-122"/>
                <a:cs typeface="Calibri" pitchFamily="34" charset="-120"/>
              </a:rPr>
              <a:t>É nessa camada fina que se concentra o gradiente de temperatura que controla h.</a:t>
            </a:r>
            <a:endParaRPr lang="pt-PT" sz="1400" noProof="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55FA12A-CF1D-D28C-361D-6770E60B1E16}"/>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450CC401-0C1F-AB84-E62D-19E8BB1FC964}"/>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CAMADA LIMITE</a:t>
            </a:r>
            <a:endParaRPr lang="pt-PT" sz="1300" noProof="0" dirty="0"/>
          </a:p>
        </p:txBody>
      </p:sp>
      <p:sp>
        <p:nvSpPr>
          <p:cNvPr id="4" name="Text 1">
            <a:extLst>
              <a:ext uri="{FF2B5EF4-FFF2-40B4-BE49-F238E27FC236}">
                <a16:creationId xmlns:a16="http://schemas.microsoft.com/office/drawing/2014/main" id="{9EF2B566-1CCC-0717-FC5B-89297F99FCC0}"/>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Camada-limite térmica</a:t>
            </a:r>
            <a:endParaRPr lang="pt-PT" sz="3200" noProof="0" dirty="0"/>
          </a:p>
        </p:txBody>
      </p:sp>
      <p:sp>
        <p:nvSpPr>
          <p:cNvPr id="22" name="Text 19">
            <a:extLst>
              <a:ext uri="{FF2B5EF4-FFF2-40B4-BE49-F238E27FC236}">
                <a16:creationId xmlns:a16="http://schemas.microsoft.com/office/drawing/2014/main" id="{1BB033BE-9F79-17FA-C545-2DD40BFD61CD}"/>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3" name="Text 20">
            <a:extLst>
              <a:ext uri="{FF2B5EF4-FFF2-40B4-BE49-F238E27FC236}">
                <a16:creationId xmlns:a16="http://schemas.microsoft.com/office/drawing/2014/main" id="{078B2592-A2EE-07DC-DE69-0AC390BDEBB4}"/>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3 · Camada limite</a:t>
            </a:r>
            <a:endParaRPr lang="pt-PT" sz="950" noProof="0" dirty="0"/>
          </a:p>
        </p:txBody>
      </p:sp>
      <p:sp>
        <p:nvSpPr>
          <p:cNvPr id="24" name="Text 21">
            <a:extLst>
              <a:ext uri="{FF2B5EF4-FFF2-40B4-BE49-F238E27FC236}">
                <a16:creationId xmlns:a16="http://schemas.microsoft.com/office/drawing/2014/main" id="{50B617E2-DA83-9AFE-5892-6214932A8A06}"/>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7</a:t>
            </a:r>
            <a:endParaRPr lang="pt-PT" sz="950" noProof="0" dirty="0"/>
          </a:p>
        </p:txBody>
      </p:sp>
      <p:pic>
        <p:nvPicPr>
          <p:cNvPr id="2" name="Imagem 3" descr="Diagrama&#10;&#10;O conteúdo gerado por IA pode estar incorreto.">
            <a:extLst>
              <a:ext uri="{FF2B5EF4-FFF2-40B4-BE49-F238E27FC236}">
                <a16:creationId xmlns:a16="http://schemas.microsoft.com/office/drawing/2014/main" id="{183555A8-DEC4-BBCC-6EEB-EB571A108D55}"/>
              </a:ext>
            </a:extLst>
          </p:cNvPr>
          <p:cNvPicPr>
            <a:picLocks noChangeAspect="1"/>
          </p:cNvPicPr>
          <p:nvPr/>
        </p:nvPicPr>
        <p:blipFill>
          <a:blip r:embed="rId3"/>
          <a:stretch>
            <a:fillRect/>
          </a:stretch>
        </p:blipFill>
        <p:spPr>
          <a:xfrm>
            <a:off x="1460895" y="2849796"/>
            <a:ext cx="8965410" cy="3380400"/>
          </a:xfrm>
          <a:prstGeom prst="rect">
            <a:avLst/>
          </a:prstGeom>
        </p:spPr>
      </p:pic>
      <p:sp>
        <p:nvSpPr>
          <p:cNvPr id="25" name="TextBox 24">
            <a:extLst>
              <a:ext uri="{FF2B5EF4-FFF2-40B4-BE49-F238E27FC236}">
                <a16:creationId xmlns:a16="http://schemas.microsoft.com/office/drawing/2014/main" id="{37E08CBF-43B0-6CE8-07A1-339DBA527A1C}"/>
              </a:ext>
            </a:extLst>
          </p:cNvPr>
          <p:cNvSpPr txBox="1"/>
          <p:nvPr/>
        </p:nvSpPr>
        <p:spPr>
          <a:xfrm>
            <a:off x="457200" y="5980776"/>
            <a:ext cx="10716323" cy="318549"/>
          </a:xfrm>
          <a:prstGeom prst="rect">
            <a:avLst/>
          </a:prstGeom>
          <a:noFill/>
        </p:spPr>
        <p:txBody>
          <a:bodyPr wrap="square">
            <a:spAutoFit/>
          </a:bodyPr>
          <a:lstStyle/>
          <a:p>
            <a:pPr>
              <a:lnSpc>
                <a:spcPts val="2000"/>
              </a:lnSpc>
              <a:spcAft>
                <a:spcPts val="600"/>
              </a:spcAft>
              <a:buSzPct val="100000"/>
            </a:pPr>
            <a:r>
              <a:rPr lang="pt-PT" sz="1000" dirty="0">
                <a:solidFill>
                  <a:srgbClr val="182A32"/>
                </a:solidFill>
                <a:latin typeface="Calibri" pitchFamily="34" charset="0"/>
                <a:ea typeface="Calibri" pitchFamily="34" charset="-122"/>
                <a:cs typeface="Calibri" pitchFamily="34" charset="-120"/>
              </a:rPr>
              <a:t>Fonte: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sp>
        <p:nvSpPr>
          <p:cNvPr id="26" name="TextBox 25">
            <a:extLst>
              <a:ext uri="{FF2B5EF4-FFF2-40B4-BE49-F238E27FC236}">
                <a16:creationId xmlns:a16="http://schemas.microsoft.com/office/drawing/2014/main" id="{17A7DB24-2858-F281-8684-5229707E51CE}"/>
              </a:ext>
            </a:extLst>
          </p:cNvPr>
          <p:cNvSpPr txBox="1"/>
          <p:nvPr/>
        </p:nvSpPr>
        <p:spPr>
          <a:xfrm>
            <a:off x="7034982" y="3130746"/>
            <a:ext cx="1858296" cy="400110"/>
          </a:xfrm>
          <a:prstGeom prst="rect">
            <a:avLst/>
          </a:prstGeom>
          <a:solidFill>
            <a:schemeClr val="bg1"/>
          </a:solidFill>
        </p:spPr>
        <p:txBody>
          <a:bodyPr wrap="square" rtlCol="0">
            <a:spAutoFit/>
          </a:bodyPr>
          <a:lstStyle/>
          <a:p>
            <a:r>
              <a:rPr lang="en-BR" sz="2000" dirty="0"/>
              <a:t>Corrente livre</a:t>
            </a:r>
          </a:p>
        </p:txBody>
      </p:sp>
      <p:sp>
        <p:nvSpPr>
          <p:cNvPr id="27" name="TextBox 26">
            <a:extLst>
              <a:ext uri="{FF2B5EF4-FFF2-40B4-BE49-F238E27FC236}">
                <a16:creationId xmlns:a16="http://schemas.microsoft.com/office/drawing/2014/main" id="{832AF591-E00E-6E29-FBFB-33C4BD99F977}"/>
              </a:ext>
            </a:extLst>
          </p:cNvPr>
          <p:cNvSpPr txBox="1"/>
          <p:nvPr/>
        </p:nvSpPr>
        <p:spPr>
          <a:xfrm>
            <a:off x="7831105" y="4032164"/>
            <a:ext cx="1357142" cy="1015663"/>
          </a:xfrm>
          <a:prstGeom prst="rect">
            <a:avLst/>
          </a:prstGeom>
          <a:solidFill>
            <a:schemeClr val="bg1"/>
          </a:solidFill>
        </p:spPr>
        <p:txBody>
          <a:bodyPr wrap="square" rtlCol="0">
            <a:spAutoFit/>
          </a:bodyPr>
          <a:lstStyle/>
          <a:p>
            <a:r>
              <a:rPr lang="en-BR" sz="2000" dirty="0"/>
              <a:t>Camada-limite térmica</a:t>
            </a:r>
          </a:p>
        </p:txBody>
      </p:sp>
      <p:sp>
        <p:nvSpPr>
          <p:cNvPr id="29" name="Rounded Rectangle 28">
            <a:extLst>
              <a:ext uri="{FF2B5EF4-FFF2-40B4-BE49-F238E27FC236}">
                <a16:creationId xmlns:a16="http://schemas.microsoft.com/office/drawing/2014/main" id="{759D4B67-64FB-EA56-C274-EE30A33DCECE}"/>
              </a:ext>
            </a:extLst>
          </p:cNvPr>
          <p:cNvSpPr/>
          <p:nvPr/>
        </p:nvSpPr>
        <p:spPr>
          <a:xfrm>
            <a:off x="2195476" y="3635680"/>
            <a:ext cx="1166037" cy="1767030"/>
          </a:xfrm>
          <a:prstGeom prst="roundRect">
            <a:avLst/>
          </a:prstGeom>
          <a:solidFill>
            <a:srgbClr val="FF0000">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6" name="Rounded Rectangle 5">
            <a:extLst>
              <a:ext uri="{FF2B5EF4-FFF2-40B4-BE49-F238E27FC236}">
                <a16:creationId xmlns:a16="http://schemas.microsoft.com/office/drawing/2014/main" id="{A4125C2D-3953-204A-FFE0-5862B906B230}"/>
              </a:ext>
            </a:extLst>
          </p:cNvPr>
          <p:cNvSpPr/>
          <p:nvPr/>
        </p:nvSpPr>
        <p:spPr>
          <a:xfrm>
            <a:off x="5482554" y="5563005"/>
            <a:ext cx="2165799" cy="525907"/>
          </a:xfrm>
          <a:prstGeom prst="roundRect">
            <a:avLst/>
          </a:prstGeom>
          <a:solidFill>
            <a:srgbClr val="FF0000">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416125AF-9683-D30A-88DD-630165D43997}"/>
                  </a:ext>
                </a:extLst>
              </p:cNvPr>
              <p:cNvSpPr txBox="1"/>
              <p:nvPr/>
            </p:nvSpPr>
            <p:spPr>
              <a:xfrm>
                <a:off x="5363185" y="2518548"/>
                <a:ext cx="1671797" cy="646331"/>
              </a:xfrm>
              <a:prstGeom prst="rect">
                <a:avLst/>
              </a:prstGeom>
              <a:noFill/>
            </p:spPr>
            <p:txBody>
              <a:bodyPr wrap="square" rtlCol="0">
                <a:spAutoFit/>
              </a:bodyPr>
              <a:lstStyle/>
              <a:p>
                <a:pPr algn="ctr"/>
                <a14:m>
                  <m:oMath xmlns:m="http://schemas.openxmlformats.org/officeDocument/2006/math">
                    <m:sSub>
                      <m:sSubPr>
                        <m:ctrlPr>
                          <a:rPr lang="en-BR" sz="1200" i="1" smtClean="0">
                            <a:solidFill>
                              <a:srgbClr val="FF0000"/>
                            </a:solidFill>
                            <a:latin typeface="Cambria Math" panose="02040503050406030204" pitchFamily="18" charset="0"/>
                          </a:rPr>
                        </m:ctrlPr>
                      </m:sSubPr>
                      <m:e>
                        <m:r>
                          <a:rPr lang="pt-BR" sz="1200" b="0" i="1" smtClean="0">
                            <a:solidFill>
                              <a:srgbClr val="FF0000"/>
                            </a:solidFill>
                            <a:latin typeface="Cambria Math" panose="02040503050406030204" pitchFamily="18" charset="0"/>
                          </a:rPr>
                          <m:t>𝑇</m:t>
                        </m:r>
                      </m:e>
                      <m:sub>
                        <m:r>
                          <a:rPr lang="en-BR" sz="1200" i="1" smtClean="0">
                            <a:solidFill>
                              <a:srgbClr val="FF0000"/>
                            </a:solidFill>
                            <a:latin typeface="Cambria Math" panose="02040503050406030204" pitchFamily="18" charset="0"/>
                            <a:ea typeface="Cambria Math" panose="02040503050406030204" pitchFamily="18" charset="0"/>
                          </a:rPr>
                          <m:t>∞</m:t>
                        </m:r>
                        <m:r>
                          <a:rPr lang="pt-BR" sz="1200" b="0" i="1" smtClean="0">
                            <a:solidFill>
                              <a:srgbClr val="FF0000"/>
                            </a:solidFill>
                            <a:latin typeface="Cambria Math" panose="02040503050406030204" pitchFamily="18" charset="0"/>
                            <a:ea typeface="Cambria Math" panose="02040503050406030204" pitchFamily="18" charset="0"/>
                          </a:rPr>
                          <m:t> </m:t>
                        </m:r>
                      </m:sub>
                    </m:sSub>
                    <m:r>
                      <a:rPr lang="en-BR" sz="1200" i="1" smtClean="0">
                        <a:solidFill>
                          <a:srgbClr val="FF0000"/>
                        </a:solidFill>
                        <a:latin typeface="Cambria Math" panose="02040503050406030204" pitchFamily="18" charset="0"/>
                        <a:ea typeface="Cambria Math" panose="02040503050406030204" pitchFamily="18" charset="0"/>
                      </a:rPr>
                      <m:t>≠</m:t>
                    </m:r>
                    <m:r>
                      <a:rPr lang="pt-BR" sz="1200" b="0" i="1" smtClean="0">
                        <a:solidFill>
                          <a:srgbClr val="FF0000"/>
                        </a:solidFill>
                        <a:latin typeface="Cambria Math" panose="02040503050406030204" pitchFamily="18" charset="0"/>
                        <a:ea typeface="Cambria Math" panose="02040503050406030204" pitchFamily="18" charset="0"/>
                      </a:rPr>
                      <m:t> </m:t>
                    </m:r>
                    <m:sSub>
                      <m:sSubPr>
                        <m:ctrlPr>
                          <a:rPr lang="pt-BR" sz="1200" b="0" i="1" smtClean="0">
                            <a:solidFill>
                              <a:srgbClr val="FF0000"/>
                            </a:solidFill>
                            <a:latin typeface="Cambria Math" panose="02040503050406030204" pitchFamily="18" charset="0"/>
                            <a:ea typeface="Cambria Math" panose="02040503050406030204" pitchFamily="18" charset="0"/>
                          </a:rPr>
                        </m:ctrlPr>
                      </m:sSubPr>
                      <m:e>
                        <m:r>
                          <a:rPr lang="pt-BR" sz="1200" b="0" i="1" smtClean="0">
                            <a:solidFill>
                              <a:srgbClr val="FF0000"/>
                            </a:solidFill>
                            <a:latin typeface="Cambria Math" panose="02040503050406030204" pitchFamily="18" charset="0"/>
                            <a:ea typeface="Cambria Math" panose="02040503050406030204" pitchFamily="18" charset="0"/>
                          </a:rPr>
                          <m:t>𝑇</m:t>
                        </m:r>
                      </m:e>
                      <m:sub>
                        <m:r>
                          <a:rPr lang="pt-BR" sz="1200" b="0" i="1" smtClean="0">
                            <a:solidFill>
                              <a:srgbClr val="FF0000"/>
                            </a:solidFill>
                            <a:latin typeface="Cambria Math" panose="02040503050406030204" pitchFamily="18" charset="0"/>
                            <a:ea typeface="Cambria Math" panose="02040503050406030204" pitchFamily="18" charset="0"/>
                          </a:rPr>
                          <m:t>𝑆</m:t>
                        </m:r>
                      </m:sub>
                    </m:sSub>
                    <m:r>
                      <a:rPr lang="pt-BR" sz="1200" b="0" i="1" smtClean="0">
                        <a:solidFill>
                          <a:srgbClr val="FF0000"/>
                        </a:solidFill>
                        <a:latin typeface="Cambria Math" panose="02040503050406030204" pitchFamily="18" charset="0"/>
                        <a:ea typeface="Cambria Math" panose="02040503050406030204" pitchFamily="18" charset="0"/>
                      </a:rPr>
                      <m:t> </m:t>
                    </m:r>
                  </m:oMath>
                </a14:m>
                <a:r>
                  <a:rPr lang="pt-BR" sz="1200" b="0" i="1" dirty="0">
                    <a:solidFill>
                      <a:srgbClr val="FF0000"/>
                    </a:solidFill>
                    <a:latin typeface="Cambria Math" panose="02040503050406030204" pitchFamily="18" charset="0"/>
                    <a:ea typeface="Cambria Math" panose="02040503050406030204" pitchFamily="18" charset="0"/>
                  </a:rPr>
                  <a:t>e  </a:t>
                </a:r>
                <a14:m>
                  <m:oMath xmlns:m="http://schemas.openxmlformats.org/officeDocument/2006/math">
                    <m:sSub>
                      <m:sSubPr>
                        <m:ctrlPr>
                          <a:rPr lang="pt-BR" sz="1200" i="1">
                            <a:solidFill>
                              <a:srgbClr val="FF0000"/>
                            </a:solidFill>
                            <a:latin typeface="Cambria Math" panose="02040503050406030204" pitchFamily="18" charset="0"/>
                            <a:ea typeface="Cambria Math" panose="02040503050406030204" pitchFamily="18" charset="0"/>
                          </a:rPr>
                        </m:ctrlPr>
                      </m:sSubPr>
                      <m:e>
                        <m:r>
                          <a:rPr lang="pt-BR" sz="1200" i="1">
                            <a:solidFill>
                              <a:srgbClr val="FF0000"/>
                            </a:solidFill>
                            <a:latin typeface="Cambria Math" panose="02040503050406030204" pitchFamily="18" charset="0"/>
                            <a:ea typeface="Cambria Math" panose="02040503050406030204" pitchFamily="18" charset="0"/>
                          </a:rPr>
                          <m:t>𝑇</m:t>
                        </m:r>
                      </m:e>
                      <m:sub>
                        <m:r>
                          <a:rPr lang="pt-BR" sz="1200" i="1">
                            <a:solidFill>
                              <a:srgbClr val="FF0000"/>
                            </a:solidFill>
                            <a:latin typeface="Cambria Math" panose="02040503050406030204" pitchFamily="18" charset="0"/>
                            <a:ea typeface="Cambria Math" panose="02040503050406030204" pitchFamily="18" charset="0"/>
                          </a:rPr>
                          <m:t>𝑆</m:t>
                        </m:r>
                      </m:sub>
                    </m:sSub>
                    <m:r>
                      <a:rPr lang="pt-BR" sz="1200" b="0" i="1" smtClean="0">
                        <a:solidFill>
                          <a:srgbClr val="FF0000"/>
                        </a:solidFill>
                        <a:latin typeface="Cambria Math" panose="02040503050406030204" pitchFamily="18" charset="0"/>
                        <a:ea typeface="Cambria Math" panose="02040503050406030204" pitchFamily="18" charset="0"/>
                      </a:rPr>
                      <m:t>&gt; </m:t>
                    </m:r>
                    <m:sSub>
                      <m:sSubPr>
                        <m:ctrlPr>
                          <a:rPr lang="en-BR" sz="1200" i="1">
                            <a:solidFill>
                              <a:srgbClr val="FF0000"/>
                            </a:solidFill>
                            <a:latin typeface="Cambria Math" panose="02040503050406030204" pitchFamily="18" charset="0"/>
                          </a:rPr>
                        </m:ctrlPr>
                      </m:sSubPr>
                      <m:e>
                        <m:r>
                          <a:rPr lang="pt-BR" sz="1200" i="1">
                            <a:solidFill>
                              <a:srgbClr val="FF0000"/>
                            </a:solidFill>
                            <a:latin typeface="Cambria Math" panose="02040503050406030204" pitchFamily="18" charset="0"/>
                          </a:rPr>
                          <m:t>𝑇</m:t>
                        </m:r>
                      </m:e>
                      <m:sub>
                        <m:r>
                          <a:rPr lang="en-BR" sz="1200" i="1">
                            <a:solidFill>
                              <a:srgbClr val="FF0000"/>
                            </a:solidFill>
                            <a:latin typeface="Cambria Math" panose="02040503050406030204" pitchFamily="18" charset="0"/>
                            <a:ea typeface="Cambria Math" panose="02040503050406030204" pitchFamily="18" charset="0"/>
                          </a:rPr>
                          <m:t>∞</m:t>
                        </m:r>
                        <m:r>
                          <a:rPr lang="pt-BR" sz="1200" i="1">
                            <a:solidFill>
                              <a:srgbClr val="FF0000"/>
                            </a:solidFill>
                            <a:latin typeface="Cambria Math" panose="02040503050406030204" pitchFamily="18" charset="0"/>
                            <a:ea typeface="Cambria Math" panose="02040503050406030204" pitchFamily="18" charset="0"/>
                          </a:rPr>
                          <m:t> </m:t>
                        </m:r>
                      </m:sub>
                    </m:sSub>
                  </m:oMath>
                </a14:m>
                <a:endParaRPr lang="pt-BR" sz="1200" b="0" i="1" dirty="0">
                  <a:solidFill>
                    <a:srgbClr val="FF0000"/>
                  </a:solidFill>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pt-BR" sz="1200" b="0" i="1" smtClean="0">
                          <a:solidFill>
                            <a:srgbClr val="FF0000"/>
                          </a:solidFill>
                          <a:latin typeface="Cambria Math" panose="02040503050406030204" pitchFamily="18" charset="0"/>
                          <a:ea typeface="Cambria Math" panose="02040503050406030204" pitchFamily="18" charset="0"/>
                        </a:rPr>
                        <m:t>∴</m:t>
                      </m:r>
                    </m:oMath>
                  </m:oMathPara>
                </a14:m>
                <a:endParaRPr lang="pt-BR" sz="1200" b="0" dirty="0">
                  <a:solidFill>
                    <a:srgbClr val="FF0000"/>
                  </a:solidFill>
                  <a:ea typeface="Cambria Math" panose="02040503050406030204" pitchFamily="18" charset="0"/>
                </a:endParaRPr>
              </a:p>
              <a:p>
                <a:pPr algn="ctr"/>
                <a:r>
                  <a:rPr lang="en-BR" sz="1200" dirty="0">
                    <a:solidFill>
                      <a:srgbClr val="FF0000"/>
                    </a:solidFill>
                  </a:rPr>
                  <a:t>Transferência de calor</a:t>
                </a:r>
              </a:p>
            </p:txBody>
          </p:sp>
        </mc:Choice>
        <mc:Fallback>
          <p:sp>
            <p:nvSpPr>
              <p:cNvPr id="8" name="TextBox 7">
                <a:extLst>
                  <a:ext uri="{FF2B5EF4-FFF2-40B4-BE49-F238E27FC236}">
                    <a16:creationId xmlns:a16="http://schemas.microsoft.com/office/drawing/2014/main" id="{416125AF-9683-D30A-88DD-630165D43997}"/>
                  </a:ext>
                </a:extLst>
              </p:cNvPr>
              <p:cNvSpPr txBox="1">
                <a:spLocks noRot="1" noChangeAspect="1" noMove="1" noResize="1" noEditPoints="1" noAdjustHandles="1" noChangeArrowheads="1" noChangeShapeType="1" noTextEdit="1"/>
              </p:cNvSpPr>
              <p:nvPr/>
            </p:nvSpPr>
            <p:spPr>
              <a:xfrm>
                <a:off x="5363185" y="2518548"/>
                <a:ext cx="1671797" cy="646331"/>
              </a:xfrm>
              <a:prstGeom prst="rect">
                <a:avLst/>
              </a:prstGeom>
              <a:blipFill>
                <a:blip r:embed="rId4"/>
                <a:stretch>
                  <a:fillRect b="-5769"/>
                </a:stretch>
              </a:blipFill>
            </p:spPr>
            <p:txBody>
              <a:bodyPr/>
              <a:lstStyle/>
              <a:p>
                <a:r>
                  <a:rPr lang="en-BR">
                    <a:noFill/>
                  </a:rPr>
                  <a:t> </a:t>
                </a:r>
              </a:p>
            </p:txBody>
          </p:sp>
        </mc:Fallback>
      </mc:AlternateContent>
      <p:sp>
        <p:nvSpPr>
          <p:cNvPr id="11" name="Text 2">
            <a:extLst>
              <a:ext uri="{FF2B5EF4-FFF2-40B4-BE49-F238E27FC236}">
                <a16:creationId xmlns:a16="http://schemas.microsoft.com/office/drawing/2014/main" id="{179C123A-1626-2FFB-F85F-6623325C2150}"/>
              </a:ext>
            </a:extLst>
          </p:cNvPr>
          <p:cNvSpPr/>
          <p:nvPr/>
        </p:nvSpPr>
        <p:spPr>
          <a:xfrm>
            <a:off x="640080" y="1572764"/>
            <a:ext cx="10881360" cy="822960"/>
          </a:xfrm>
          <a:prstGeom prst="rect">
            <a:avLst/>
          </a:prstGeom>
          <a:noFill/>
          <a:ln/>
        </p:spPr>
        <p:txBody>
          <a:bodyPr wrap="square" rtlCol="0" anchor="ctr"/>
          <a:lstStyle/>
          <a:p>
            <a:pPr marL="0" indent="0">
              <a:lnSpc>
                <a:spcPts val="1900"/>
              </a:lnSpc>
              <a:buNone/>
            </a:pPr>
            <a:r>
              <a:rPr lang="pt-PT" sz="1400" noProof="0" dirty="0">
                <a:solidFill>
                  <a:srgbClr val="182A32"/>
                </a:solidFill>
                <a:latin typeface="Calibri" pitchFamily="34" charset="0"/>
                <a:ea typeface="Calibri" pitchFamily="34" charset="-122"/>
                <a:cs typeface="Calibri" pitchFamily="34" charset="-120"/>
              </a:rPr>
              <a:t>Região próxima à superfície onde a temperatura varia de </a:t>
            </a:r>
            <a:r>
              <a:rPr lang="pt-PT" sz="1400" b="1" noProof="0" dirty="0" err="1">
                <a:solidFill>
                  <a:srgbClr val="E8602C"/>
                </a:solidFill>
                <a:latin typeface="Calibri" pitchFamily="34" charset="0"/>
                <a:ea typeface="Calibri" pitchFamily="34" charset="-122"/>
                <a:cs typeface="Calibri" pitchFamily="34" charset="-120"/>
              </a:rPr>
              <a:t>Ts</a:t>
            </a:r>
            <a:r>
              <a:rPr lang="pt-PT" sz="1400" noProof="0" dirty="0">
                <a:solidFill>
                  <a:srgbClr val="182A32"/>
                </a:solidFill>
                <a:latin typeface="Calibri" pitchFamily="34" charset="0"/>
                <a:ea typeface="Calibri" pitchFamily="34" charset="-122"/>
                <a:cs typeface="Calibri" pitchFamily="34" charset="-120"/>
              </a:rPr>
              <a:t> (na parede) até 99% de </a:t>
            </a:r>
            <a:r>
              <a:rPr lang="pt-PT" sz="1400" b="1" noProof="0" dirty="0">
                <a:solidFill>
                  <a:srgbClr val="065A82"/>
                </a:solidFill>
                <a:latin typeface="Calibri" pitchFamily="34" charset="0"/>
                <a:ea typeface="Calibri" pitchFamily="34" charset="-122"/>
                <a:cs typeface="Calibri" pitchFamily="34" charset="-120"/>
              </a:rPr>
              <a:t>T∞</a:t>
            </a:r>
            <a:r>
              <a:rPr lang="pt-PT" sz="1400" noProof="0" dirty="0">
                <a:solidFill>
                  <a:srgbClr val="182A32"/>
                </a:solidFill>
                <a:latin typeface="Calibri" pitchFamily="34" charset="0"/>
                <a:ea typeface="Calibri" pitchFamily="34" charset="-122"/>
                <a:cs typeface="Calibri" pitchFamily="34" charset="-120"/>
              </a:rPr>
              <a:t> (na corrente livre), com espessura </a:t>
            </a:r>
            <a:r>
              <a:rPr lang="pt-PT" sz="1400" noProof="0" dirty="0" err="1">
                <a:solidFill>
                  <a:srgbClr val="182A32"/>
                </a:solidFill>
                <a:latin typeface="Calibri" pitchFamily="34" charset="0"/>
                <a:ea typeface="Calibri" pitchFamily="34" charset="-122"/>
                <a:cs typeface="Calibri" pitchFamily="34" charset="-120"/>
              </a:rPr>
              <a:t>δt</a:t>
            </a:r>
            <a:r>
              <a:rPr lang="pt-PT" sz="1400" noProof="0" dirty="0">
                <a:solidFill>
                  <a:srgbClr val="182A32"/>
                </a:solidFill>
                <a:latin typeface="Calibri" pitchFamily="34" charset="0"/>
                <a:ea typeface="Calibri" pitchFamily="34" charset="-122"/>
                <a:cs typeface="Calibri" pitchFamily="34" charset="-120"/>
              </a:rPr>
              <a:t>. </a:t>
            </a:r>
          </a:p>
          <a:p>
            <a:pPr marL="0" indent="0">
              <a:lnSpc>
                <a:spcPts val="1900"/>
              </a:lnSpc>
              <a:buNone/>
            </a:pPr>
            <a:r>
              <a:rPr lang="pt-PT" sz="1400" noProof="0" dirty="0">
                <a:solidFill>
                  <a:srgbClr val="182A32"/>
                </a:solidFill>
                <a:latin typeface="Calibri" pitchFamily="34" charset="0"/>
                <a:ea typeface="Calibri" pitchFamily="34" charset="-122"/>
                <a:cs typeface="Calibri" pitchFamily="34" charset="-120"/>
              </a:rPr>
              <a:t>É nessa camada fina que se concentra o gradiente de temperatura que controla h.</a:t>
            </a:r>
            <a:endParaRPr lang="pt-PT" sz="1400" noProof="0" dirty="0"/>
          </a:p>
        </p:txBody>
      </p:sp>
    </p:spTree>
    <p:extLst>
      <p:ext uri="{BB962C8B-B14F-4D97-AF65-F5344CB8AC3E}">
        <p14:creationId xmlns:p14="http://schemas.microsoft.com/office/powerpoint/2010/main" val="37553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5DB5F2C-3AE5-C774-FE1B-71A61820A05B}"/>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CECA04A2-4122-04A2-F49A-33DF6D706F93}"/>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CAMADA LIMITE</a:t>
            </a:r>
            <a:endParaRPr lang="pt-PT" sz="1300" noProof="0" dirty="0"/>
          </a:p>
        </p:txBody>
      </p:sp>
      <p:sp>
        <p:nvSpPr>
          <p:cNvPr id="4" name="Text 1">
            <a:extLst>
              <a:ext uri="{FF2B5EF4-FFF2-40B4-BE49-F238E27FC236}">
                <a16:creationId xmlns:a16="http://schemas.microsoft.com/office/drawing/2014/main" id="{59B85D7A-03E8-72F6-39E9-DB513F41206A}"/>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Camada-limite térmica</a:t>
            </a:r>
            <a:endParaRPr lang="pt-PT" sz="3200" noProof="0" dirty="0"/>
          </a:p>
        </p:txBody>
      </p:sp>
      <p:sp>
        <p:nvSpPr>
          <p:cNvPr id="5" name="Text 2">
            <a:extLst>
              <a:ext uri="{FF2B5EF4-FFF2-40B4-BE49-F238E27FC236}">
                <a16:creationId xmlns:a16="http://schemas.microsoft.com/office/drawing/2014/main" id="{24B7086D-F979-4B0D-EADF-8D674297A693}"/>
              </a:ext>
            </a:extLst>
          </p:cNvPr>
          <p:cNvSpPr/>
          <p:nvPr/>
        </p:nvSpPr>
        <p:spPr>
          <a:xfrm>
            <a:off x="640080" y="1572764"/>
            <a:ext cx="10881360" cy="822960"/>
          </a:xfrm>
          <a:prstGeom prst="rect">
            <a:avLst/>
          </a:prstGeom>
          <a:noFill/>
          <a:ln/>
        </p:spPr>
        <p:txBody>
          <a:bodyPr wrap="square" rtlCol="0" anchor="ctr"/>
          <a:lstStyle/>
          <a:p>
            <a:pPr marL="0" indent="0">
              <a:lnSpc>
                <a:spcPts val="1900"/>
              </a:lnSpc>
              <a:buNone/>
            </a:pPr>
            <a:r>
              <a:rPr lang="pt-PT" sz="1400" noProof="0" dirty="0">
                <a:solidFill>
                  <a:srgbClr val="182A32"/>
                </a:solidFill>
                <a:latin typeface="Calibri" pitchFamily="34" charset="0"/>
                <a:ea typeface="Calibri" pitchFamily="34" charset="-122"/>
                <a:cs typeface="Calibri" pitchFamily="34" charset="-120"/>
              </a:rPr>
              <a:t>Região próxima à superfície onde a temperatura varia de </a:t>
            </a:r>
            <a:r>
              <a:rPr lang="pt-PT" sz="1400" b="1" noProof="0" dirty="0" err="1">
                <a:solidFill>
                  <a:srgbClr val="E8602C"/>
                </a:solidFill>
                <a:latin typeface="Calibri" pitchFamily="34" charset="0"/>
                <a:ea typeface="Calibri" pitchFamily="34" charset="-122"/>
                <a:cs typeface="Calibri" pitchFamily="34" charset="-120"/>
              </a:rPr>
              <a:t>Ts</a:t>
            </a:r>
            <a:r>
              <a:rPr lang="pt-PT" sz="1400" noProof="0" dirty="0">
                <a:solidFill>
                  <a:srgbClr val="182A32"/>
                </a:solidFill>
                <a:latin typeface="Calibri" pitchFamily="34" charset="0"/>
                <a:ea typeface="Calibri" pitchFamily="34" charset="-122"/>
                <a:cs typeface="Calibri" pitchFamily="34" charset="-120"/>
              </a:rPr>
              <a:t> (na parede) até 99% de </a:t>
            </a:r>
            <a:r>
              <a:rPr lang="pt-PT" sz="1400" b="1" noProof="0" dirty="0">
                <a:solidFill>
                  <a:srgbClr val="065A82"/>
                </a:solidFill>
                <a:latin typeface="Calibri" pitchFamily="34" charset="0"/>
                <a:ea typeface="Calibri" pitchFamily="34" charset="-122"/>
                <a:cs typeface="Calibri" pitchFamily="34" charset="-120"/>
              </a:rPr>
              <a:t>T∞</a:t>
            </a:r>
            <a:r>
              <a:rPr lang="pt-PT" sz="1400" noProof="0" dirty="0">
                <a:solidFill>
                  <a:srgbClr val="182A32"/>
                </a:solidFill>
                <a:latin typeface="Calibri" pitchFamily="34" charset="0"/>
                <a:ea typeface="Calibri" pitchFamily="34" charset="-122"/>
                <a:cs typeface="Calibri" pitchFamily="34" charset="-120"/>
              </a:rPr>
              <a:t> (na corrente livre), com espessura </a:t>
            </a:r>
            <a:r>
              <a:rPr lang="pt-PT" sz="1400" noProof="0" dirty="0" err="1">
                <a:solidFill>
                  <a:srgbClr val="182A32"/>
                </a:solidFill>
                <a:latin typeface="Calibri" pitchFamily="34" charset="0"/>
                <a:ea typeface="Calibri" pitchFamily="34" charset="-122"/>
                <a:cs typeface="Calibri" pitchFamily="34" charset="-120"/>
              </a:rPr>
              <a:t>δt</a:t>
            </a:r>
            <a:r>
              <a:rPr lang="pt-PT" sz="1400" noProof="0" dirty="0">
                <a:solidFill>
                  <a:srgbClr val="182A32"/>
                </a:solidFill>
                <a:latin typeface="Calibri" pitchFamily="34" charset="0"/>
                <a:ea typeface="Calibri" pitchFamily="34" charset="-122"/>
                <a:cs typeface="Calibri" pitchFamily="34" charset="-120"/>
              </a:rPr>
              <a:t>. </a:t>
            </a:r>
          </a:p>
          <a:p>
            <a:pPr marL="0" indent="0">
              <a:lnSpc>
                <a:spcPts val="1900"/>
              </a:lnSpc>
              <a:buNone/>
            </a:pPr>
            <a:r>
              <a:rPr lang="pt-PT" sz="1400" noProof="0" dirty="0">
                <a:solidFill>
                  <a:srgbClr val="182A32"/>
                </a:solidFill>
                <a:latin typeface="Calibri" pitchFamily="34" charset="0"/>
                <a:ea typeface="Calibri" pitchFamily="34" charset="-122"/>
                <a:cs typeface="Calibri" pitchFamily="34" charset="-120"/>
              </a:rPr>
              <a:t>É nessa camada fina que se concentra o gradiente de temperatura que controla h.</a:t>
            </a:r>
            <a:endParaRPr lang="pt-PT" sz="1400" noProof="0" dirty="0"/>
          </a:p>
        </p:txBody>
      </p:sp>
      <p:sp>
        <p:nvSpPr>
          <p:cNvPr id="22" name="Text 19">
            <a:extLst>
              <a:ext uri="{FF2B5EF4-FFF2-40B4-BE49-F238E27FC236}">
                <a16:creationId xmlns:a16="http://schemas.microsoft.com/office/drawing/2014/main" id="{B7543CDB-20CD-972B-B9C6-153085E7B7E2}"/>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3" name="Text 20">
            <a:extLst>
              <a:ext uri="{FF2B5EF4-FFF2-40B4-BE49-F238E27FC236}">
                <a16:creationId xmlns:a16="http://schemas.microsoft.com/office/drawing/2014/main" id="{51C56AF9-0881-3187-83AA-7D12621D8D9A}"/>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3 · Camada limite</a:t>
            </a:r>
            <a:endParaRPr lang="pt-PT" sz="950" noProof="0" dirty="0"/>
          </a:p>
        </p:txBody>
      </p:sp>
      <p:sp>
        <p:nvSpPr>
          <p:cNvPr id="24" name="Text 21">
            <a:extLst>
              <a:ext uri="{FF2B5EF4-FFF2-40B4-BE49-F238E27FC236}">
                <a16:creationId xmlns:a16="http://schemas.microsoft.com/office/drawing/2014/main" id="{03282A53-F6F4-038C-95FC-9ABA82B826E6}"/>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7</a:t>
            </a:r>
            <a:endParaRPr lang="pt-PT" sz="950" noProof="0" dirty="0"/>
          </a:p>
        </p:txBody>
      </p:sp>
      <p:pic>
        <p:nvPicPr>
          <p:cNvPr id="2" name="Imagem 3" descr="Diagrama&#10;&#10;O conteúdo gerado por IA pode estar incorreto.">
            <a:extLst>
              <a:ext uri="{FF2B5EF4-FFF2-40B4-BE49-F238E27FC236}">
                <a16:creationId xmlns:a16="http://schemas.microsoft.com/office/drawing/2014/main" id="{7FB892A4-0514-84A2-D823-D5605E43B882}"/>
              </a:ext>
            </a:extLst>
          </p:cNvPr>
          <p:cNvPicPr>
            <a:picLocks noChangeAspect="1"/>
          </p:cNvPicPr>
          <p:nvPr/>
        </p:nvPicPr>
        <p:blipFill>
          <a:blip r:embed="rId3"/>
          <a:stretch>
            <a:fillRect/>
          </a:stretch>
        </p:blipFill>
        <p:spPr>
          <a:xfrm>
            <a:off x="1460895" y="2849796"/>
            <a:ext cx="8965410" cy="3380400"/>
          </a:xfrm>
          <a:prstGeom prst="rect">
            <a:avLst/>
          </a:prstGeom>
        </p:spPr>
      </p:pic>
      <p:sp>
        <p:nvSpPr>
          <p:cNvPr id="25" name="TextBox 24">
            <a:extLst>
              <a:ext uri="{FF2B5EF4-FFF2-40B4-BE49-F238E27FC236}">
                <a16:creationId xmlns:a16="http://schemas.microsoft.com/office/drawing/2014/main" id="{5D0B31C3-BF2B-55B9-FAE0-C01881148D68}"/>
              </a:ext>
            </a:extLst>
          </p:cNvPr>
          <p:cNvSpPr txBox="1"/>
          <p:nvPr/>
        </p:nvSpPr>
        <p:spPr>
          <a:xfrm>
            <a:off x="457200" y="5980776"/>
            <a:ext cx="10716323" cy="318549"/>
          </a:xfrm>
          <a:prstGeom prst="rect">
            <a:avLst/>
          </a:prstGeom>
          <a:noFill/>
        </p:spPr>
        <p:txBody>
          <a:bodyPr wrap="square">
            <a:spAutoFit/>
          </a:bodyPr>
          <a:lstStyle/>
          <a:p>
            <a:pPr>
              <a:lnSpc>
                <a:spcPts val="2000"/>
              </a:lnSpc>
              <a:spcAft>
                <a:spcPts val="600"/>
              </a:spcAft>
              <a:buSzPct val="100000"/>
            </a:pPr>
            <a:r>
              <a:rPr lang="pt-PT" sz="1000" dirty="0">
                <a:solidFill>
                  <a:srgbClr val="182A32"/>
                </a:solidFill>
                <a:latin typeface="Calibri" pitchFamily="34" charset="0"/>
                <a:ea typeface="Calibri" pitchFamily="34" charset="-122"/>
                <a:cs typeface="Calibri" pitchFamily="34" charset="-120"/>
              </a:rPr>
              <a:t>Fonte: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sp>
        <p:nvSpPr>
          <p:cNvPr id="26" name="TextBox 25">
            <a:extLst>
              <a:ext uri="{FF2B5EF4-FFF2-40B4-BE49-F238E27FC236}">
                <a16:creationId xmlns:a16="http://schemas.microsoft.com/office/drawing/2014/main" id="{18C78DAB-BAD9-C700-FFFD-ABFF82168352}"/>
              </a:ext>
            </a:extLst>
          </p:cNvPr>
          <p:cNvSpPr txBox="1"/>
          <p:nvPr/>
        </p:nvSpPr>
        <p:spPr>
          <a:xfrm>
            <a:off x="7034982" y="3130746"/>
            <a:ext cx="1858296" cy="400110"/>
          </a:xfrm>
          <a:prstGeom prst="rect">
            <a:avLst/>
          </a:prstGeom>
          <a:solidFill>
            <a:schemeClr val="bg1"/>
          </a:solidFill>
        </p:spPr>
        <p:txBody>
          <a:bodyPr wrap="square" rtlCol="0">
            <a:spAutoFit/>
          </a:bodyPr>
          <a:lstStyle/>
          <a:p>
            <a:r>
              <a:rPr lang="en-BR" sz="2000" dirty="0"/>
              <a:t>Corrente livre</a:t>
            </a:r>
          </a:p>
        </p:txBody>
      </p:sp>
      <p:sp>
        <p:nvSpPr>
          <p:cNvPr id="27" name="TextBox 26">
            <a:extLst>
              <a:ext uri="{FF2B5EF4-FFF2-40B4-BE49-F238E27FC236}">
                <a16:creationId xmlns:a16="http://schemas.microsoft.com/office/drawing/2014/main" id="{35908872-18B9-0068-82A9-9EC4318C3993}"/>
              </a:ext>
            </a:extLst>
          </p:cNvPr>
          <p:cNvSpPr txBox="1"/>
          <p:nvPr/>
        </p:nvSpPr>
        <p:spPr>
          <a:xfrm>
            <a:off x="7831105" y="4032164"/>
            <a:ext cx="1357142" cy="1015663"/>
          </a:xfrm>
          <a:prstGeom prst="rect">
            <a:avLst/>
          </a:prstGeom>
          <a:solidFill>
            <a:schemeClr val="bg1"/>
          </a:solidFill>
        </p:spPr>
        <p:txBody>
          <a:bodyPr wrap="square" rtlCol="0">
            <a:spAutoFit/>
          </a:bodyPr>
          <a:lstStyle/>
          <a:p>
            <a:r>
              <a:rPr lang="en-BR" sz="2000" dirty="0"/>
              <a:t>Camada-limite térmica</a:t>
            </a:r>
          </a:p>
        </p:txBody>
      </p:sp>
      <p:sp>
        <p:nvSpPr>
          <p:cNvPr id="9" name="Rounded Rectangle 8">
            <a:extLst>
              <a:ext uri="{FF2B5EF4-FFF2-40B4-BE49-F238E27FC236}">
                <a16:creationId xmlns:a16="http://schemas.microsoft.com/office/drawing/2014/main" id="{3C1175BE-D55C-621E-F177-4068EE0A3032}"/>
              </a:ext>
            </a:extLst>
          </p:cNvPr>
          <p:cNvSpPr/>
          <p:nvPr/>
        </p:nvSpPr>
        <p:spPr>
          <a:xfrm>
            <a:off x="7831104" y="4010194"/>
            <a:ext cx="1357143" cy="1045766"/>
          </a:xfrm>
          <a:prstGeom prst="roundRect">
            <a:avLst/>
          </a:prstGeom>
          <a:solidFill>
            <a:srgbClr val="FF0000">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921553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CAMADA LIMITE</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Camada limite: efeito da turbulência</a:t>
            </a:r>
          </a:p>
        </p:txBody>
      </p:sp>
      <p:sp>
        <p:nvSpPr>
          <p:cNvPr id="20" name="Text 17"/>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3 · Camada limite</a:t>
            </a:r>
            <a:endParaRPr lang="pt-PT" sz="950" noProof="0" dirty="0"/>
          </a:p>
        </p:txBody>
      </p:sp>
      <p:sp>
        <p:nvSpPr>
          <p:cNvPr id="22" name="Text 19"/>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8</a:t>
            </a:r>
            <a:endParaRPr lang="pt-PT" sz="950" noProof="0" dirty="0"/>
          </a:p>
        </p:txBody>
      </p:sp>
      <p:grpSp>
        <p:nvGrpSpPr>
          <p:cNvPr id="2" name="Agrupar 26">
            <a:extLst>
              <a:ext uri="{FF2B5EF4-FFF2-40B4-BE49-F238E27FC236}">
                <a16:creationId xmlns:a16="http://schemas.microsoft.com/office/drawing/2014/main" id="{C5C70CE3-0E04-073C-C7C5-EFDA69EE2B3B}"/>
              </a:ext>
            </a:extLst>
          </p:cNvPr>
          <p:cNvGrpSpPr/>
          <p:nvPr/>
        </p:nvGrpSpPr>
        <p:grpSpPr>
          <a:xfrm>
            <a:off x="908098" y="1710819"/>
            <a:ext cx="10071004" cy="4254198"/>
            <a:chOff x="2097505" y="2392565"/>
            <a:chExt cx="10071004" cy="4254198"/>
          </a:xfrm>
        </p:grpSpPr>
        <p:grpSp>
          <p:nvGrpSpPr>
            <p:cNvPr id="23" name="Agrupar 24">
              <a:extLst>
                <a:ext uri="{FF2B5EF4-FFF2-40B4-BE49-F238E27FC236}">
                  <a16:creationId xmlns:a16="http://schemas.microsoft.com/office/drawing/2014/main" id="{CC0DF1D1-6755-B7DD-065E-43DFBA64AFFE}"/>
                </a:ext>
              </a:extLst>
            </p:cNvPr>
            <p:cNvGrpSpPr/>
            <p:nvPr/>
          </p:nvGrpSpPr>
          <p:grpSpPr>
            <a:xfrm>
              <a:off x="2097505" y="2392565"/>
              <a:ext cx="10071004" cy="4254198"/>
              <a:chOff x="2097505" y="2392565"/>
              <a:chExt cx="10071004" cy="4254198"/>
            </a:xfrm>
          </p:grpSpPr>
          <p:grpSp>
            <p:nvGrpSpPr>
              <p:cNvPr id="25" name="Agrupar 13">
                <a:extLst>
                  <a:ext uri="{FF2B5EF4-FFF2-40B4-BE49-F238E27FC236}">
                    <a16:creationId xmlns:a16="http://schemas.microsoft.com/office/drawing/2014/main" id="{E9669B76-5F60-1C0E-AE42-CB13C33EC872}"/>
                  </a:ext>
                </a:extLst>
              </p:cNvPr>
              <p:cNvGrpSpPr/>
              <p:nvPr/>
            </p:nvGrpSpPr>
            <p:grpSpPr>
              <a:xfrm>
                <a:off x="2097505" y="2392565"/>
                <a:ext cx="8940036" cy="4230938"/>
                <a:chOff x="2468765" y="2371940"/>
                <a:chExt cx="8940036" cy="4230938"/>
              </a:xfrm>
            </p:grpSpPr>
            <p:grpSp>
              <p:nvGrpSpPr>
                <p:cNvPr id="32" name="Agrupar 9">
                  <a:extLst>
                    <a:ext uri="{FF2B5EF4-FFF2-40B4-BE49-F238E27FC236}">
                      <a16:creationId xmlns:a16="http://schemas.microsoft.com/office/drawing/2014/main" id="{93512D09-04D5-FBE8-72FA-A2F20E0E5EB5}"/>
                    </a:ext>
                  </a:extLst>
                </p:cNvPr>
                <p:cNvGrpSpPr/>
                <p:nvPr/>
              </p:nvGrpSpPr>
              <p:grpSpPr>
                <a:xfrm>
                  <a:off x="2468765" y="2371940"/>
                  <a:ext cx="8940036" cy="4230938"/>
                  <a:chOff x="2468765" y="2371940"/>
                  <a:chExt cx="8940036" cy="4230938"/>
                </a:xfrm>
              </p:grpSpPr>
              <p:pic>
                <p:nvPicPr>
                  <p:cNvPr id="36" name="Imagem 3" descr="Diagrama, Esquemático&#10;&#10;O conteúdo gerado por IA pode estar incorreto.">
                    <a:extLst>
                      <a:ext uri="{FF2B5EF4-FFF2-40B4-BE49-F238E27FC236}">
                        <a16:creationId xmlns:a16="http://schemas.microsoft.com/office/drawing/2014/main" id="{DCB4108D-30C9-5144-2070-FE4673D2EB20}"/>
                      </a:ext>
                    </a:extLst>
                  </p:cNvPr>
                  <p:cNvPicPr>
                    <a:picLocks noChangeAspect="1"/>
                  </p:cNvPicPr>
                  <p:nvPr/>
                </p:nvPicPr>
                <p:blipFill>
                  <a:blip r:embed="rId3"/>
                  <a:stretch>
                    <a:fillRect/>
                  </a:stretch>
                </p:blipFill>
                <p:spPr>
                  <a:xfrm>
                    <a:off x="2468765" y="2421722"/>
                    <a:ext cx="8940036" cy="4181156"/>
                  </a:xfrm>
                  <a:prstGeom prst="rect">
                    <a:avLst/>
                  </a:prstGeom>
                </p:spPr>
              </p:pic>
              <p:sp>
                <p:nvSpPr>
                  <p:cNvPr id="37" name="Retângulo 6">
                    <a:extLst>
                      <a:ext uri="{FF2B5EF4-FFF2-40B4-BE49-F238E27FC236}">
                        <a16:creationId xmlns:a16="http://schemas.microsoft.com/office/drawing/2014/main" id="{ABBE02C1-1BD1-9D61-D70E-540CD773D10B}"/>
                      </a:ext>
                    </a:extLst>
                  </p:cNvPr>
                  <p:cNvSpPr/>
                  <p:nvPr/>
                </p:nvSpPr>
                <p:spPr>
                  <a:xfrm>
                    <a:off x="10312782" y="3801979"/>
                    <a:ext cx="811272" cy="5293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Retângulo 7">
                    <a:extLst>
                      <a:ext uri="{FF2B5EF4-FFF2-40B4-BE49-F238E27FC236}">
                        <a16:creationId xmlns:a16="http://schemas.microsoft.com/office/drawing/2014/main" id="{D4E8E05B-C555-AE9E-8864-F902CA611710}"/>
                      </a:ext>
                    </a:extLst>
                  </p:cNvPr>
                  <p:cNvSpPr/>
                  <p:nvPr/>
                </p:nvSpPr>
                <p:spPr>
                  <a:xfrm>
                    <a:off x="10312782" y="4922635"/>
                    <a:ext cx="962526" cy="7356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9" name="Retângulo 8">
                    <a:extLst>
                      <a:ext uri="{FF2B5EF4-FFF2-40B4-BE49-F238E27FC236}">
                        <a16:creationId xmlns:a16="http://schemas.microsoft.com/office/drawing/2014/main" id="{527D18E4-2E85-49A3-8707-808B3688D738}"/>
                      </a:ext>
                    </a:extLst>
                  </p:cNvPr>
                  <p:cNvSpPr/>
                  <p:nvPr/>
                </p:nvSpPr>
                <p:spPr>
                  <a:xfrm>
                    <a:off x="5795783" y="2371940"/>
                    <a:ext cx="935026" cy="2280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33" name="Retângulo 10">
                  <a:extLst>
                    <a:ext uri="{FF2B5EF4-FFF2-40B4-BE49-F238E27FC236}">
                      <a16:creationId xmlns:a16="http://schemas.microsoft.com/office/drawing/2014/main" id="{2237E000-B567-B188-94DF-C60819B6D536}"/>
                    </a:ext>
                  </a:extLst>
                </p:cNvPr>
                <p:cNvSpPr/>
                <p:nvPr/>
              </p:nvSpPr>
              <p:spPr>
                <a:xfrm>
                  <a:off x="8188349" y="6105167"/>
                  <a:ext cx="735645" cy="1925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4" name="Retângulo 11">
                  <a:extLst>
                    <a:ext uri="{FF2B5EF4-FFF2-40B4-BE49-F238E27FC236}">
                      <a16:creationId xmlns:a16="http://schemas.microsoft.com/office/drawing/2014/main" id="{F3383A0A-D79B-1FAA-FEC3-DEF5A2002284}"/>
                    </a:ext>
                  </a:extLst>
                </p:cNvPr>
                <p:cNvSpPr/>
                <p:nvPr/>
              </p:nvSpPr>
              <p:spPr>
                <a:xfrm>
                  <a:off x="6570960" y="6348090"/>
                  <a:ext cx="735645" cy="1925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5" name="Retângulo 12">
                  <a:extLst>
                    <a:ext uri="{FF2B5EF4-FFF2-40B4-BE49-F238E27FC236}">
                      <a16:creationId xmlns:a16="http://schemas.microsoft.com/office/drawing/2014/main" id="{736BCB9C-CB35-B0B8-EE81-4D7F716F8B12}"/>
                    </a:ext>
                  </a:extLst>
                </p:cNvPr>
                <p:cNvSpPr/>
                <p:nvPr/>
              </p:nvSpPr>
              <p:spPr>
                <a:xfrm>
                  <a:off x="5039512" y="6141834"/>
                  <a:ext cx="735645" cy="1925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26" name="Agrupar 19">
                <a:extLst>
                  <a:ext uri="{FF2B5EF4-FFF2-40B4-BE49-F238E27FC236}">
                    <a16:creationId xmlns:a16="http://schemas.microsoft.com/office/drawing/2014/main" id="{B116FD06-CEBB-7557-3DE3-B40B99B165A6}"/>
                  </a:ext>
                </a:extLst>
              </p:cNvPr>
              <p:cNvGrpSpPr/>
              <p:nvPr/>
            </p:nvGrpSpPr>
            <p:grpSpPr>
              <a:xfrm>
                <a:off x="4620735" y="3829071"/>
                <a:ext cx="7547774" cy="2817692"/>
                <a:chOff x="4620735" y="3829071"/>
                <a:chExt cx="7547774" cy="2817692"/>
              </a:xfrm>
            </p:grpSpPr>
            <p:sp>
              <p:nvSpPr>
                <p:cNvPr id="27" name="CaixaDeTexto 14">
                  <a:extLst>
                    <a:ext uri="{FF2B5EF4-FFF2-40B4-BE49-F238E27FC236}">
                      <a16:creationId xmlns:a16="http://schemas.microsoft.com/office/drawing/2014/main" id="{D40C7AB1-163D-B2D8-272F-FA27827ADF64}"/>
                    </a:ext>
                  </a:extLst>
                </p:cNvPr>
                <p:cNvSpPr txBox="1"/>
                <p:nvPr/>
              </p:nvSpPr>
              <p:spPr>
                <a:xfrm>
                  <a:off x="9906573" y="3829071"/>
                  <a:ext cx="1684421" cy="646331"/>
                </a:xfrm>
                <a:prstGeom prst="rect">
                  <a:avLst/>
                </a:prstGeom>
                <a:noFill/>
              </p:spPr>
              <p:txBody>
                <a:bodyPr wrap="square" rtlCol="0">
                  <a:spAutoFit/>
                </a:bodyPr>
                <a:lstStyle/>
                <a:p>
                  <a:r>
                    <a:rPr lang="pt-BR" dirty="0"/>
                    <a:t>Região turbulenta</a:t>
                  </a:r>
                </a:p>
              </p:txBody>
            </p:sp>
            <p:sp>
              <p:nvSpPr>
                <p:cNvPr id="28" name="CaixaDeTexto 15">
                  <a:extLst>
                    <a:ext uri="{FF2B5EF4-FFF2-40B4-BE49-F238E27FC236}">
                      <a16:creationId xmlns:a16="http://schemas.microsoft.com/office/drawing/2014/main" id="{90B72022-E478-A61C-B183-E41F6AE86065}"/>
                    </a:ext>
                  </a:extLst>
                </p:cNvPr>
                <p:cNvSpPr txBox="1"/>
                <p:nvPr/>
              </p:nvSpPr>
              <p:spPr>
                <a:xfrm>
                  <a:off x="9906573" y="4922635"/>
                  <a:ext cx="2261936" cy="584775"/>
                </a:xfrm>
                <a:prstGeom prst="rect">
                  <a:avLst/>
                </a:prstGeom>
                <a:noFill/>
              </p:spPr>
              <p:txBody>
                <a:bodyPr wrap="square" rtlCol="0">
                  <a:spAutoFit/>
                </a:bodyPr>
                <a:lstStyle/>
                <a:p>
                  <a:r>
                    <a:rPr lang="pt-BR" sz="1600" dirty="0"/>
                    <a:t>Camada amortecedora</a:t>
                  </a:r>
                </a:p>
                <a:p>
                  <a:r>
                    <a:rPr lang="pt-BR" sz="1600" dirty="0"/>
                    <a:t>Subcamada laminar</a:t>
                  </a:r>
                </a:p>
              </p:txBody>
            </p:sp>
            <p:sp>
              <p:nvSpPr>
                <p:cNvPr id="29" name="CaixaDeTexto 16">
                  <a:extLst>
                    <a:ext uri="{FF2B5EF4-FFF2-40B4-BE49-F238E27FC236}">
                      <a16:creationId xmlns:a16="http://schemas.microsoft.com/office/drawing/2014/main" id="{15AEF0BB-EB9A-C584-0943-183BA1F68C46}"/>
                    </a:ext>
                  </a:extLst>
                </p:cNvPr>
                <p:cNvSpPr txBox="1"/>
                <p:nvPr/>
              </p:nvSpPr>
              <p:spPr>
                <a:xfrm>
                  <a:off x="7668711" y="6104822"/>
                  <a:ext cx="1032399" cy="307777"/>
                </a:xfrm>
                <a:prstGeom prst="rect">
                  <a:avLst/>
                </a:prstGeom>
                <a:noFill/>
              </p:spPr>
              <p:txBody>
                <a:bodyPr wrap="none" rtlCol="0">
                  <a:spAutoFit/>
                </a:bodyPr>
                <a:lstStyle/>
                <a:p>
                  <a:r>
                    <a:rPr lang="pt-BR" sz="1400" dirty="0"/>
                    <a:t>Turbulento</a:t>
                  </a:r>
                </a:p>
              </p:txBody>
            </p:sp>
            <p:sp>
              <p:nvSpPr>
                <p:cNvPr id="30" name="CaixaDeTexto 17">
                  <a:extLst>
                    <a:ext uri="{FF2B5EF4-FFF2-40B4-BE49-F238E27FC236}">
                      <a16:creationId xmlns:a16="http://schemas.microsoft.com/office/drawing/2014/main" id="{8F83C927-C6AA-D785-D4EC-5B05F7588FA8}"/>
                    </a:ext>
                  </a:extLst>
                </p:cNvPr>
                <p:cNvSpPr txBox="1"/>
                <p:nvPr/>
              </p:nvSpPr>
              <p:spPr>
                <a:xfrm>
                  <a:off x="6090378" y="6338986"/>
                  <a:ext cx="963469" cy="307777"/>
                </a:xfrm>
                <a:prstGeom prst="rect">
                  <a:avLst/>
                </a:prstGeom>
                <a:noFill/>
              </p:spPr>
              <p:txBody>
                <a:bodyPr wrap="none" rtlCol="0">
                  <a:spAutoFit/>
                </a:bodyPr>
                <a:lstStyle/>
                <a:p>
                  <a:r>
                    <a:rPr lang="pt-BR" sz="1400" dirty="0"/>
                    <a:t>Transição</a:t>
                  </a:r>
                </a:p>
              </p:txBody>
            </p:sp>
            <p:sp>
              <p:nvSpPr>
                <p:cNvPr id="31" name="CaixaDeTexto 18">
                  <a:extLst>
                    <a:ext uri="{FF2B5EF4-FFF2-40B4-BE49-F238E27FC236}">
                      <a16:creationId xmlns:a16="http://schemas.microsoft.com/office/drawing/2014/main" id="{1F3A659F-E3C9-E086-08E8-F08B29A1F8D5}"/>
                    </a:ext>
                  </a:extLst>
                </p:cNvPr>
                <p:cNvSpPr txBox="1"/>
                <p:nvPr/>
              </p:nvSpPr>
              <p:spPr>
                <a:xfrm>
                  <a:off x="4620735" y="6104821"/>
                  <a:ext cx="830677" cy="307777"/>
                </a:xfrm>
                <a:prstGeom prst="rect">
                  <a:avLst/>
                </a:prstGeom>
                <a:noFill/>
              </p:spPr>
              <p:txBody>
                <a:bodyPr wrap="none" rtlCol="0">
                  <a:spAutoFit/>
                </a:bodyPr>
                <a:lstStyle/>
                <a:p>
                  <a:r>
                    <a:rPr lang="pt-BR" sz="1400" dirty="0"/>
                    <a:t>Laminar</a:t>
                  </a:r>
                </a:p>
              </p:txBody>
            </p:sp>
          </p:grpSp>
        </p:grpSp>
        <p:sp>
          <p:nvSpPr>
            <p:cNvPr id="24" name="CaixaDeTexto 25">
              <a:extLst>
                <a:ext uri="{FF2B5EF4-FFF2-40B4-BE49-F238E27FC236}">
                  <a16:creationId xmlns:a16="http://schemas.microsoft.com/office/drawing/2014/main" id="{0A6341EC-48F0-C52A-E4EF-11CFC09030A4}"/>
                </a:ext>
              </a:extLst>
            </p:cNvPr>
            <p:cNvSpPr txBox="1"/>
            <p:nvPr/>
          </p:nvSpPr>
          <p:spPr>
            <a:xfrm>
              <a:off x="6414455" y="2599983"/>
              <a:ext cx="1883849" cy="338554"/>
            </a:xfrm>
            <a:prstGeom prst="rect">
              <a:avLst/>
            </a:prstGeom>
            <a:noFill/>
          </p:spPr>
          <p:txBody>
            <a:bodyPr wrap="none" rtlCol="0">
              <a:spAutoFit/>
            </a:bodyPr>
            <a:lstStyle/>
            <a:p>
              <a:r>
                <a:rPr lang="pt-BR" sz="1600" dirty="0"/>
                <a:t>Linhas de corrente</a:t>
              </a:r>
            </a:p>
          </p:txBody>
        </p:sp>
      </p:grpSp>
      <p:sp>
        <p:nvSpPr>
          <p:cNvPr id="40" name="TextBox 39">
            <a:extLst>
              <a:ext uri="{FF2B5EF4-FFF2-40B4-BE49-F238E27FC236}">
                <a16:creationId xmlns:a16="http://schemas.microsoft.com/office/drawing/2014/main" id="{5E6A781B-541B-1F39-12CB-20CEB8FADD42}"/>
              </a:ext>
            </a:extLst>
          </p:cNvPr>
          <p:cNvSpPr txBox="1"/>
          <p:nvPr/>
        </p:nvSpPr>
        <p:spPr>
          <a:xfrm>
            <a:off x="457200" y="5980776"/>
            <a:ext cx="10716323" cy="318549"/>
          </a:xfrm>
          <a:prstGeom prst="rect">
            <a:avLst/>
          </a:prstGeom>
          <a:noFill/>
        </p:spPr>
        <p:txBody>
          <a:bodyPr wrap="square">
            <a:spAutoFit/>
          </a:bodyPr>
          <a:lstStyle/>
          <a:p>
            <a:pPr>
              <a:lnSpc>
                <a:spcPts val="2000"/>
              </a:lnSpc>
              <a:spcAft>
                <a:spcPts val="600"/>
              </a:spcAft>
              <a:buSzPct val="100000"/>
            </a:pPr>
            <a:r>
              <a:rPr lang="pt-PT" sz="1000" dirty="0">
                <a:solidFill>
                  <a:srgbClr val="182A32"/>
                </a:solidFill>
                <a:latin typeface="Calibri" pitchFamily="34" charset="0"/>
                <a:ea typeface="Calibri" pitchFamily="34" charset="-122"/>
                <a:cs typeface="Calibri" pitchFamily="34" charset="-120"/>
              </a:rPr>
              <a:t>Fonte: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52D0E9C-1044-7F6F-4E6A-0D53D5549F65}"/>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3D71D99-3477-9557-6110-9AC9C6B82904}"/>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CAMADA LIMITE</a:t>
            </a:r>
            <a:endParaRPr lang="pt-PT" sz="1300" noProof="0" dirty="0"/>
          </a:p>
        </p:txBody>
      </p:sp>
      <p:sp>
        <p:nvSpPr>
          <p:cNvPr id="4" name="Text 1">
            <a:extLst>
              <a:ext uri="{FF2B5EF4-FFF2-40B4-BE49-F238E27FC236}">
                <a16:creationId xmlns:a16="http://schemas.microsoft.com/office/drawing/2014/main" id="{74580960-0C92-91F2-6F3A-941DAD490D7D}"/>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Camada limite: efeito da turbulência</a:t>
            </a:r>
          </a:p>
        </p:txBody>
      </p:sp>
      <p:sp>
        <p:nvSpPr>
          <p:cNvPr id="20" name="Text 17">
            <a:extLst>
              <a:ext uri="{FF2B5EF4-FFF2-40B4-BE49-F238E27FC236}">
                <a16:creationId xmlns:a16="http://schemas.microsoft.com/office/drawing/2014/main" id="{C862B521-C04B-1814-065A-D25CD63466B4}"/>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a:extLst>
              <a:ext uri="{FF2B5EF4-FFF2-40B4-BE49-F238E27FC236}">
                <a16:creationId xmlns:a16="http://schemas.microsoft.com/office/drawing/2014/main" id="{01FAE7B5-8A21-6F16-2738-8E9DC554BF18}"/>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3 · Camada limite</a:t>
            </a:r>
            <a:endParaRPr lang="pt-PT" sz="950" noProof="0" dirty="0"/>
          </a:p>
        </p:txBody>
      </p:sp>
      <p:sp>
        <p:nvSpPr>
          <p:cNvPr id="22" name="Text 19">
            <a:extLst>
              <a:ext uri="{FF2B5EF4-FFF2-40B4-BE49-F238E27FC236}">
                <a16:creationId xmlns:a16="http://schemas.microsoft.com/office/drawing/2014/main" id="{D0ABC8BA-11EC-4127-07C6-E3A8D2F4904D}"/>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8</a:t>
            </a:r>
            <a:endParaRPr lang="pt-PT" sz="950" noProof="0" dirty="0"/>
          </a:p>
        </p:txBody>
      </p:sp>
      <p:grpSp>
        <p:nvGrpSpPr>
          <p:cNvPr id="2" name="Agrupar 26">
            <a:extLst>
              <a:ext uri="{FF2B5EF4-FFF2-40B4-BE49-F238E27FC236}">
                <a16:creationId xmlns:a16="http://schemas.microsoft.com/office/drawing/2014/main" id="{0F67B2CB-6D75-DFFC-ED42-19D14C4BE563}"/>
              </a:ext>
            </a:extLst>
          </p:cNvPr>
          <p:cNvGrpSpPr/>
          <p:nvPr/>
        </p:nvGrpSpPr>
        <p:grpSpPr>
          <a:xfrm>
            <a:off x="908098" y="1710819"/>
            <a:ext cx="10071004" cy="4254198"/>
            <a:chOff x="2097505" y="2392565"/>
            <a:chExt cx="10071004" cy="4254198"/>
          </a:xfrm>
        </p:grpSpPr>
        <p:grpSp>
          <p:nvGrpSpPr>
            <p:cNvPr id="23" name="Agrupar 24">
              <a:extLst>
                <a:ext uri="{FF2B5EF4-FFF2-40B4-BE49-F238E27FC236}">
                  <a16:creationId xmlns:a16="http://schemas.microsoft.com/office/drawing/2014/main" id="{20AEC268-091B-D43B-71F2-BB11942A9648}"/>
                </a:ext>
              </a:extLst>
            </p:cNvPr>
            <p:cNvGrpSpPr/>
            <p:nvPr/>
          </p:nvGrpSpPr>
          <p:grpSpPr>
            <a:xfrm>
              <a:off x="2097505" y="2392565"/>
              <a:ext cx="10071004" cy="4254198"/>
              <a:chOff x="2097505" y="2392565"/>
              <a:chExt cx="10071004" cy="4254198"/>
            </a:xfrm>
          </p:grpSpPr>
          <p:grpSp>
            <p:nvGrpSpPr>
              <p:cNvPr id="25" name="Agrupar 13">
                <a:extLst>
                  <a:ext uri="{FF2B5EF4-FFF2-40B4-BE49-F238E27FC236}">
                    <a16:creationId xmlns:a16="http://schemas.microsoft.com/office/drawing/2014/main" id="{D20B0BB8-BA4E-2C3F-5D42-E8AE88D2AFC4}"/>
                  </a:ext>
                </a:extLst>
              </p:cNvPr>
              <p:cNvGrpSpPr/>
              <p:nvPr/>
            </p:nvGrpSpPr>
            <p:grpSpPr>
              <a:xfrm>
                <a:off x="2097505" y="2392565"/>
                <a:ext cx="8940036" cy="4230938"/>
                <a:chOff x="2468765" y="2371940"/>
                <a:chExt cx="8940036" cy="4230938"/>
              </a:xfrm>
            </p:grpSpPr>
            <p:grpSp>
              <p:nvGrpSpPr>
                <p:cNvPr id="32" name="Agrupar 9">
                  <a:extLst>
                    <a:ext uri="{FF2B5EF4-FFF2-40B4-BE49-F238E27FC236}">
                      <a16:creationId xmlns:a16="http://schemas.microsoft.com/office/drawing/2014/main" id="{25BBF62A-F2BD-AB64-E768-2E066946B847}"/>
                    </a:ext>
                  </a:extLst>
                </p:cNvPr>
                <p:cNvGrpSpPr/>
                <p:nvPr/>
              </p:nvGrpSpPr>
              <p:grpSpPr>
                <a:xfrm>
                  <a:off x="2468765" y="2371940"/>
                  <a:ext cx="8940036" cy="4230938"/>
                  <a:chOff x="2468765" y="2371940"/>
                  <a:chExt cx="8940036" cy="4230938"/>
                </a:xfrm>
              </p:grpSpPr>
              <p:pic>
                <p:nvPicPr>
                  <p:cNvPr id="36" name="Imagem 3" descr="Diagrama, Esquemático&#10;&#10;O conteúdo gerado por IA pode estar incorreto.">
                    <a:extLst>
                      <a:ext uri="{FF2B5EF4-FFF2-40B4-BE49-F238E27FC236}">
                        <a16:creationId xmlns:a16="http://schemas.microsoft.com/office/drawing/2014/main" id="{148D914D-95EE-3033-D6A3-522078F401DE}"/>
                      </a:ext>
                    </a:extLst>
                  </p:cNvPr>
                  <p:cNvPicPr>
                    <a:picLocks noChangeAspect="1"/>
                  </p:cNvPicPr>
                  <p:nvPr/>
                </p:nvPicPr>
                <p:blipFill>
                  <a:blip r:embed="rId3"/>
                  <a:stretch>
                    <a:fillRect/>
                  </a:stretch>
                </p:blipFill>
                <p:spPr>
                  <a:xfrm>
                    <a:off x="2468765" y="2421722"/>
                    <a:ext cx="8940036" cy="4181156"/>
                  </a:xfrm>
                  <a:prstGeom prst="rect">
                    <a:avLst/>
                  </a:prstGeom>
                </p:spPr>
              </p:pic>
              <p:sp>
                <p:nvSpPr>
                  <p:cNvPr id="37" name="Retângulo 6">
                    <a:extLst>
                      <a:ext uri="{FF2B5EF4-FFF2-40B4-BE49-F238E27FC236}">
                        <a16:creationId xmlns:a16="http://schemas.microsoft.com/office/drawing/2014/main" id="{E7184447-5B91-F6E2-2012-46F0C23C03D2}"/>
                      </a:ext>
                    </a:extLst>
                  </p:cNvPr>
                  <p:cNvSpPr/>
                  <p:nvPr/>
                </p:nvSpPr>
                <p:spPr>
                  <a:xfrm>
                    <a:off x="10312782" y="3801979"/>
                    <a:ext cx="811272" cy="5293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Retângulo 7">
                    <a:extLst>
                      <a:ext uri="{FF2B5EF4-FFF2-40B4-BE49-F238E27FC236}">
                        <a16:creationId xmlns:a16="http://schemas.microsoft.com/office/drawing/2014/main" id="{F6E8A4C1-2187-A3A8-502C-AA029EBF1E3B}"/>
                      </a:ext>
                    </a:extLst>
                  </p:cNvPr>
                  <p:cNvSpPr/>
                  <p:nvPr/>
                </p:nvSpPr>
                <p:spPr>
                  <a:xfrm>
                    <a:off x="10312782" y="4922635"/>
                    <a:ext cx="962526" cy="7356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9" name="Retângulo 8">
                    <a:extLst>
                      <a:ext uri="{FF2B5EF4-FFF2-40B4-BE49-F238E27FC236}">
                        <a16:creationId xmlns:a16="http://schemas.microsoft.com/office/drawing/2014/main" id="{76A4C240-81DD-80C5-E843-A33D1D1FBD9D}"/>
                      </a:ext>
                    </a:extLst>
                  </p:cNvPr>
                  <p:cNvSpPr/>
                  <p:nvPr/>
                </p:nvSpPr>
                <p:spPr>
                  <a:xfrm>
                    <a:off x="5795783" y="2371940"/>
                    <a:ext cx="935026" cy="2280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33" name="Retângulo 10">
                  <a:extLst>
                    <a:ext uri="{FF2B5EF4-FFF2-40B4-BE49-F238E27FC236}">
                      <a16:creationId xmlns:a16="http://schemas.microsoft.com/office/drawing/2014/main" id="{886EF0DE-A2C3-5CE0-106A-FD4C28595D37}"/>
                    </a:ext>
                  </a:extLst>
                </p:cNvPr>
                <p:cNvSpPr/>
                <p:nvPr/>
              </p:nvSpPr>
              <p:spPr>
                <a:xfrm>
                  <a:off x="8188349" y="6105167"/>
                  <a:ext cx="735645" cy="1925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4" name="Retângulo 11">
                  <a:extLst>
                    <a:ext uri="{FF2B5EF4-FFF2-40B4-BE49-F238E27FC236}">
                      <a16:creationId xmlns:a16="http://schemas.microsoft.com/office/drawing/2014/main" id="{5679F635-0A65-00F3-D756-2D20F63FD36A}"/>
                    </a:ext>
                  </a:extLst>
                </p:cNvPr>
                <p:cNvSpPr/>
                <p:nvPr/>
              </p:nvSpPr>
              <p:spPr>
                <a:xfrm>
                  <a:off x="6570960" y="6348090"/>
                  <a:ext cx="735645" cy="1925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5" name="Retângulo 12">
                  <a:extLst>
                    <a:ext uri="{FF2B5EF4-FFF2-40B4-BE49-F238E27FC236}">
                      <a16:creationId xmlns:a16="http://schemas.microsoft.com/office/drawing/2014/main" id="{65B44E23-F819-BDA9-4D38-D7329183C57A}"/>
                    </a:ext>
                  </a:extLst>
                </p:cNvPr>
                <p:cNvSpPr/>
                <p:nvPr/>
              </p:nvSpPr>
              <p:spPr>
                <a:xfrm>
                  <a:off x="5039512" y="6141834"/>
                  <a:ext cx="735645" cy="1925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26" name="Agrupar 19">
                <a:extLst>
                  <a:ext uri="{FF2B5EF4-FFF2-40B4-BE49-F238E27FC236}">
                    <a16:creationId xmlns:a16="http://schemas.microsoft.com/office/drawing/2014/main" id="{6221752B-E908-4E6C-45EF-9DB7BD3DEF71}"/>
                  </a:ext>
                </a:extLst>
              </p:cNvPr>
              <p:cNvGrpSpPr/>
              <p:nvPr/>
            </p:nvGrpSpPr>
            <p:grpSpPr>
              <a:xfrm>
                <a:off x="4620735" y="3829071"/>
                <a:ext cx="7547774" cy="2817692"/>
                <a:chOff x="4620735" y="3829071"/>
                <a:chExt cx="7547774" cy="2817692"/>
              </a:xfrm>
            </p:grpSpPr>
            <p:sp>
              <p:nvSpPr>
                <p:cNvPr id="27" name="CaixaDeTexto 14">
                  <a:extLst>
                    <a:ext uri="{FF2B5EF4-FFF2-40B4-BE49-F238E27FC236}">
                      <a16:creationId xmlns:a16="http://schemas.microsoft.com/office/drawing/2014/main" id="{528133DC-3CA8-19EC-55DC-45B5C9ED044F}"/>
                    </a:ext>
                  </a:extLst>
                </p:cNvPr>
                <p:cNvSpPr txBox="1"/>
                <p:nvPr/>
              </p:nvSpPr>
              <p:spPr>
                <a:xfrm>
                  <a:off x="9906573" y="3829071"/>
                  <a:ext cx="1684421" cy="646331"/>
                </a:xfrm>
                <a:prstGeom prst="rect">
                  <a:avLst/>
                </a:prstGeom>
                <a:noFill/>
              </p:spPr>
              <p:txBody>
                <a:bodyPr wrap="square" rtlCol="0">
                  <a:spAutoFit/>
                </a:bodyPr>
                <a:lstStyle/>
                <a:p>
                  <a:r>
                    <a:rPr lang="pt-BR" dirty="0"/>
                    <a:t>Região turbulenta</a:t>
                  </a:r>
                </a:p>
              </p:txBody>
            </p:sp>
            <p:sp>
              <p:nvSpPr>
                <p:cNvPr id="28" name="CaixaDeTexto 15">
                  <a:extLst>
                    <a:ext uri="{FF2B5EF4-FFF2-40B4-BE49-F238E27FC236}">
                      <a16:creationId xmlns:a16="http://schemas.microsoft.com/office/drawing/2014/main" id="{4CA47F73-2B95-5D8F-4FA5-ED1F184D4D95}"/>
                    </a:ext>
                  </a:extLst>
                </p:cNvPr>
                <p:cNvSpPr txBox="1"/>
                <p:nvPr/>
              </p:nvSpPr>
              <p:spPr>
                <a:xfrm>
                  <a:off x="9906573" y="4922635"/>
                  <a:ext cx="2261936" cy="584775"/>
                </a:xfrm>
                <a:prstGeom prst="rect">
                  <a:avLst/>
                </a:prstGeom>
                <a:noFill/>
              </p:spPr>
              <p:txBody>
                <a:bodyPr wrap="square" rtlCol="0">
                  <a:spAutoFit/>
                </a:bodyPr>
                <a:lstStyle/>
                <a:p>
                  <a:r>
                    <a:rPr lang="pt-BR" sz="1600" dirty="0"/>
                    <a:t>Camada amortecedora</a:t>
                  </a:r>
                </a:p>
                <a:p>
                  <a:r>
                    <a:rPr lang="pt-BR" sz="1600" dirty="0"/>
                    <a:t>Subcamada laminar</a:t>
                  </a:r>
                </a:p>
              </p:txBody>
            </p:sp>
            <p:sp>
              <p:nvSpPr>
                <p:cNvPr id="29" name="CaixaDeTexto 16">
                  <a:extLst>
                    <a:ext uri="{FF2B5EF4-FFF2-40B4-BE49-F238E27FC236}">
                      <a16:creationId xmlns:a16="http://schemas.microsoft.com/office/drawing/2014/main" id="{011C8033-C979-77B5-F312-528E25906309}"/>
                    </a:ext>
                  </a:extLst>
                </p:cNvPr>
                <p:cNvSpPr txBox="1"/>
                <p:nvPr/>
              </p:nvSpPr>
              <p:spPr>
                <a:xfrm>
                  <a:off x="7668711" y="6104822"/>
                  <a:ext cx="1032399" cy="307777"/>
                </a:xfrm>
                <a:prstGeom prst="rect">
                  <a:avLst/>
                </a:prstGeom>
                <a:noFill/>
              </p:spPr>
              <p:txBody>
                <a:bodyPr wrap="none" rtlCol="0">
                  <a:spAutoFit/>
                </a:bodyPr>
                <a:lstStyle/>
                <a:p>
                  <a:r>
                    <a:rPr lang="pt-BR" sz="1400" dirty="0"/>
                    <a:t>Turbulento</a:t>
                  </a:r>
                </a:p>
              </p:txBody>
            </p:sp>
            <p:sp>
              <p:nvSpPr>
                <p:cNvPr id="30" name="CaixaDeTexto 17">
                  <a:extLst>
                    <a:ext uri="{FF2B5EF4-FFF2-40B4-BE49-F238E27FC236}">
                      <a16:creationId xmlns:a16="http://schemas.microsoft.com/office/drawing/2014/main" id="{3FFDE8E0-7E28-0BE2-B91B-46EDCA9D483E}"/>
                    </a:ext>
                  </a:extLst>
                </p:cNvPr>
                <p:cNvSpPr txBox="1"/>
                <p:nvPr/>
              </p:nvSpPr>
              <p:spPr>
                <a:xfrm>
                  <a:off x="6090378" y="6338986"/>
                  <a:ext cx="963469" cy="307777"/>
                </a:xfrm>
                <a:prstGeom prst="rect">
                  <a:avLst/>
                </a:prstGeom>
                <a:noFill/>
              </p:spPr>
              <p:txBody>
                <a:bodyPr wrap="none" rtlCol="0">
                  <a:spAutoFit/>
                </a:bodyPr>
                <a:lstStyle/>
                <a:p>
                  <a:r>
                    <a:rPr lang="pt-BR" sz="1400" dirty="0"/>
                    <a:t>Transição</a:t>
                  </a:r>
                </a:p>
              </p:txBody>
            </p:sp>
            <p:sp>
              <p:nvSpPr>
                <p:cNvPr id="31" name="CaixaDeTexto 18">
                  <a:extLst>
                    <a:ext uri="{FF2B5EF4-FFF2-40B4-BE49-F238E27FC236}">
                      <a16:creationId xmlns:a16="http://schemas.microsoft.com/office/drawing/2014/main" id="{79336666-8EF0-01A5-2E2C-20053B287925}"/>
                    </a:ext>
                  </a:extLst>
                </p:cNvPr>
                <p:cNvSpPr txBox="1"/>
                <p:nvPr/>
              </p:nvSpPr>
              <p:spPr>
                <a:xfrm>
                  <a:off x="4620735" y="6104821"/>
                  <a:ext cx="830677" cy="307777"/>
                </a:xfrm>
                <a:prstGeom prst="rect">
                  <a:avLst/>
                </a:prstGeom>
                <a:noFill/>
              </p:spPr>
              <p:txBody>
                <a:bodyPr wrap="none" rtlCol="0">
                  <a:spAutoFit/>
                </a:bodyPr>
                <a:lstStyle/>
                <a:p>
                  <a:r>
                    <a:rPr lang="pt-BR" sz="1400" dirty="0"/>
                    <a:t>Laminar</a:t>
                  </a:r>
                </a:p>
              </p:txBody>
            </p:sp>
          </p:grpSp>
        </p:grpSp>
        <p:sp>
          <p:nvSpPr>
            <p:cNvPr id="24" name="CaixaDeTexto 25">
              <a:extLst>
                <a:ext uri="{FF2B5EF4-FFF2-40B4-BE49-F238E27FC236}">
                  <a16:creationId xmlns:a16="http://schemas.microsoft.com/office/drawing/2014/main" id="{1B1955C5-0FB0-3272-0480-537B0337FCC0}"/>
                </a:ext>
              </a:extLst>
            </p:cNvPr>
            <p:cNvSpPr txBox="1"/>
            <p:nvPr/>
          </p:nvSpPr>
          <p:spPr>
            <a:xfrm>
              <a:off x="6414455" y="2599983"/>
              <a:ext cx="1883849" cy="338554"/>
            </a:xfrm>
            <a:prstGeom prst="rect">
              <a:avLst/>
            </a:prstGeom>
            <a:noFill/>
          </p:spPr>
          <p:txBody>
            <a:bodyPr wrap="none" rtlCol="0">
              <a:spAutoFit/>
            </a:bodyPr>
            <a:lstStyle/>
            <a:p>
              <a:r>
                <a:rPr lang="pt-BR" sz="1600" dirty="0"/>
                <a:t>Linhas de corrente</a:t>
              </a:r>
            </a:p>
          </p:txBody>
        </p:sp>
      </p:grpSp>
      <p:sp>
        <p:nvSpPr>
          <p:cNvPr id="40" name="TextBox 39">
            <a:extLst>
              <a:ext uri="{FF2B5EF4-FFF2-40B4-BE49-F238E27FC236}">
                <a16:creationId xmlns:a16="http://schemas.microsoft.com/office/drawing/2014/main" id="{40BE2DAA-C412-1DD3-4461-12B2F2373F9D}"/>
              </a:ext>
            </a:extLst>
          </p:cNvPr>
          <p:cNvSpPr txBox="1"/>
          <p:nvPr/>
        </p:nvSpPr>
        <p:spPr>
          <a:xfrm>
            <a:off x="457200" y="5980776"/>
            <a:ext cx="10716323" cy="318549"/>
          </a:xfrm>
          <a:prstGeom prst="rect">
            <a:avLst/>
          </a:prstGeom>
          <a:noFill/>
        </p:spPr>
        <p:txBody>
          <a:bodyPr wrap="square">
            <a:spAutoFit/>
          </a:bodyPr>
          <a:lstStyle/>
          <a:p>
            <a:pPr>
              <a:lnSpc>
                <a:spcPts val="2000"/>
              </a:lnSpc>
              <a:spcAft>
                <a:spcPts val="600"/>
              </a:spcAft>
              <a:buSzPct val="100000"/>
            </a:pPr>
            <a:r>
              <a:rPr lang="pt-PT" sz="1000" dirty="0">
                <a:solidFill>
                  <a:srgbClr val="182A32"/>
                </a:solidFill>
                <a:latin typeface="Calibri" pitchFamily="34" charset="0"/>
                <a:ea typeface="Calibri" pitchFamily="34" charset="-122"/>
                <a:cs typeface="Calibri" pitchFamily="34" charset="-120"/>
              </a:rPr>
              <a:t>Fonte: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sp>
        <p:nvSpPr>
          <p:cNvPr id="5" name="Rounded Rectangle 4">
            <a:extLst>
              <a:ext uri="{FF2B5EF4-FFF2-40B4-BE49-F238E27FC236}">
                <a16:creationId xmlns:a16="http://schemas.microsoft.com/office/drawing/2014/main" id="{0126E4FA-8A2F-1A97-72E9-A7247DD5CF7B}"/>
              </a:ext>
            </a:extLst>
          </p:cNvPr>
          <p:cNvSpPr/>
          <p:nvPr/>
        </p:nvSpPr>
        <p:spPr>
          <a:xfrm>
            <a:off x="1687033" y="3487509"/>
            <a:ext cx="999460" cy="1410555"/>
          </a:xfrm>
          <a:prstGeom prst="roundRect">
            <a:avLst/>
          </a:prstGeom>
          <a:solidFill>
            <a:srgbClr val="FF0000">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30701745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219A73D-C746-DAB6-2308-0C6A413BCCC7}"/>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46EAE45E-F90A-4895-DEFC-66EF6E8675B9}"/>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CAMADA LIMITE</a:t>
            </a:r>
            <a:endParaRPr lang="pt-PT" sz="1300" noProof="0" dirty="0"/>
          </a:p>
        </p:txBody>
      </p:sp>
      <p:sp>
        <p:nvSpPr>
          <p:cNvPr id="4" name="Text 1">
            <a:extLst>
              <a:ext uri="{FF2B5EF4-FFF2-40B4-BE49-F238E27FC236}">
                <a16:creationId xmlns:a16="http://schemas.microsoft.com/office/drawing/2014/main" id="{249F591F-7FB2-7645-EBB1-513C69303E72}"/>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Camada limite: efeito da turbulência</a:t>
            </a:r>
          </a:p>
        </p:txBody>
      </p:sp>
      <p:sp>
        <p:nvSpPr>
          <p:cNvPr id="20" name="Text 17">
            <a:extLst>
              <a:ext uri="{FF2B5EF4-FFF2-40B4-BE49-F238E27FC236}">
                <a16:creationId xmlns:a16="http://schemas.microsoft.com/office/drawing/2014/main" id="{E3DD6933-7F2F-32D7-7F07-62B59B9AA5BD}"/>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a:extLst>
              <a:ext uri="{FF2B5EF4-FFF2-40B4-BE49-F238E27FC236}">
                <a16:creationId xmlns:a16="http://schemas.microsoft.com/office/drawing/2014/main" id="{B422D1CD-A95C-FD8E-5E34-98ACBF06D02B}"/>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3 · Camada limite</a:t>
            </a:r>
            <a:endParaRPr lang="pt-PT" sz="950" noProof="0" dirty="0"/>
          </a:p>
        </p:txBody>
      </p:sp>
      <p:sp>
        <p:nvSpPr>
          <p:cNvPr id="22" name="Text 19">
            <a:extLst>
              <a:ext uri="{FF2B5EF4-FFF2-40B4-BE49-F238E27FC236}">
                <a16:creationId xmlns:a16="http://schemas.microsoft.com/office/drawing/2014/main" id="{5BFDC526-F09A-5C5F-2EB9-A8CE50C65F26}"/>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8</a:t>
            </a:r>
            <a:endParaRPr lang="pt-PT" sz="950" noProof="0" dirty="0"/>
          </a:p>
        </p:txBody>
      </p:sp>
      <p:grpSp>
        <p:nvGrpSpPr>
          <p:cNvPr id="2" name="Agrupar 26">
            <a:extLst>
              <a:ext uri="{FF2B5EF4-FFF2-40B4-BE49-F238E27FC236}">
                <a16:creationId xmlns:a16="http://schemas.microsoft.com/office/drawing/2014/main" id="{D550163E-6166-B5A5-A4FC-D5AFE7FD8310}"/>
              </a:ext>
            </a:extLst>
          </p:cNvPr>
          <p:cNvGrpSpPr/>
          <p:nvPr/>
        </p:nvGrpSpPr>
        <p:grpSpPr>
          <a:xfrm>
            <a:off x="908098" y="1710819"/>
            <a:ext cx="10071004" cy="4254198"/>
            <a:chOff x="2097505" y="2392565"/>
            <a:chExt cx="10071004" cy="4254198"/>
          </a:xfrm>
        </p:grpSpPr>
        <p:grpSp>
          <p:nvGrpSpPr>
            <p:cNvPr id="23" name="Agrupar 24">
              <a:extLst>
                <a:ext uri="{FF2B5EF4-FFF2-40B4-BE49-F238E27FC236}">
                  <a16:creationId xmlns:a16="http://schemas.microsoft.com/office/drawing/2014/main" id="{64F5C362-83F7-FEC5-92ED-DAF5E172536F}"/>
                </a:ext>
              </a:extLst>
            </p:cNvPr>
            <p:cNvGrpSpPr/>
            <p:nvPr/>
          </p:nvGrpSpPr>
          <p:grpSpPr>
            <a:xfrm>
              <a:off x="2097505" y="2392565"/>
              <a:ext cx="10071004" cy="4254198"/>
              <a:chOff x="2097505" y="2392565"/>
              <a:chExt cx="10071004" cy="4254198"/>
            </a:xfrm>
          </p:grpSpPr>
          <p:grpSp>
            <p:nvGrpSpPr>
              <p:cNvPr id="25" name="Agrupar 13">
                <a:extLst>
                  <a:ext uri="{FF2B5EF4-FFF2-40B4-BE49-F238E27FC236}">
                    <a16:creationId xmlns:a16="http://schemas.microsoft.com/office/drawing/2014/main" id="{E1E14806-C54D-F16E-4074-8A7B2DEBB544}"/>
                  </a:ext>
                </a:extLst>
              </p:cNvPr>
              <p:cNvGrpSpPr/>
              <p:nvPr/>
            </p:nvGrpSpPr>
            <p:grpSpPr>
              <a:xfrm>
                <a:off x="2097505" y="2392565"/>
                <a:ext cx="8940036" cy="4230938"/>
                <a:chOff x="2468765" y="2371940"/>
                <a:chExt cx="8940036" cy="4230938"/>
              </a:xfrm>
            </p:grpSpPr>
            <p:grpSp>
              <p:nvGrpSpPr>
                <p:cNvPr id="32" name="Agrupar 9">
                  <a:extLst>
                    <a:ext uri="{FF2B5EF4-FFF2-40B4-BE49-F238E27FC236}">
                      <a16:creationId xmlns:a16="http://schemas.microsoft.com/office/drawing/2014/main" id="{CB10E78C-173A-ABA1-4B4D-B50BCC800395}"/>
                    </a:ext>
                  </a:extLst>
                </p:cNvPr>
                <p:cNvGrpSpPr/>
                <p:nvPr/>
              </p:nvGrpSpPr>
              <p:grpSpPr>
                <a:xfrm>
                  <a:off x="2468765" y="2371940"/>
                  <a:ext cx="8940036" cy="4230938"/>
                  <a:chOff x="2468765" y="2371940"/>
                  <a:chExt cx="8940036" cy="4230938"/>
                </a:xfrm>
              </p:grpSpPr>
              <p:pic>
                <p:nvPicPr>
                  <p:cNvPr id="36" name="Imagem 3" descr="Diagrama, Esquemático&#10;&#10;O conteúdo gerado por IA pode estar incorreto.">
                    <a:extLst>
                      <a:ext uri="{FF2B5EF4-FFF2-40B4-BE49-F238E27FC236}">
                        <a16:creationId xmlns:a16="http://schemas.microsoft.com/office/drawing/2014/main" id="{A73AFFDC-03E2-83F8-DCC2-B7C8BDEDD407}"/>
                      </a:ext>
                    </a:extLst>
                  </p:cNvPr>
                  <p:cNvPicPr>
                    <a:picLocks noChangeAspect="1"/>
                  </p:cNvPicPr>
                  <p:nvPr/>
                </p:nvPicPr>
                <p:blipFill>
                  <a:blip r:embed="rId3"/>
                  <a:stretch>
                    <a:fillRect/>
                  </a:stretch>
                </p:blipFill>
                <p:spPr>
                  <a:xfrm>
                    <a:off x="2468765" y="2421722"/>
                    <a:ext cx="8940036" cy="4181156"/>
                  </a:xfrm>
                  <a:prstGeom prst="rect">
                    <a:avLst/>
                  </a:prstGeom>
                </p:spPr>
              </p:pic>
              <p:sp>
                <p:nvSpPr>
                  <p:cNvPr id="37" name="Retângulo 6">
                    <a:extLst>
                      <a:ext uri="{FF2B5EF4-FFF2-40B4-BE49-F238E27FC236}">
                        <a16:creationId xmlns:a16="http://schemas.microsoft.com/office/drawing/2014/main" id="{59CA4064-0DA4-4D53-B8B8-DD272CFE9642}"/>
                      </a:ext>
                    </a:extLst>
                  </p:cNvPr>
                  <p:cNvSpPr/>
                  <p:nvPr/>
                </p:nvSpPr>
                <p:spPr>
                  <a:xfrm>
                    <a:off x="10312782" y="3801979"/>
                    <a:ext cx="811272" cy="5293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Retângulo 7">
                    <a:extLst>
                      <a:ext uri="{FF2B5EF4-FFF2-40B4-BE49-F238E27FC236}">
                        <a16:creationId xmlns:a16="http://schemas.microsoft.com/office/drawing/2014/main" id="{53C406FC-8926-10B4-950C-62426F3B4A05}"/>
                      </a:ext>
                    </a:extLst>
                  </p:cNvPr>
                  <p:cNvSpPr/>
                  <p:nvPr/>
                </p:nvSpPr>
                <p:spPr>
                  <a:xfrm>
                    <a:off x="10312782" y="4922635"/>
                    <a:ext cx="962526" cy="7356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9" name="Retângulo 8">
                    <a:extLst>
                      <a:ext uri="{FF2B5EF4-FFF2-40B4-BE49-F238E27FC236}">
                        <a16:creationId xmlns:a16="http://schemas.microsoft.com/office/drawing/2014/main" id="{E09CCCDB-DD77-6CEB-4494-ECF2FF2C674A}"/>
                      </a:ext>
                    </a:extLst>
                  </p:cNvPr>
                  <p:cNvSpPr/>
                  <p:nvPr/>
                </p:nvSpPr>
                <p:spPr>
                  <a:xfrm>
                    <a:off x="5795783" y="2371940"/>
                    <a:ext cx="935026" cy="2280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33" name="Retângulo 10">
                  <a:extLst>
                    <a:ext uri="{FF2B5EF4-FFF2-40B4-BE49-F238E27FC236}">
                      <a16:creationId xmlns:a16="http://schemas.microsoft.com/office/drawing/2014/main" id="{E8950855-DD6D-9F88-0EC2-167A56113668}"/>
                    </a:ext>
                  </a:extLst>
                </p:cNvPr>
                <p:cNvSpPr/>
                <p:nvPr/>
              </p:nvSpPr>
              <p:spPr>
                <a:xfrm>
                  <a:off x="8188349" y="6105167"/>
                  <a:ext cx="735645" cy="1925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4" name="Retângulo 11">
                  <a:extLst>
                    <a:ext uri="{FF2B5EF4-FFF2-40B4-BE49-F238E27FC236}">
                      <a16:creationId xmlns:a16="http://schemas.microsoft.com/office/drawing/2014/main" id="{896F524A-2F94-BBDD-808A-8DD20568CC53}"/>
                    </a:ext>
                  </a:extLst>
                </p:cNvPr>
                <p:cNvSpPr/>
                <p:nvPr/>
              </p:nvSpPr>
              <p:spPr>
                <a:xfrm>
                  <a:off x="6570960" y="6348090"/>
                  <a:ext cx="735645" cy="1925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5" name="Retângulo 12">
                  <a:extLst>
                    <a:ext uri="{FF2B5EF4-FFF2-40B4-BE49-F238E27FC236}">
                      <a16:creationId xmlns:a16="http://schemas.microsoft.com/office/drawing/2014/main" id="{FD4AC448-6029-FE05-D22E-75FB0F6571C3}"/>
                    </a:ext>
                  </a:extLst>
                </p:cNvPr>
                <p:cNvSpPr/>
                <p:nvPr/>
              </p:nvSpPr>
              <p:spPr>
                <a:xfrm>
                  <a:off x="5039512" y="6141834"/>
                  <a:ext cx="735645" cy="1925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26" name="Agrupar 19">
                <a:extLst>
                  <a:ext uri="{FF2B5EF4-FFF2-40B4-BE49-F238E27FC236}">
                    <a16:creationId xmlns:a16="http://schemas.microsoft.com/office/drawing/2014/main" id="{AF3BA8F6-0866-E7F4-52D4-CB408120DD7B}"/>
                  </a:ext>
                </a:extLst>
              </p:cNvPr>
              <p:cNvGrpSpPr/>
              <p:nvPr/>
            </p:nvGrpSpPr>
            <p:grpSpPr>
              <a:xfrm>
                <a:off x="4620735" y="3829071"/>
                <a:ext cx="7547774" cy="2817692"/>
                <a:chOff x="4620735" y="3829071"/>
                <a:chExt cx="7547774" cy="2817692"/>
              </a:xfrm>
            </p:grpSpPr>
            <p:sp>
              <p:nvSpPr>
                <p:cNvPr id="27" name="CaixaDeTexto 14">
                  <a:extLst>
                    <a:ext uri="{FF2B5EF4-FFF2-40B4-BE49-F238E27FC236}">
                      <a16:creationId xmlns:a16="http://schemas.microsoft.com/office/drawing/2014/main" id="{CF821897-FAAD-3BD1-894A-55E700182774}"/>
                    </a:ext>
                  </a:extLst>
                </p:cNvPr>
                <p:cNvSpPr txBox="1"/>
                <p:nvPr/>
              </p:nvSpPr>
              <p:spPr>
                <a:xfrm>
                  <a:off x="9906573" y="3829071"/>
                  <a:ext cx="1684421" cy="646331"/>
                </a:xfrm>
                <a:prstGeom prst="rect">
                  <a:avLst/>
                </a:prstGeom>
                <a:noFill/>
              </p:spPr>
              <p:txBody>
                <a:bodyPr wrap="square" rtlCol="0">
                  <a:spAutoFit/>
                </a:bodyPr>
                <a:lstStyle/>
                <a:p>
                  <a:r>
                    <a:rPr lang="pt-BR" dirty="0"/>
                    <a:t>Região turbulenta</a:t>
                  </a:r>
                </a:p>
              </p:txBody>
            </p:sp>
            <p:sp>
              <p:nvSpPr>
                <p:cNvPr id="28" name="CaixaDeTexto 15">
                  <a:extLst>
                    <a:ext uri="{FF2B5EF4-FFF2-40B4-BE49-F238E27FC236}">
                      <a16:creationId xmlns:a16="http://schemas.microsoft.com/office/drawing/2014/main" id="{6E8B1A8B-EBA0-B282-5B59-6A2C63FE04A3}"/>
                    </a:ext>
                  </a:extLst>
                </p:cNvPr>
                <p:cNvSpPr txBox="1"/>
                <p:nvPr/>
              </p:nvSpPr>
              <p:spPr>
                <a:xfrm>
                  <a:off x="9906573" y="4922635"/>
                  <a:ext cx="2261936" cy="584775"/>
                </a:xfrm>
                <a:prstGeom prst="rect">
                  <a:avLst/>
                </a:prstGeom>
                <a:noFill/>
              </p:spPr>
              <p:txBody>
                <a:bodyPr wrap="square" rtlCol="0">
                  <a:spAutoFit/>
                </a:bodyPr>
                <a:lstStyle/>
                <a:p>
                  <a:r>
                    <a:rPr lang="pt-BR" sz="1600" dirty="0"/>
                    <a:t>Camada amortecedora</a:t>
                  </a:r>
                </a:p>
                <a:p>
                  <a:r>
                    <a:rPr lang="pt-BR" sz="1600" dirty="0"/>
                    <a:t>Subcamada laminar</a:t>
                  </a:r>
                </a:p>
              </p:txBody>
            </p:sp>
            <p:sp>
              <p:nvSpPr>
                <p:cNvPr id="29" name="CaixaDeTexto 16">
                  <a:extLst>
                    <a:ext uri="{FF2B5EF4-FFF2-40B4-BE49-F238E27FC236}">
                      <a16:creationId xmlns:a16="http://schemas.microsoft.com/office/drawing/2014/main" id="{DE91948C-256A-0D11-624A-2A1D02E1F79A}"/>
                    </a:ext>
                  </a:extLst>
                </p:cNvPr>
                <p:cNvSpPr txBox="1"/>
                <p:nvPr/>
              </p:nvSpPr>
              <p:spPr>
                <a:xfrm>
                  <a:off x="7668711" y="6104822"/>
                  <a:ext cx="1032399" cy="307777"/>
                </a:xfrm>
                <a:prstGeom prst="rect">
                  <a:avLst/>
                </a:prstGeom>
                <a:noFill/>
              </p:spPr>
              <p:txBody>
                <a:bodyPr wrap="none" rtlCol="0">
                  <a:spAutoFit/>
                </a:bodyPr>
                <a:lstStyle/>
                <a:p>
                  <a:r>
                    <a:rPr lang="pt-BR" sz="1400" dirty="0"/>
                    <a:t>Turbulento</a:t>
                  </a:r>
                </a:p>
              </p:txBody>
            </p:sp>
            <p:sp>
              <p:nvSpPr>
                <p:cNvPr id="30" name="CaixaDeTexto 17">
                  <a:extLst>
                    <a:ext uri="{FF2B5EF4-FFF2-40B4-BE49-F238E27FC236}">
                      <a16:creationId xmlns:a16="http://schemas.microsoft.com/office/drawing/2014/main" id="{7634FDF6-47DB-2C62-F19B-8AE3D17EF642}"/>
                    </a:ext>
                  </a:extLst>
                </p:cNvPr>
                <p:cNvSpPr txBox="1"/>
                <p:nvPr/>
              </p:nvSpPr>
              <p:spPr>
                <a:xfrm>
                  <a:off x="6090378" y="6338986"/>
                  <a:ext cx="963469" cy="307777"/>
                </a:xfrm>
                <a:prstGeom prst="rect">
                  <a:avLst/>
                </a:prstGeom>
                <a:noFill/>
              </p:spPr>
              <p:txBody>
                <a:bodyPr wrap="none" rtlCol="0">
                  <a:spAutoFit/>
                </a:bodyPr>
                <a:lstStyle/>
                <a:p>
                  <a:r>
                    <a:rPr lang="pt-BR" sz="1400" dirty="0"/>
                    <a:t>Transição</a:t>
                  </a:r>
                </a:p>
              </p:txBody>
            </p:sp>
            <p:sp>
              <p:nvSpPr>
                <p:cNvPr id="31" name="CaixaDeTexto 18">
                  <a:extLst>
                    <a:ext uri="{FF2B5EF4-FFF2-40B4-BE49-F238E27FC236}">
                      <a16:creationId xmlns:a16="http://schemas.microsoft.com/office/drawing/2014/main" id="{05C8B05E-582F-AD85-84AA-06C5AE26735F}"/>
                    </a:ext>
                  </a:extLst>
                </p:cNvPr>
                <p:cNvSpPr txBox="1"/>
                <p:nvPr/>
              </p:nvSpPr>
              <p:spPr>
                <a:xfrm>
                  <a:off x="4620735" y="6104821"/>
                  <a:ext cx="830677" cy="307777"/>
                </a:xfrm>
                <a:prstGeom prst="rect">
                  <a:avLst/>
                </a:prstGeom>
                <a:noFill/>
              </p:spPr>
              <p:txBody>
                <a:bodyPr wrap="none" rtlCol="0">
                  <a:spAutoFit/>
                </a:bodyPr>
                <a:lstStyle/>
                <a:p>
                  <a:r>
                    <a:rPr lang="pt-BR" sz="1400" dirty="0"/>
                    <a:t>Laminar</a:t>
                  </a:r>
                </a:p>
              </p:txBody>
            </p:sp>
          </p:grpSp>
        </p:grpSp>
        <p:sp>
          <p:nvSpPr>
            <p:cNvPr id="24" name="CaixaDeTexto 25">
              <a:extLst>
                <a:ext uri="{FF2B5EF4-FFF2-40B4-BE49-F238E27FC236}">
                  <a16:creationId xmlns:a16="http://schemas.microsoft.com/office/drawing/2014/main" id="{A84EDADE-0049-63CA-60E0-F88FE47F3704}"/>
                </a:ext>
              </a:extLst>
            </p:cNvPr>
            <p:cNvSpPr txBox="1"/>
            <p:nvPr/>
          </p:nvSpPr>
          <p:spPr>
            <a:xfrm>
              <a:off x="6414455" y="2599983"/>
              <a:ext cx="1883849" cy="338554"/>
            </a:xfrm>
            <a:prstGeom prst="rect">
              <a:avLst/>
            </a:prstGeom>
            <a:noFill/>
          </p:spPr>
          <p:txBody>
            <a:bodyPr wrap="none" rtlCol="0">
              <a:spAutoFit/>
            </a:bodyPr>
            <a:lstStyle/>
            <a:p>
              <a:r>
                <a:rPr lang="pt-BR" sz="1600" dirty="0"/>
                <a:t>Linhas de corrente</a:t>
              </a:r>
            </a:p>
          </p:txBody>
        </p:sp>
      </p:grpSp>
      <p:sp>
        <p:nvSpPr>
          <p:cNvPr id="40" name="TextBox 39">
            <a:extLst>
              <a:ext uri="{FF2B5EF4-FFF2-40B4-BE49-F238E27FC236}">
                <a16:creationId xmlns:a16="http://schemas.microsoft.com/office/drawing/2014/main" id="{47C6D6AD-2AF4-64F8-3BB8-CD2710D749A7}"/>
              </a:ext>
            </a:extLst>
          </p:cNvPr>
          <p:cNvSpPr txBox="1"/>
          <p:nvPr/>
        </p:nvSpPr>
        <p:spPr>
          <a:xfrm>
            <a:off x="457200" y="5980776"/>
            <a:ext cx="10716323" cy="318549"/>
          </a:xfrm>
          <a:prstGeom prst="rect">
            <a:avLst/>
          </a:prstGeom>
          <a:noFill/>
        </p:spPr>
        <p:txBody>
          <a:bodyPr wrap="square">
            <a:spAutoFit/>
          </a:bodyPr>
          <a:lstStyle/>
          <a:p>
            <a:pPr>
              <a:lnSpc>
                <a:spcPts val="2000"/>
              </a:lnSpc>
              <a:spcAft>
                <a:spcPts val="600"/>
              </a:spcAft>
              <a:buSzPct val="100000"/>
            </a:pPr>
            <a:r>
              <a:rPr lang="pt-PT" sz="1000" dirty="0">
                <a:solidFill>
                  <a:srgbClr val="182A32"/>
                </a:solidFill>
                <a:latin typeface="Calibri" pitchFamily="34" charset="0"/>
                <a:ea typeface="Calibri" pitchFamily="34" charset="-122"/>
                <a:cs typeface="Calibri" pitchFamily="34" charset="-120"/>
              </a:rPr>
              <a:t>Fonte: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sp>
        <p:nvSpPr>
          <p:cNvPr id="5" name="Rounded Rectangle 4">
            <a:extLst>
              <a:ext uri="{FF2B5EF4-FFF2-40B4-BE49-F238E27FC236}">
                <a16:creationId xmlns:a16="http://schemas.microsoft.com/office/drawing/2014/main" id="{F09A3953-9A25-2ABB-7B09-6AE5228E5162}"/>
              </a:ext>
            </a:extLst>
          </p:cNvPr>
          <p:cNvSpPr/>
          <p:nvPr/>
        </p:nvSpPr>
        <p:spPr>
          <a:xfrm>
            <a:off x="4295428" y="3470490"/>
            <a:ext cx="999460" cy="1410555"/>
          </a:xfrm>
          <a:prstGeom prst="roundRect">
            <a:avLst/>
          </a:prstGeom>
          <a:solidFill>
            <a:srgbClr val="FF0000">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6" name="Rounded Rectangle 5">
            <a:extLst>
              <a:ext uri="{FF2B5EF4-FFF2-40B4-BE49-F238E27FC236}">
                <a16:creationId xmlns:a16="http://schemas.microsoft.com/office/drawing/2014/main" id="{A8ECFF5B-1B75-E98D-07D9-E1393C76CB3C}"/>
              </a:ext>
            </a:extLst>
          </p:cNvPr>
          <p:cNvSpPr/>
          <p:nvPr/>
        </p:nvSpPr>
        <p:spPr>
          <a:xfrm>
            <a:off x="4853456" y="4997158"/>
            <a:ext cx="999460" cy="994381"/>
          </a:xfrm>
          <a:prstGeom prst="roundRect">
            <a:avLst/>
          </a:prstGeom>
          <a:solidFill>
            <a:srgbClr val="FF0000">
              <a:alpha val="1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16133183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64B0234-31AE-39AF-D136-B07E8078ADA5}"/>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B5B1ED43-DCF7-8751-7767-291489982B6E}"/>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CAMADA LIMITE</a:t>
            </a:r>
            <a:endParaRPr lang="pt-PT" sz="1300" noProof="0" dirty="0"/>
          </a:p>
        </p:txBody>
      </p:sp>
      <p:sp>
        <p:nvSpPr>
          <p:cNvPr id="4" name="Text 1">
            <a:extLst>
              <a:ext uri="{FF2B5EF4-FFF2-40B4-BE49-F238E27FC236}">
                <a16:creationId xmlns:a16="http://schemas.microsoft.com/office/drawing/2014/main" id="{A76FDC10-30F9-149C-430C-202DEC5C1772}"/>
              </a:ext>
            </a:extLst>
          </p:cNvPr>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Camada limite: efeito da turbulência</a:t>
            </a:r>
          </a:p>
        </p:txBody>
      </p:sp>
      <p:sp>
        <p:nvSpPr>
          <p:cNvPr id="20" name="Text 17">
            <a:extLst>
              <a:ext uri="{FF2B5EF4-FFF2-40B4-BE49-F238E27FC236}">
                <a16:creationId xmlns:a16="http://schemas.microsoft.com/office/drawing/2014/main" id="{00C822D7-2E88-8611-2337-3C66A394F4AF}"/>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a:extLst>
              <a:ext uri="{FF2B5EF4-FFF2-40B4-BE49-F238E27FC236}">
                <a16:creationId xmlns:a16="http://schemas.microsoft.com/office/drawing/2014/main" id="{9AED2C32-3D04-3411-53F7-B0147A50CC97}"/>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3 · Camada limite</a:t>
            </a:r>
            <a:endParaRPr lang="pt-PT" sz="950" noProof="0" dirty="0"/>
          </a:p>
        </p:txBody>
      </p:sp>
      <p:sp>
        <p:nvSpPr>
          <p:cNvPr id="22" name="Text 19">
            <a:extLst>
              <a:ext uri="{FF2B5EF4-FFF2-40B4-BE49-F238E27FC236}">
                <a16:creationId xmlns:a16="http://schemas.microsoft.com/office/drawing/2014/main" id="{3B239A0E-2BE9-A067-4776-D17E946ACADA}"/>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9</a:t>
            </a:r>
            <a:endParaRPr lang="pt-PT" sz="950" noProof="0" dirty="0"/>
          </a:p>
        </p:txBody>
      </p:sp>
      <p:grpSp>
        <p:nvGrpSpPr>
          <p:cNvPr id="6" name="Agrupar 38">
            <a:extLst>
              <a:ext uri="{FF2B5EF4-FFF2-40B4-BE49-F238E27FC236}">
                <a16:creationId xmlns:a16="http://schemas.microsoft.com/office/drawing/2014/main" id="{1B642600-FD48-7498-F632-2EFDF5785201}"/>
              </a:ext>
            </a:extLst>
          </p:cNvPr>
          <p:cNvGrpSpPr>
            <a:grpSpLocks noChangeAspect="1"/>
          </p:cNvGrpSpPr>
          <p:nvPr/>
        </p:nvGrpSpPr>
        <p:grpSpPr>
          <a:xfrm>
            <a:off x="4258351" y="1415844"/>
            <a:ext cx="4702101" cy="4564932"/>
            <a:chOff x="6302514" y="1901968"/>
            <a:chExt cx="4996192" cy="4850445"/>
          </a:xfrm>
        </p:grpSpPr>
        <p:grpSp>
          <p:nvGrpSpPr>
            <p:cNvPr id="7" name="Agrupar 7">
              <a:extLst>
                <a:ext uri="{FF2B5EF4-FFF2-40B4-BE49-F238E27FC236}">
                  <a16:creationId xmlns:a16="http://schemas.microsoft.com/office/drawing/2014/main" id="{7E6FEE0E-A69B-A4FA-883B-95359F698E8B}"/>
                </a:ext>
              </a:extLst>
            </p:cNvPr>
            <p:cNvGrpSpPr/>
            <p:nvPr/>
          </p:nvGrpSpPr>
          <p:grpSpPr>
            <a:xfrm>
              <a:off x="6302514" y="1901968"/>
              <a:ext cx="4996192" cy="4850445"/>
              <a:chOff x="3359933" y="1668212"/>
              <a:chExt cx="4996192" cy="4850445"/>
            </a:xfrm>
          </p:grpSpPr>
          <p:pic>
            <p:nvPicPr>
              <p:cNvPr id="11" name="Imagem 3" descr="Histograma&#10;&#10;O conteúdo gerado por IA pode estar incorreto.">
                <a:extLst>
                  <a:ext uri="{FF2B5EF4-FFF2-40B4-BE49-F238E27FC236}">
                    <a16:creationId xmlns:a16="http://schemas.microsoft.com/office/drawing/2014/main" id="{3F693BE5-E0BC-B2C7-9C10-F76CEAA4B2DD}"/>
                  </a:ext>
                </a:extLst>
              </p:cNvPr>
              <p:cNvPicPr>
                <a:picLocks noChangeAspect="1"/>
              </p:cNvPicPr>
              <p:nvPr/>
            </p:nvPicPr>
            <p:blipFill>
              <a:blip r:embed="rId3"/>
              <a:stretch>
                <a:fillRect/>
              </a:stretch>
            </p:blipFill>
            <p:spPr>
              <a:xfrm>
                <a:off x="3359933" y="1668212"/>
                <a:ext cx="4996192" cy="4850445"/>
              </a:xfrm>
              <a:prstGeom prst="rect">
                <a:avLst/>
              </a:prstGeom>
            </p:spPr>
          </p:pic>
          <p:sp>
            <p:nvSpPr>
              <p:cNvPr id="12" name="Retângulo 4">
                <a:extLst>
                  <a:ext uri="{FF2B5EF4-FFF2-40B4-BE49-F238E27FC236}">
                    <a16:creationId xmlns:a16="http://schemas.microsoft.com/office/drawing/2014/main" id="{81BDEE88-A077-4C05-1B87-5C9B4272E193}"/>
                  </a:ext>
                </a:extLst>
              </p:cNvPr>
              <p:cNvSpPr/>
              <p:nvPr/>
            </p:nvSpPr>
            <p:spPr>
              <a:xfrm>
                <a:off x="4750755" y="5892036"/>
                <a:ext cx="776896" cy="2612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5">
                <a:extLst>
                  <a:ext uri="{FF2B5EF4-FFF2-40B4-BE49-F238E27FC236}">
                    <a16:creationId xmlns:a16="http://schemas.microsoft.com/office/drawing/2014/main" id="{CABD9676-B124-C910-5446-9327D0945258}"/>
                  </a:ext>
                </a:extLst>
              </p:cNvPr>
              <p:cNvSpPr/>
              <p:nvPr/>
            </p:nvSpPr>
            <p:spPr>
              <a:xfrm>
                <a:off x="5721304" y="6176210"/>
                <a:ext cx="878876" cy="2612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6">
                <a:extLst>
                  <a:ext uri="{FF2B5EF4-FFF2-40B4-BE49-F238E27FC236}">
                    <a16:creationId xmlns:a16="http://schemas.microsoft.com/office/drawing/2014/main" id="{0E7ABA8C-824D-50EE-4C07-6245FB4C70C5}"/>
                  </a:ext>
                </a:extLst>
              </p:cNvPr>
              <p:cNvSpPr/>
              <p:nvPr/>
            </p:nvSpPr>
            <p:spPr>
              <a:xfrm>
                <a:off x="6994360" y="5840472"/>
                <a:ext cx="878876" cy="3357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8" name="CaixaDeTexto 8">
              <a:extLst>
                <a:ext uri="{FF2B5EF4-FFF2-40B4-BE49-F238E27FC236}">
                  <a16:creationId xmlns:a16="http://schemas.microsoft.com/office/drawing/2014/main" id="{7EE2C96B-5DC3-6F3F-BB78-6E6F817E159F}"/>
                </a:ext>
              </a:extLst>
            </p:cNvPr>
            <p:cNvSpPr txBox="1"/>
            <p:nvPr/>
          </p:nvSpPr>
          <p:spPr>
            <a:xfrm>
              <a:off x="9807337" y="6071626"/>
              <a:ext cx="1032398" cy="307778"/>
            </a:xfrm>
            <a:prstGeom prst="rect">
              <a:avLst/>
            </a:prstGeom>
            <a:noFill/>
          </p:spPr>
          <p:txBody>
            <a:bodyPr wrap="none" rtlCol="0">
              <a:spAutoFit/>
            </a:bodyPr>
            <a:lstStyle/>
            <a:p>
              <a:r>
                <a:rPr lang="pt-BR" sz="1400" dirty="0"/>
                <a:t>Turbulento</a:t>
              </a:r>
            </a:p>
          </p:txBody>
        </p:sp>
        <p:sp>
          <p:nvSpPr>
            <p:cNvPr id="9" name="CaixaDeTexto 9">
              <a:extLst>
                <a:ext uri="{FF2B5EF4-FFF2-40B4-BE49-F238E27FC236}">
                  <a16:creationId xmlns:a16="http://schemas.microsoft.com/office/drawing/2014/main" id="{01791B3B-512D-3A24-C1EE-E8431F0481EA}"/>
                </a:ext>
              </a:extLst>
            </p:cNvPr>
            <p:cNvSpPr txBox="1"/>
            <p:nvPr/>
          </p:nvSpPr>
          <p:spPr>
            <a:xfrm>
              <a:off x="8579292" y="6379405"/>
              <a:ext cx="963469" cy="307778"/>
            </a:xfrm>
            <a:prstGeom prst="rect">
              <a:avLst/>
            </a:prstGeom>
            <a:noFill/>
          </p:spPr>
          <p:txBody>
            <a:bodyPr wrap="none" rtlCol="0">
              <a:spAutoFit/>
            </a:bodyPr>
            <a:lstStyle/>
            <a:p>
              <a:r>
                <a:rPr lang="pt-BR" sz="1400" dirty="0"/>
                <a:t>Transição</a:t>
              </a:r>
            </a:p>
          </p:txBody>
        </p:sp>
        <p:sp>
          <p:nvSpPr>
            <p:cNvPr id="10" name="CaixaDeTexto 10">
              <a:extLst>
                <a:ext uri="{FF2B5EF4-FFF2-40B4-BE49-F238E27FC236}">
                  <a16:creationId xmlns:a16="http://schemas.microsoft.com/office/drawing/2014/main" id="{F18C7C69-2D7C-6749-6400-DB829CD289AE}"/>
                </a:ext>
              </a:extLst>
            </p:cNvPr>
            <p:cNvSpPr txBox="1"/>
            <p:nvPr/>
          </p:nvSpPr>
          <p:spPr>
            <a:xfrm>
              <a:off x="7616327" y="6088208"/>
              <a:ext cx="830677" cy="307778"/>
            </a:xfrm>
            <a:prstGeom prst="rect">
              <a:avLst/>
            </a:prstGeom>
            <a:noFill/>
          </p:spPr>
          <p:txBody>
            <a:bodyPr wrap="none" rtlCol="0">
              <a:spAutoFit/>
            </a:bodyPr>
            <a:lstStyle/>
            <a:p>
              <a:r>
                <a:rPr lang="pt-BR" sz="1400" dirty="0"/>
                <a:t>Laminar</a:t>
              </a:r>
            </a:p>
          </p:txBody>
        </p:sp>
      </p:grpSp>
      <p:sp>
        <p:nvSpPr>
          <p:cNvPr id="53" name="TextBox 52">
            <a:extLst>
              <a:ext uri="{FF2B5EF4-FFF2-40B4-BE49-F238E27FC236}">
                <a16:creationId xmlns:a16="http://schemas.microsoft.com/office/drawing/2014/main" id="{27F63BF5-7C68-A91E-4795-8B86E7937E35}"/>
              </a:ext>
            </a:extLst>
          </p:cNvPr>
          <p:cNvSpPr txBox="1"/>
          <p:nvPr/>
        </p:nvSpPr>
        <p:spPr>
          <a:xfrm>
            <a:off x="457200" y="5980776"/>
            <a:ext cx="10716323" cy="318549"/>
          </a:xfrm>
          <a:prstGeom prst="rect">
            <a:avLst/>
          </a:prstGeom>
          <a:noFill/>
        </p:spPr>
        <p:txBody>
          <a:bodyPr wrap="square">
            <a:spAutoFit/>
          </a:bodyPr>
          <a:lstStyle/>
          <a:p>
            <a:pPr>
              <a:lnSpc>
                <a:spcPts val="2000"/>
              </a:lnSpc>
              <a:spcAft>
                <a:spcPts val="600"/>
              </a:spcAft>
              <a:buSzPct val="100000"/>
            </a:pPr>
            <a:r>
              <a:rPr lang="pt-PT" sz="1000" dirty="0">
                <a:solidFill>
                  <a:srgbClr val="182A32"/>
                </a:solidFill>
                <a:latin typeface="Calibri" pitchFamily="34" charset="0"/>
                <a:ea typeface="Calibri" pitchFamily="34" charset="-122"/>
                <a:cs typeface="Calibri" pitchFamily="34" charset="-120"/>
              </a:rPr>
              <a:t>Fonte: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sp>
        <p:nvSpPr>
          <p:cNvPr id="55" name="TextBox 54">
            <a:extLst>
              <a:ext uri="{FF2B5EF4-FFF2-40B4-BE49-F238E27FC236}">
                <a16:creationId xmlns:a16="http://schemas.microsoft.com/office/drawing/2014/main" id="{13BC907A-4AA4-3A37-A17B-856CDFA12848}"/>
              </a:ext>
            </a:extLst>
          </p:cNvPr>
          <p:cNvSpPr txBox="1"/>
          <p:nvPr/>
        </p:nvSpPr>
        <p:spPr>
          <a:xfrm>
            <a:off x="1082851" y="2076649"/>
            <a:ext cx="2972956" cy="1754326"/>
          </a:xfrm>
          <a:prstGeom prst="rect">
            <a:avLst/>
          </a:prstGeom>
          <a:noFill/>
        </p:spPr>
        <p:txBody>
          <a:bodyPr wrap="square">
            <a:spAutoFit/>
          </a:bodyPr>
          <a:lstStyle/>
          <a:p>
            <a:pPr algn="ctr"/>
            <a:r>
              <a:rPr lang="en-BR" dirty="0"/>
              <a:t>Variações da </a:t>
            </a:r>
            <a:r>
              <a:rPr lang="en-BR" b="1" dirty="0"/>
              <a:t>espessura</a:t>
            </a:r>
            <a:r>
              <a:rPr lang="en-BR" dirty="0"/>
              <a:t> </a:t>
            </a:r>
            <a:r>
              <a:rPr lang="en-BR" b="1" dirty="0"/>
              <a:t>da camada-limite hidridinâmica </a:t>
            </a:r>
            <a:r>
              <a:rPr lang="en-BR" dirty="0"/>
              <a:t>(δ) e do </a:t>
            </a:r>
            <a:r>
              <a:rPr lang="en-BR" b="1" dirty="0"/>
              <a:t>coeficiente de transferência de calor </a:t>
            </a:r>
            <a:r>
              <a:rPr lang="en-BR" dirty="0"/>
              <a:t>(h) para o escoamento sobre uma placa plana isotérmica.</a:t>
            </a:r>
          </a:p>
        </p:txBody>
      </p:sp>
    </p:spTree>
    <p:extLst>
      <p:ext uri="{BB962C8B-B14F-4D97-AF65-F5344CB8AC3E}">
        <p14:creationId xmlns:p14="http://schemas.microsoft.com/office/powerpoint/2010/main" val="3968001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CAMADA LIMITE</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O regime de escoamento afeta h</a:t>
            </a:r>
            <a:endParaRPr lang="pt-PT" sz="3200" noProof="0" dirty="0"/>
          </a:p>
        </p:txBody>
      </p:sp>
      <p:sp>
        <p:nvSpPr>
          <p:cNvPr id="5" name="Shape 2"/>
          <p:cNvSpPr/>
          <p:nvPr/>
        </p:nvSpPr>
        <p:spPr>
          <a:xfrm>
            <a:off x="640080" y="1874520"/>
            <a:ext cx="5303520" cy="2743200"/>
          </a:xfrm>
          <a:prstGeom prst="roundRect">
            <a:avLst>
              <a:gd name="adj" fmla="val 3333"/>
            </a:avLst>
          </a:prstGeom>
          <a:solidFill>
            <a:srgbClr val="EEF4F6"/>
          </a:solidFill>
          <a:ln/>
        </p:spPr>
        <p:txBody>
          <a:bodyPr/>
          <a:lstStyle/>
          <a:p>
            <a:endParaRPr lang="pt-PT" noProof="0" dirty="0"/>
          </a:p>
        </p:txBody>
      </p:sp>
      <p:sp>
        <p:nvSpPr>
          <p:cNvPr id="6" name="Text 3"/>
          <p:cNvSpPr/>
          <p:nvPr/>
        </p:nvSpPr>
        <p:spPr>
          <a:xfrm>
            <a:off x="960120" y="2103120"/>
            <a:ext cx="4663440" cy="457200"/>
          </a:xfrm>
          <a:prstGeom prst="rect">
            <a:avLst/>
          </a:prstGeom>
          <a:noFill/>
          <a:ln/>
        </p:spPr>
        <p:txBody>
          <a:bodyPr wrap="square" rtlCol="0" anchor="ctr"/>
          <a:lstStyle/>
          <a:p>
            <a:pPr marL="0" indent="0">
              <a:buNone/>
            </a:pPr>
            <a:r>
              <a:rPr lang="pt-PT" sz="1700" b="1" noProof="0" dirty="0">
                <a:solidFill>
                  <a:srgbClr val="0B2545"/>
                </a:solidFill>
                <a:latin typeface="Cambria" pitchFamily="34" charset="0"/>
                <a:ea typeface="Cambria" pitchFamily="34" charset="-122"/>
                <a:cs typeface="Cambria" pitchFamily="34" charset="-120"/>
              </a:rPr>
              <a:t>Regime laminar</a:t>
            </a:r>
            <a:endParaRPr lang="pt-PT" sz="1700" noProof="0" dirty="0"/>
          </a:p>
        </p:txBody>
      </p:sp>
      <p:sp>
        <p:nvSpPr>
          <p:cNvPr id="7" name="Text 4"/>
          <p:cNvSpPr/>
          <p:nvPr/>
        </p:nvSpPr>
        <p:spPr>
          <a:xfrm>
            <a:off x="960120" y="2606040"/>
            <a:ext cx="4663440" cy="1280160"/>
          </a:xfrm>
          <a:prstGeom prst="rect">
            <a:avLst/>
          </a:prstGeom>
          <a:noFill/>
          <a:ln/>
        </p:spPr>
        <p:txBody>
          <a:bodyPr wrap="square" rtlCol="0" anchor="ctr"/>
          <a:lstStyle/>
          <a:p>
            <a:pPr marL="0" indent="0">
              <a:lnSpc>
                <a:spcPts val="1700"/>
              </a:lnSpc>
              <a:buNone/>
            </a:pPr>
            <a:r>
              <a:rPr lang="pt-PT" sz="1200" noProof="0" dirty="0">
                <a:solidFill>
                  <a:srgbClr val="182A32"/>
                </a:solidFill>
                <a:latin typeface="Calibri" pitchFamily="34" charset="0"/>
                <a:ea typeface="Calibri" pitchFamily="34" charset="-122"/>
                <a:cs typeface="Calibri" pitchFamily="34" charset="-120"/>
              </a:rPr>
              <a:t>Escoamento em camadas ordenadas. A transferência de calor na camada limite ocorre essencialmente por condução molecular.</a:t>
            </a:r>
            <a:endParaRPr lang="pt-PT" sz="1200" noProof="0" dirty="0"/>
          </a:p>
        </p:txBody>
      </p:sp>
      <p:sp>
        <p:nvSpPr>
          <p:cNvPr id="8" name="Shape 5"/>
          <p:cNvSpPr/>
          <p:nvPr/>
        </p:nvSpPr>
        <p:spPr>
          <a:xfrm>
            <a:off x="960120" y="3977640"/>
            <a:ext cx="1828800" cy="457200"/>
          </a:xfrm>
          <a:prstGeom prst="roundRect">
            <a:avLst>
              <a:gd name="adj" fmla="val 50000"/>
            </a:avLst>
          </a:prstGeom>
          <a:solidFill>
            <a:srgbClr val="1C7293"/>
          </a:solidFill>
          <a:ln/>
        </p:spPr>
        <p:txBody>
          <a:bodyPr/>
          <a:lstStyle/>
          <a:p>
            <a:endParaRPr lang="pt-PT" noProof="0" dirty="0"/>
          </a:p>
        </p:txBody>
      </p:sp>
      <p:sp>
        <p:nvSpPr>
          <p:cNvPr id="9" name="Text 6"/>
          <p:cNvSpPr/>
          <p:nvPr/>
        </p:nvSpPr>
        <p:spPr>
          <a:xfrm>
            <a:off x="960120" y="3977640"/>
            <a:ext cx="1828800" cy="457200"/>
          </a:xfrm>
          <a:prstGeom prst="rect">
            <a:avLst/>
          </a:prstGeom>
          <a:noFill/>
          <a:ln/>
        </p:spPr>
        <p:txBody>
          <a:bodyPr wrap="square" rtlCol="0" anchor="ctr"/>
          <a:lstStyle/>
          <a:p>
            <a:pPr marL="0" indent="0" algn="ctr">
              <a:buNone/>
            </a:pPr>
            <a:r>
              <a:rPr lang="pt-PT" sz="1200" b="1" noProof="0" dirty="0">
                <a:solidFill>
                  <a:srgbClr val="FFFFFF"/>
                </a:solidFill>
                <a:latin typeface="Calibri" pitchFamily="34" charset="0"/>
                <a:ea typeface="Calibri" pitchFamily="34" charset="-122"/>
                <a:cs typeface="Calibri" pitchFamily="34" charset="-120"/>
              </a:rPr>
              <a:t>h menor</a:t>
            </a:r>
            <a:endParaRPr lang="pt-PT" sz="1200" noProof="0" dirty="0"/>
          </a:p>
        </p:txBody>
      </p:sp>
      <p:sp>
        <p:nvSpPr>
          <p:cNvPr id="10" name="Shape 7"/>
          <p:cNvSpPr/>
          <p:nvPr/>
        </p:nvSpPr>
        <p:spPr>
          <a:xfrm>
            <a:off x="6263640" y="1874520"/>
            <a:ext cx="5303520" cy="2743200"/>
          </a:xfrm>
          <a:prstGeom prst="roundRect">
            <a:avLst>
              <a:gd name="adj" fmla="val 3333"/>
            </a:avLst>
          </a:prstGeom>
          <a:solidFill>
            <a:srgbClr val="EEF4F6"/>
          </a:solidFill>
          <a:ln/>
        </p:spPr>
        <p:txBody>
          <a:bodyPr/>
          <a:lstStyle/>
          <a:p>
            <a:endParaRPr lang="pt-PT" noProof="0" dirty="0"/>
          </a:p>
        </p:txBody>
      </p:sp>
      <p:sp>
        <p:nvSpPr>
          <p:cNvPr id="11" name="Text 8"/>
          <p:cNvSpPr/>
          <p:nvPr/>
        </p:nvSpPr>
        <p:spPr>
          <a:xfrm>
            <a:off x="6583680" y="2103120"/>
            <a:ext cx="4663440" cy="457200"/>
          </a:xfrm>
          <a:prstGeom prst="rect">
            <a:avLst/>
          </a:prstGeom>
          <a:noFill/>
          <a:ln/>
        </p:spPr>
        <p:txBody>
          <a:bodyPr wrap="square" rtlCol="0" anchor="ctr"/>
          <a:lstStyle/>
          <a:p>
            <a:pPr marL="0" indent="0">
              <a:buNone/>
            </a:pPr>
            <a:r>
              <a:rPr lang="pt-PT" sz="1700" b="1" noProof="0" dirty="0">
                <a:solidFill>
                  <a:srgbClr val="0B2545"/>
                </a:solidFill>
                <a:latin typeface="Cambria" pitchFamily="34" charset="0"/>
                <a:ea typeface="Cambria" pitchFamily="34" charset="-122"/>
                <a:cs typeface="Cambria" pitchFamily="34" charset="-120"/>
              </a:rPr>
              <a:t>Regime turbulento</a:t>
            </a:r>
            <a:endParaRPr lang="pt-PT" sz="1700" noProof="0" dirty="0"/>
          </a:p>
        </p:txBody>
      </p:sp>
      <p:sp>
        <p:nvSpPr>
          <p:cNvPr id="12" name="Text 9"/>
          <p:cNvSpPr/>
          <p:nvPr/>
        </p:nvSpPr>
        <p:spPr>
          <a:xfrm>
            <a:off x="6583680" y="2606040"/>
            <a:ext cx="4663440" cy="1280160"/>
          </a:xfrm>
          <a:prstGeom prst="rect">
            <a:avLst/>
          </a:prstGeom>
          <a:noFill/>
          <a:ln/>
        </p:spPr>
        <p:txBody>
          <a:bodyPr wrap="square" rtlCol="0" anchor="ctr"/>
          <a:lstStyle/>
          <a:p>
            <a:pPr marL="0" indent="0">
              <a:lnSpc>
                <a:spcPts val="1700"/>
              </a:lnSpc>
              <a:buNone/>
            </a:pPr>
            <a:r>
              <a:rPr lang="pt-PT" sz="1200" noProof="0" dirty="0">
                <a:solidFill>
                  <a:srgbClr val="182A32"/>
                </a:solidFill>
                <a:latin typeface="Calibri" pitchFamily="34" charset="0"/>
                <a:ea typeface="Calibri" pitchFamily="34" charset="-122"/>
                <a:cs typeface="Calibri" pitchFamily="34" charset="-120"/>
              </a:rPr>
              <a:t>Escoamento com flutuações e mistura intensa. A mistura turbulenta se soma à condução, intensificando o transporte de calor.</a:t>
            </a:r>
            <a:endParaRPr lang="pt-PT" sz="1200" noProof="0" dirty="0"/>
          </a:p>
        </p:txBody>
      </p:sp>
      <p:sp>
        <p:nvSpPr>
          <p:cNvPr id="13" name="Shape 10"/>
          <p:cNvSpPr/>
          <p:nvPr/>
        </p:nvSpPr>
        <p:spPr>
          <a:xfrm>
            <a:off x="6583680" y="3977640"/>
            <a:ext cx="1828800" cy="457200"/>
          </a:xfrm>
          <a:prstGeom prst="roundRect">
            <a:avLst>
              <a:gd name="adj" fmla="val 50000"/>
            </a:avLst>
          </a:prstGeom>
          <a:solidFill>
            <a:srgbClr val="E8602C"/>
          </a:solidFill>
          <a:ln/>
        </p:spPr>
        <p:txBody>
          <a:bodyPr/>
          <a:lstStyle/>
          <a:p>
            <a:endParaRPr lang="pt-PT" noProof="0" dirty="0"/>
          </a:p>
        </p:txBody>
      </p:sp>
      <p:sp>
        <p:nvSpPr>
          <p:cNvPr id="14" name="Text 11"/>
          <p:cNvSpPr/>
          <p:nvPr/>
        </p:nvSpPr>
        <p:spPr>
          <a:xfrm>
            <a:off x="6583680" y="3977640"/>
            <a:ext cx="1828800" cy="457200"/>
          </a:xfrm>
          <a:prstGeom prst="rect">
            <a:avLst/>
          </a:prstGeom>
          <a:noFill/>
          <a:ln/>
        </p:spPr>
        <p:txBody>
          <a:bodyPr wrap="square" rtlCol="0" anchor="ctr"/>
          <a:lstStyle/>
          <a:p>
            <a:pPr marL="0" indent="0" algn="ctr">
              <a:buNone/>
            </a:pPr>
            <a:r>
              <a:rPr lang="pt-PT" sz="1200" b="1" noProof="0" dirty="0">
                <a:solidFill>
                  <a:srgbClr val="FFFFFF"/>
                </a:solidFill>
                <a:latin typeface="Calibri" pitchFamily="34" charset="0"/>
                <a:ea typeface="Calibri" pitchFamily="34" charset="-122"/>
                <a:cs typeface="Calibri" pitchFamily="34" charset="-120"/>
              </a:rPr>
              <a:t>h maior</a:t>
            </a:r>
            <a:endParaRPr lang="pt-PT" sz="1200" noProof="0" dirty="0"/>
          </a:p>
        </p:txBody>
      </p:sp>
      <p:sp>
        <p:nvSpPr>
          <p:cNvPr id="15" name="Text 12"/>
          <p:cNvSpPr/>
          <p:nvPr/>
        </p:nvSpPr>
        <p:spPr>
          <a:xfrm>
            <a:off x="640080" y="4892040"/>
            <a:ext cx="10881360" cy="548640"/>
          </a:xfrm>
          <a:prstGeom prst="rect">
            <a:avLst/>
          </a:prstGeom>
          <a:noFill/>
          <a:ln/>
        </p:spPr>
        <p:txBody>
          <a:bodyPr wrap="square" rtlCol="0" anchor="ctr"/>
          <a:lstStyle/>
          <a:p>
            <a:pPr marL="0" indent="0">
              <a:buNone/>
            </a:pPr>
            <a:r>
              <a:rPr lang="pt-PT" sz="1150" i="1" noProof="0" dirty="0">
                <a:solidFill>
                  <a:srgbClr val="57707A"/>
                </a:solidFill>
                <a:latin typeface="Calibri" pitchFamily="34" charset="0"/>
                <a:ea typeface="Calibri" pitchFamily="34" charset="-122"/>
                <a:cs typeface="Calibri" pitchFamily="34" charset="-120"/>
              </a:rPr>
              <a:t>Regime definido pelo número de Reynolds — o mesmo conceito já visto para escoamento em tubos, aqui aplicado à camada limite sobre a superfície.</a:t>
            </a:r>
            <a:endParaRPr lang="pt-PT" sz="1150" noProof="0" dirty="0"/>
          </a:p>
        </p:txBody>
      </p:sp>
      <p:sp>
        <p:nvSpPr>
          <p:cNvPr id="16" name="Text 13"/>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17" name="Text 14"/>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3 · Camada limite</a:t>
            </a:r>
            <a:endParaRPr lang="pt-PT" sz="950" noProof="0" dirty="0"/>
          </a:p>
        </p:txBody>
      </p:sp>
      <p:sp>
        <p:nvSpPr>
          <p:cNvPr id="18" name="Text 15"/>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10</a:t>
            </a:r>
            <a:endParaRPr lang="pt-PT" sz="950" noProof="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CLASSIFICAÇÃO</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Convecção </a:t>
            </a:r>
            <a:r>
              <a:rPr lang="pt-PT" sz="3200" b="1" noProof="0" dirty="0">
                <a:solidFill>
                  <a:schemeClr val="accent2"/>
                </a:solidFill>
                <a:latin typeface="Cambria" pitchFamily="34" charset="0"/>
                <a:ea typeface="Cambria" pitchFamily="34" charset="-122"/>
                <a:cs typeface="Cambria" pitchFamily="34" charset="-120"/>
              </a:rPr>
              <a:t>forçada</a:t>
            </a:r>
            <a:r>
              <a:rPr lang="pt-PT" sz="3200" b="1" noProof="0" dirty="0">
                <a:solidFill>
                  <a:srgbClr val="0B2545"/>
                </a:solidFill>
                <a:latin typeface="Cambria" pitchFamily="34" charset="0"/>
                <a:ea typeface="Cambria" pitchFamily="34" charset="-122"/>
                <a:cs typeface="Cambria" pitchFamily="34" charset="-120"/>
              </a:rPr>
              <a:t> x Convecção </a:t>
            </a:r>
            <a:r>
              <a:rPr lang="pt-PT" sz="3200" b="1" noProof="0" dirty="0">
                <a:solidFill>
                  <a:schemeClr val="accent2"/>
                </a:solidFill>
                <a:latin typeface="Cambria" pitchFamily="34" charset="0"/>
                <a:ea typeface="Cambria" pitchFamily="34" charset="-122"/>
                <a:cs typeface="Cambria" pitchFamily="34" charset="-120"/>
              </a:rPr>
              <a:t>natural</a:t>
            </a:r>
            <a:r>
              <a:rPr lang="pt-PT" sz="3200" b="1" dirty="0">
                <a:solidFill>
                  <a:srgbClr val="0B2545"/>
                </a:solidFill>
                <a:latin typeface="Cambria" pitchFamily="34" charset="0"/>
              </a:rPr>
              <a:t>: natureza do escoamento do fluido</a:t>
            </a:r>
          </a:p>
        </p:txBody>
      </p:sp>
      <p:sp>
        <p:nvSpPr>
          <p:cNvPr id="5" name="Shape 2"/>
          <p:cNvSpPr/>
          <p:nvPr/>
        </p:nvSpPr>
        <p:spPr>
          <a:xfrm>
            <a:off x="640080" y="1828800"/>
            <a:ext cx="5303520" cy="4023360"/>
          </a:xfrm>
          <a:prstGeom prst="roundRect">
            <a:avLst>
              <a:gd name="adj" fmla="val 2273"/>
            </a:avLst>
          </a:prstGeom>
          <a:solidFill>
            <a:srgbClr val="EEF4F6"/>
          </a:solidFill>
          <a:ln/>
        </p:spPr>
        <p:txBody>
          <a:bodyPr/>
          <a:lstStyle/>
          <a:p>
            <a:endParaRPr lang="pt-PT" noProof="0" dirty="0"/>
          </a:p>
        </p:txBody>
      </p:sp>
      <p:sp>
        <p:nvSpPr>
          <p:cNvPr id="10" name="Shape 7"/>
          <p:cNvSpPr/>
          <p:nvPr/>
        </p:nvSpPr>
        <p:spPr>
          <a:xfrm>
            <a:off x="6263640" y="1828800"/>
            <a:ext cx="5303520" cy="4023360"/>
          </a:xfrm>
          <a:prstGeom prst="roundRect">
            <a:avLst>
              <a:gd name="adj" fmla="val 2273"/>
            </a:avLst>
          </a:prstGeom>
          <a:solidFill>
            <a:srgbClr val="EEF4F6"/>
          </a:solidFill>
          <a:ln/>
        </p:spPr>
        <p:txBody>
          <a:bodyPr/>
          <a:lstStyle/>
          <a:p>
            <a:endParaRPr lang="pt-PT" noProof="0" dirty="0"/>
          </a:p>
        </p:txBody>
      </p:sp>
      <p:sp>
        <p:nvSpPr>
          <p:cNvPr id="11" name="Text 8"/>
          <p:cNvSpPr/>
          <p:nvPr/>
        </p:nvSpPr>
        <p:spPr>
          <a:xfrm>
            <a:off x="949796" y="1982437"/>
            <a:ext cx="4663440" cy="502920"/>
          </a:xfrm>
          <a:prstGeom prst="rect">
            <a:avLst/>
          </a:prstGeom>
          <a:noFill/>
          <a:ln/>
        </p:spPr>
        <p:txBody>
          <a:bodyPr wrap="square" rtlCol="0" anchor="ctr"/>
          <a:lstStyle/>
          <a:p>
            <a:pPr marL="0" indent="0">
              <a:buNone/>
            </a:pPr>
            <a:r>
              <a:rPr lang="pt-PT" sz="1900" b="1" noProof="0" dirty="0">
                <a:solidFill>
                  <a:srgbClr val="065A82"/>
                </a:solidFill>
                <a:latin typeface="Cambria" pitchFamily="34" charset="0"/>
                <a:ea typeface="Cambria" pitchFamily="34" charset="-122"/>
                <a:cs typeface="Cambria" pitchFamily="34" charset="-120"/>
              </a:rPr>
              <a:t>Convecção forçada</a:t>
            </a:r>
            <a:endParaRPr lang="pt-PT" sz="1900" noProof="0" dirty="0"/>
          </a:p>
        </p:txBody>
      </p:sp>
      <p:sp>
        <p:nvSpPr>
          <p:cNvPr id="12" name="Text 9"/>
          <p:cNvSpPr/>
          <p:nvPr/>
        </p:nvSpPr>
        <p:spPr>
          <a:xfrm>
            <a:off x="949796" y="2483809"/>
            <a:ext cx="4663440" cy="1371600"/>
          </a:xfrm>
          <a:prstGeom prst="rect">
            <a:avLst/>
          </a:prstGeom>
          <a:noFill/>
          <a:ln/>
        </p:spPr>
        <p:txBody>
          <a:bodyPr wrap="square" rtlCol="0" anchor="ctr"/>
          <a:lstStyle/>
          <a:p>
            <a:pPr marL="0" indent="0">
              <a:lnSpc>
                <a:spcPts val="1800"/>
              </a:lnSpc>
              <a:buNone/>
            </a:pPr>
            <a:r>
              <a:rPr lang="pt-PT" sz="1600" noProof="0" dirty="0">
                <a:solidFill>
                  <a:srgbClr val="182A32"/>
                </a:solidFill>
                <a:latin typeface="Calibri" pitchFamily="34" charset="0"/>
                <a:ea typeface="Calibri" pitchFamily="34" charset="-122"/>
                <a:cs typeface="Calibri" pitchFamily="34" charset="-120"/>
              </a:rPr>
              <a:t>O movimento do fluido é imposto por um </a:t>
            </a:r>
            <a:r>
              <a:rPr lang="pt-PT" sz="1600" b="1" noProof="0" dirty="0">
                <a:solidFill>
                  <a:srgbClr val="182A32"/>
                </a:solidFill>
                <a:latin typeface="Calibri" pitchFamily="34" charset="0"/>
                <a:ea typeface="Calibri" pitchFamily="34" charset="-122"/>
                <a:cs typeface="Calibri" pitchFamily="34" charset="-120"/>
              </a:rPr>
              <a:t>agente externo</a:t>
            </a:r>
            <a:r>
              <a:rPr lang="pt-PT" sz="1600" noProof="0" dirty="0">
                <a:solidFill>
                  <a:srgbClr val="182A32"/>
                </a:solidFill>
                <a:latin typeface="Calibri" pitchFamily="34" charset="0"/>
                <a:ea typeface="Calibri" pitchFamily="34" charset="-122"/>
                <a:cs typeface="Calibri" pitchFamily="34" charset="-120"/>
              </a:rPr>
              <a:t> — bomba, ventilador, compressor, ventos atmosféricos.</a:t>
            </a:r>
            <a:endParaRPr lang="pt-PT" sz="1600" noProof="0" dirty="0"/>
          </a:p>
        </p:txBody>
      </p:sp>
      <p:sp>
        <p:nvSpPr>
          <p:cNvPr id="14" name="Text 11"/>
          <p:cNvSpPr/>
          <p:nvPr/>
        </p:nvSpPr>
        <p:spPr>
          <a:xfrm>
            <a:off x="934556" y="5144288"/>
            <a:ext cx="4663440" cy="441962"/>
          </a:xfrm>
          <a:prstGeom prst="rect">
            <a:avLst/>
          </a:prstGeom>
          <a:noFill/>
          <a:ln/>
        </p:spPr>
        <p:txBody>
          <a:bodyPr wrap="square" rtlCol="0" anchor="ctr"/>
          <a:lstStyle/>
          <a:p>
            <a:pPr marL="0" indent="0">
              <a:lnSpc>
                <a:spcPts val="1600"/>
              </a:lnSpc>
              <a:buNone/>
            </a:pPr>
            <a:r>
              <a:rPr lang="pt-PT" sz="1400" i="1" noProof="0" dirty="0">
                <a:solidFill>
                  <a:srgbClr val="57707A"/>
                </a:solidFill>
                <a:latin typeface="Calibri" pitchFamily="34" charset="0"/>
                <a:ea typeface="Calibri" pitchFamily="34" charset="-122"/>
                <a:cs typeface="Calibri" pitchFamily="34" charset="-120"/>
              </a:rPr>
              <a:t>Ex.: ventilador de uma torre de resfriamento; vento soprando sobre um rio.</a:t>
            </a:r>
            <a:endParaRPr lang="pt-PT" sz="1400" noProof="0" dirty="0"/>
          </a:p>
        </p:txBody>
      </p:sp>
      <p:sp>
        <p:nvSpPr>
          <p:cNvPr id="15" name="Text 12"/>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16" name="Text 13"/>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2 · Mecanismos</a:t>
            </a:r>
            <a:endParaRPr lang="pt-PT" sz="950" noProof="0" dirty="0"/>
          </a:p>
        </p:txBody>
      </p:sp>
      <p:sp>
        <p:nvSpPr>
          <p:cNvPr id="17" name="Text 14"/>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11</a:t>
            </a:r>
            <a:endParaRPr lang="pt-PT" sz="950" noProof="0" dirty="0"/>
          </a:p>
        </p:txBody>
      </p:sp>
      <p:pic>
        <p:nvPicPr>
          <p:cNvPr id="18" name="Picture 17" descr="A pink arrow pointing up&#10;&#10;AI-generated content may be incorrect.">
            <a:extLst>
              <a:ext uri="{FF2B5EF4-FFF2-40B4-BE49-F238E27FC236}">
                <a16:creationId xmlns:a16="http://schemas.microsoft.com/office/drawing/2014/main" id="{B797792B-1698-1C9D-6524-CBB5708823B2}"/>
              </a:ext>
            </a:extLst>
          </p:cNvPr>
          <p:cNvPicPr>
            <a:picLocks noChangeAspect="1"/>
          </p:cNvPicPr>
          <p:nvPr/>
        </p:nvPicPr>
        <p:blipFill>
          <a:blip r:embed="rId3"/>
          <a:stretch>
            <a:fillRect/>
          </a:stretch>
        </p:blipFill>
        <p:spPr>
          <a:xfrm>
            <a:off x="1527390" y="3742209"/>
            <a:ext cx="3477771" cy="1280161"/>
          </a:xfrm>
          <a:prstGeom prst="rect">
            <a:avLst/>
          </a:prstGeom>
        </p:spPr>
      </p:pic>
      <p:sp>
        <p:nvSpPr>
          <p:cNvPr id="21" name="TextBox 20">
            <a:extLst>
              <a:ext uri="{FF2B5EF4-FFF2-40B4-BE49-F238E27FC236}">
                <a16:creationId xmlns:a16="http://schemas.microsoft.com/office/drawing/2014/main" id="{8D4645D7-3863-5C07-B69A-AA630037FAD0}"/>
              </a:ext>
            </a:extLst>
          </p:cNvPr>
          <p:cNvSpPr txBox="1"/>
          <p:nvPr/>
        </p:nvSpPr>
        <p:spPr>
          <a:xfrm>
            <a:off x="457200" y="6032496"/>
            <a:ext cx="10716323" cy="318549"/>
          </a:xfrm>
          <a:prstGeom prst="rect">
            <a:avLst/>
          </a:prstGeom>
          <a:noFill/>
        </p:spPr>
        <p:txBody>
          <a:bodyPr wrap="square">
            <a:spAutoFit/>
          </a:bodyPr>
          <a:lstStyle/>
          <a:p>
            <a:pPr>
              <a:lnSpc>
                <a:spcPts val="2000"/>
              </a:lnSpc>
              <a:spcAft>
                <a:spcPts val="600"/>
              </a:spcAft>
              <a:buSzPct val="100000"/>
            </a:pPr>
            <a:r>
              <a:rPr lang="pt-PT" sz="1000" dirty="0">
                <a:solidFill>
                  <a:srgbClr val="182A32"/>
                </a:solidFill>
                <a:latin typeface="Calibri" pitchFamily="34" charset="0"/>
                <a:ea typeface="Calibri" pitchFamily="34" charset="-122"/>
                <a:cs typeface="Calibri" pitchFamily="34" charset="-120"/>
              </a:rPr>
              <a:t>Fonte: INCROPERA, F. P. Fundamentos de transferência de calor e de massa. 8. ed. Rio de Janeiro: LTC, 2019.</a:t>
            </a:r>
            <a:endParaRPr lang="pt-PT" sz="1000" noProof="0" dirty="0">
              <a:solidFill>
                <a:srgbClr val="182A32"/>
              </a:solidFill>
              <a:latin typeface="Calibri" pitchFamily="34" charset="0"/>
              <a:ea typeface="Calibri" pitchFamily="34" charset="-122"/>
              <a:cs typeface="Calibri" pitchFamily="34" charset="-120"/>
            </a:endParaRPr>
          </a:p>
        </p:txBody>
      </p:sp>
      <p:sp>
        <p:nvSpPr>
          <p:cNvPr id="6" name="Text 3"/>
          <p:cNvSpPr/>
          <p:nvPr/>
        </p:nvSpPr>
        <p:spPr>
          <a:xfrm>
            <a:off x="6578764" y="1980889"/>
            <a:ext cx="4663440" cy="502920"/>
          </a:xfrm>
          <a:prstGeom prst="rect">
            <a:avLst/>
          </a:prstGeom>
          <a:noFill/>
          <a:ln/>
        </p:spPr>
        <p:txBody>
          <a:bodyPr wrap="square" rtlCol="0" anchor="ctr"/>
          <a:lstStyle/>
          <a:p>
            <a:pPr marL="0" indent="0">
              <a:buNone/>
            </a:pPr>
            <a:r>
              <a:rPr lang="pt-PT" sz="1900" b="1" noProof="0" dirty="0">
                <a:solidFill>
                  <a:srgbClr val="1C7293"/>
                </a:solidFill>
                <a:latin typeface="Cambria" pitchFamily="34" charset="0"/>
                <a:ea typeface="Cambria" pitchFamily="34" charset="-122"/>
                <a:cs typeface="Cambria" pitchFamily="34" charset="-120"/>
              </a:rPr>
              <a:t>Convecção natural</a:t>
            </a:r>
            <a:endParaRPr lang="pt-PT" sz="1900" noProof="0" dirty="0"/>
          </a:p>
        </p:txBody>
      </p:sp>
      <p:sp>
        <p:nvSpPr>
          <p:cNvPr id="7" name="Text 4"/>
          <p:cNvSpPr/>
          <p:nvPr/>
        </p:nvSpPr>
        <p:spPr>
          <a:xfrm>
            <a:off x="6578764" y="2482261"/>
            <a:ext cx="4663440" cy="1371600"/>
          </a:xfrm>
          <a:prstGeom prst="rect">
            <a:avLst/>
          </a:prstGeom>
          <a:noFill/>
          <a:ln/>
        </p:spPr>
        <p:txBody>
          <a:bodyPr wrap="square" rtlCol="0" anchor="ctr"/>
          <a:lstStyle/>
          <a:p>
            <a:pPr>
              <a:lnSpc>
                <a:spcPts val="1800"/>
              </a:lnSpc>
            </a:pPr>
            <a:r>
              <a:rPr lang="pt-PT" sz="1600" noProof="0" dirty="0">
                <a:solidFill>
                  <a:srgbClr val="182A32"/>
                </a:solidFill>
                <a:latin typeface="Calibri" pitchFamily="34" charset="0"/>
                <a:ea typeface="Calibri" pitchFamily="34" charset="-122"/>
                <a:cs typeface="Calibri" pitchFamily="34" charset="-120"/>
              </a:rPr>
              <a:t>O movimento do </a:t>
            </a:r>
            <a:r>
              <a:rPr lang="pt-PT" sz="1600" dirty="0">
                <a:solidFill>
                  <a:srgbClr val="182A32"/>
                </a:solidFill>
                <a:latin typeface="Calibri" pitchFamily="34" charset="0"/>
                <a:ea typeface="Calibri" pitchFamily="34" charset="-122"/>
                <a:cs typeface="Calibri" pitchFamily="34" charset="-120"/>
              </a:rPr>
              <a:t>fluido é induzido por forças de empuxo, que são originadas a partir de</a:t>
            </a:r>
            <a:r>
              <a:rPr lang="pt-PT" sz="1600" b="1" dirty="0">
                <a:solidFill>
                  <a:srgbClr val="182A32"/>
                </a:solidFill>
                <a:latin typeface="Calibri" pitchFamily="34" charset="0"/>
                <a:ea typeface="Calibri" pitchFamily="34" charset="-122"/>
                <a:cs typeface="Calibri" pitchFamily="34" charset="-120"/>
              </a:rPr>
              <a:t> diferenças de massas específicas</a:t>
            </a:r>
            <a:r>
              <a:rPr lang="pt-PT" sz="1600" dirty="0">
                <a:solidFill>
                  <a:srgbClr val="182A32"/>
                </a:solidFill>
                <a:latin typeface="Calibri" pitchFamily="34" charset="0"/>
                <a:ea typeface="Calibri" pitchFamily="34" charset="-122"/>
                <a:cs typeface="Calibri" pitchFamily="34" charset="-120"/>
              </a:rPr>
              <a:t> causadas por </a:t>
            </a:r>
            <a:r>
              <a:rPr lang="pt-PT" sz="1600" b="1" dirty="0">
                <a:solidFill>
                  <a:srgbClr val="182A32"/>
                </a:solidFill>
                <a:latin typeface="Calibri" pitchFamily="34" charset="0"/>
                <a:ea typeface="Calibri" pitchFamily="34" charset="-122"/>
                <a:cs typeface="Calibri" pitchFamily="34" charset="-120"/>
              </a:rPr>
              <a:t>variações de temperatura</a:t>
            </a:r>
            <a:r>
              <a:rPr lang="pt-PT" sz="1600" dirty="0">
                <a:solidFill>
                  <a:srgbClr val="182A32"/>
                </a:solidFill>
                <a:latin typeface="Calibri" pitchFamily="34" charset="0"/>
                <a:ea typeface="Calibri" pitchFamily="34" charset="-122"/>
                <a:cs typeface="Calibri" pitchFamily="34" charset="-120"/>
              </a:rPr>
              <a:t> no fluido</a:t>
            </a:r>
            <a:endParaRPr lang="pt-PT" sz="1600" noProof="0" dirty="0"/>
          </a:p>
        </p:txBody>
      </p:sp>
      <p:sp>
        <p:nvSpPr>
          <p:cNvPr id="9" name="Text 6"/>
          <p:cNvSpPr/>
          <p:nvPr/>
        </p:nvSpPr>
        <p:spPr>
          <a:xfrm>
            <a:off x="6578764" y="5226113"/>
            <a:ext cx="4663440" cy="275216"/>
          </a:xfrm>
          <a:prstGeom prst="rect">
            <a:avLst/>
          </a:prstGeom>
          <a:noFill/>
          <a:ln/>
        </p:spPr>
        <p:txBody>
          <a:bodyPr wrap="square" rtlCol="0" anchor="ctr"/>
          <a:lstStyle/>
          <a:p>
            <a:pPr marL="0" indent="0">
              <a:lnSpc>
                <a:spcPts val="1600"/>
              </a:lnSpc>
              <a:buNone/>
            </a:pPr>
            <a:r>
              <a:rPr lang="pt-PT" sz="1400" i="1" noProof="0" dirty="0">
                <a:solidFill>
                  <a:srgbClr val="57707A"/>
                </a:solidFill>
                <a:latin typeface="Calibri" pitchFamily="34" charset="0"/>
                <a:ea typeface="Calibri" pitchFamily="34" charset="-122"/>
                <a:cs typeface="Calibri" pitchFamily="34" charset="-120"/>
              </a:rPr>
              <a:t>Ex.: ar quente subindo de uma superfície aquecida; estratificação térmica em um lago.</a:t>
            </a:r>
            <a:endParaRPr lang="pt-PT" sz="1400" noProof="0" dirty="0"/>
          </a:p>
        </p:txBody>
      </p:sp>
      <p:pic>
        <p:nvPicPr>
          <p:cNvPr id="20" name="Picture 19" descr="A pink arrows pointing upwards&#10;&#10;AI-generated content may be incorrect.">
            <a:extLst>
              <a:ext uri="{FF2B5EF4-FFF2-40B4-BE49-F238E27FC236}">
                <a16:creationId xmlns:a16="http://schemas.microsoft.com/office/drawing/2014/main" id="{11458FB7-FD19-931D-F31F-1DC0EDC8B847}"/>
              </a:ext>
            </a:extLst>
          </p:cNvPr>
          <p:cNvPicPr>
            <a:picLocks noChangeAspect="1"/>
          </p:cNvPicPr>
          <p:nvPr/>
        </p:nvPicPr>
        <p:blipFill>
          <a:blip r:embed="rId4"/>
          <a:stretch>
            <a:fillRect/>
          </a:stretch>
        </p:blipFill>
        <p:spPr>
          <a:xfrm>
            <a:off x="6841654" y="3740661"/>
            <a:ext cx="3467100" cy="1295400"/>
          </a:xfrm>
          <a:prstGeom prst="rect">
            <a:avLst/>
          </a:prstGeom>
        </p:spPr>
      </p:pic>
    </p:spTree>
    <p:extLst>
      <p:ext uri="{BB962C8B-B14F-4D97-AF65-F5344CB8AC3E}">
        <p14:creationId xmlns:p14="http://schemas.microsoft.com/office/powerpoint/2010/main" val="36560141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APLICAÇÕES AMBIENTAIS</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Convecção </a:t>
            </a:r>
            <a:r>
              <a:rPr lang="pt-PT" sz="3200" b="1" noProof="0" dirty="0">
                <a:solidFill>
                  <a:schemeClr val="accent2"/>
                </a:solidFill>
                <a:latin typeface="Cambria" pitchFamily="34" charset="0"/>
                <a:ea typeface="Cambria" pitchFamily="34" charset="-122"/>
                <a:cs typeface="Cambria" pitchFamily="34" charset="-120"/>
              </a:rPr>
              <a:t>natural</a:t>
            </a:r>
            <a:r>
              <a:rPr lang="pt-PT" sz="3200" b="1" noProof="0" dirty="0">
                <a:solidFill>
                  <a:srgbClr val="0B2545"/>
                </a:solidFill>
                <a:latin typeface="Cambria" pitchFamily="34" charset="0"/>
                <a:ea typeface="Cambria" pitchFamily="34" charset="-122"/>
                <a:cs typeface="Cambria" pitchFamily="34" charset="-120"/>
              </a:rPr>
              <a:t> no dia a dia ambiental</a:t>
            </a:r>
            <a:endParaRPr lang="pt-PT" sz="3200" noProof="0" dirty="0"/>
          </a:p>
        </p:txBody>
      </p:sp>
      <p:sp>
        <p:nvSpPr>
          <p:cNvPr id="5" name="Shape 2"/>
          <p:cNvSpPr/>
          <p:nvPr/>
        </p:nvSpPr>
        <p:spPr>
          <a:xfrm>
            <a:off x="640080" y="1874520"/>
            <a:ext cx="10881360" cy="1207008"/>
          </a:xfrm>
          <a:prstGeom prst="roundRect">
            <a:avLst>
              <a:gd name="adj" fmla="val 6818"/>
            </a:avLst>
          </a:prstGeom>
          <a:solidFill>
            <a:srgbClr val="EEF4F6"/>
          </a:solidFill>
          <a:ln/>
        </p:spPr>
        <p:txBody>
          <a:bodyPr/>
          <a:lstStyle/>
          <a:p>
            <a:endParaRPr lang="pt-PT" noProof="0" dirty="0"/>
          </a:p>
        </p:txBody>
      </p:sp>
      <p:sp>
        <p:nvSpPr>
          <p:cNvPr id="6" name="Shape 3"/>
          <p:cNvSpPr/>
          <p:nvPr/>
        </p:nvSpPr>
        <p:spPr>
          <a:xfrm>
            <a:off x="914400" y="2203704"/>
            <a:ext cx="548640" cy="548640"/>
          </a:xfrm>
          <a:prstGeom prst="ellipse">
            <a:avLst/>
          </a:prstGeom>
          <a:solidFill>
            <a:srgbClr val="1C7293"/>
          </a:solidFill>
          <a:ln/>
        </p:spPr>
        <p:txBody>
          <a:bodyPr/>
          <a:lstStyle/>
          <a:p>
            <a:endParaRPr lang="pt-PT" noProof="0" dirty="0"/>
          </a:p>
        </p:txBody>
      </p:sp>
      <p:sp>
        <p:nvSpPr>
          <p:cNvPr id="7" name="Text 4"/>
          <p:cNvSpPr/>
          <p:nvPr/>
        </p:nvSpPr>
        <p:spPr>
          <a:xfrm>
            <a:off x="914400" y="2203704"/>
            <a:ext cx="548640" cy="548640"/>
          </a:xfrm>
          <a:prstGeom prst="rect">
            <a:avLst/>
          </a:prstGeom>
          <a:noFill/>
          <a:ln/>
        </p:spPr>
        <p:txBody>
          <a:bodyPr wrap="square" rtlCol="0" anchor="ctr"/>
          <a:lstStyle/>
          <a:p>
            <a:pPr marL="0" indent="0" algn="ctr">
              <a:buNone/>
            </a:pPr>
            <a:r>
              <a:rPr lang="pt-PT" sz="1600" b="1" noProof="0" dirty="0">
                <a:solidFill>
                  <a:srgbClr val="FFFFFF"/>
                </a:solidFill>
                <a:latin typeface="Calibri" pitchFamily="34" charset="0"/>
                <a:ea typeface="Calibri" pitchFamily="34" charset="-122"/>
                <a:cs typeface="Calibri" pitchFamily="34" charset="-120"/>
              </a:rPr>
              <a:t>1</a:t>
            </a:r>
            <a:endParaRPr lang="pt-PT" sz="1600" noProof="0" dirty="0"/>
          </a:p>
        </p:txBody>
      </p:sp>
      <p:sp>
        <p:nvSpPr>
          <p:cNvPr id="8" name="Text 5"/>
          <p:cNvSpPr/>
          <p:nvPr/>
        </p:nvSpPr>
        <p:spPr>
          <a:xfrm>
            <a:off x="1691640" y="2002536"/>
            <a:ext cx="4206240" cy="914400"/>
          </a:xfrm>
          <a:prstGeom prst="rect">
            <a:avLst/>
          </a:prstGeom>
          <a:noFill/>
          <a:ln/>
        </p:spPr>
        <p:txBody>
          <a:bodyPr wrap="square" rtlCol="0" anchor="ctr"/>
          <a:lstStyle/>
          <a:p>
            <a:pPr marL="0" indent="0">
              <a:buNone/>
            </a:pPr>
            <a:r>
              <a:rPr lang="pt-PT" sz="1400" b="1" noProof="0" dirty="0">
                <a:solidFill>
                  <a:srgbClr val="0B2545"/>
                </a:solidFill>
                <a:latin typeface="Calibri" pitchFamily="34" charset="0"/>
                <a:ea typeface="Calibri" pitchFamily="34" charset="-122"/>
                <a:cs typeface="Calibri" pitchFamily="34" charset="-120"/>
              </a:rPr>
              <a:t>Estratificação térmica em lagos</a:t>
            </a:r>
            <a:endParaRPr lang="pt-PT" sz="1400" noProof="0" dirty="0"/>
          </a:p>
        </p:txBody>
      </p:sp>
      <p:sp>
        <p:nvSpPr>
          <p:cNvPr id="9" name="Text 6"/>
          <p:cNvSpPr/>
          <p:nvPr/>
        </p:nvSpPr>
        <p:spPr>
          <a:xfrm>
            <a:off x="6035040" y="1984248"/>
            <a:ext cx="5257800" cy="987552"/>
          </a:xfrm>
          <a:prstGeom prst="rect">
            <a:avLst/>
          </a:prstGeom>
          <a:noFill/>
          <a:ln/>
        </p:spPr>
        <p:txBody>
          <a:bodyPr wrap="square" rtlCol="0" anchor="ctr"/>
          <a:lstStyle/>
          <a:p>
            <a:pPr marL="0" indent="0">
              <a:lnSpc>
                <a:spcPts val="1500"/>
              </a:lnSpc>
              <a:buNone/>
            </a:pPr>
            <a:r>
              <a:rPr lang="pt-PT" sz="1200" noProof="0" dirty="0">
                <a:solidFill>
                  <a:srgbClr val="182A32"/>
                </a:solidFill>
                <a:latin typeface="Calibri" pitchFamily="34" charset="0"/>
                <a:ea typeface="Calibri" pitchFamily="34" charset="-122"/>
                <a:cs typeface="Calibri" pitchFamily="34" charset="-120"/>
              </a:rPr>
              <a:t>Diferenças de densidade por temperatura criam camadas (</a:t>
            </a:r>
            <a:r>
              <a:rPr lang="pt-PT" sz="1200" noProof="0" dirty="0" err="1">
                <a:solidFill>
                  <a:srgbClr val="182A32"/>
                </a:solidFill>
                <a:latin typeface="Calibri" pitchFamily="34" charset="0"/>
                <a:ea typeface="Calibri" pitchFamily="34" charset="-122"/>
                <a:cs typeface="Calibri" pitchFamily="34" charset="-120"/>
              </a:rPr>
              <a:t>epilímnio</a:t>
            </a:r>
            <a:r>
              <a:rPr lang="pt-PT" sz="1200" noProof="0" dirty="0">
                <a:solidFill>
                  <a:srgbClr val="182A32"/>
                </a:solidFill>
                <a:latin typeface="Calibri" pitchFamily="34" charset="0"/>
                <a:ea typeface="Calibri" pitchFamily="34" charset="-122"/>
                <a:cs typeface="Calibri" pitchFamily="34" charset="-120"/>
              </a:rPr>
              <a:t>/</a:t>
            </a:r>
            <a:r>
              <a:rPr lang="pt-PT" sz="1200" noProof="0" dirty="0" err="1">
                <a:solidFill>
                  <a:srgbClr val="182A32"/>
                </a:solidFill>
                <a:latin typeface="Calibri" pitchFamily="34" charset="0"/>
                <a:ea typeface="Calibri" pitchFamily="34" charset="-122"/>
                <a:cs typeface="Calibri" pitchFamily="34" charset="-120"/>
              </a:rPr>
              <a:t>hipolímnio</a:t>
            </a:r>
            <a:r>
              <a:rPr lang="pt-PT" sz="1200" noProof="0" dirty="0">
                <a:solidFill>
                  <a:srgbClr val="182A32"/>
                </a:solidFill>
                <a:latin typeface="Calibri" pitchFamily="34" charset="0"/>
                <a:ea typeface="Calibri" pitchFamily="34" charset="-122"/>
                <a:cs typeface="Calibri" pitchFamily="34" charset="-120"/>
              </a:rPr>
              <a:t>), afetando oxigênio dissolvido e qualidade da água.</a:t>
            </a:r>
            <a:endParaRPr lang="pt-PT" sz="1200" noProof="0" dirty="0"/>
          </a:p>
        </p:txBody>
      </p:sp>
      <p:sp>
        <p:nvSpPr>
          <p:cNvPr id="10" name="Shape 7"/>
          <p:cNvSpPr/>
          <p:nvPr/>
        </p:nvSpPr>
        <p:spPr>
          <a:xfrm>
            <a:off x="640080" y="3291840"/>
            <a:ext cx="10881360" cy="1207008"/>
          </a:xfrm>
          <a:prstGeom prst="roundRect">
            <a:avLst>
              <a:gd name="adj" fmla="val 6818"/>
            </a:avLst>
          </a:prstGeom>
          <a:solidFill>
            <a:srgbClr val="EEF4F6"/>
          </a:solidFill>
          <a:ln/>
        </p:spPr>
        <p:txBody>
          <a:bodyPr/>
          <a:lstStyle/>
          <a:p>
            <a:endParaRPr lang="pt-PT" noProof="0" dirty="0"/>
          </a:p>
        </p:txBody>
      </p:sp>
      <p:sp>
        <p:nvSpPr>
          <p:cNvPr id="11" name="Shape 8"/>
          <p:cNvSpPr/>
          <p:nvPr/>
        </p:nvSpPr>
        <p:spPr>
          <a:xfrm>
            <a:off x="914400" y="3621024"/>
            <a:ext cx="548640" cy="548640"/>
          </a:xfrm>
          <a:prstGeom prst="ellipse">
            <a:avLst/>
          </a:prstGeom>
          <a:solidFill>
            <a:srgbClr val="1C7293"/>
          </a:solidFill>
          <a:ln/>
        </p:spPr>
        <p:txBody>
          <a:bodyPr/>
          <a:lstStyle/>
          <a:p>
            <a:endParaRPr lang="pt-PT" noProof="0" dirty="0"/>
          </a:p>
        </p:txBody>
      </p:sp>
      <p:sp>
        <p:nvSpPr>
          <p:cNvPr id="12" name="Text 9"/>
          <p:cNvSpPr/>
          <p:nvPr/>
        </p:nvSpPr>
        <p:spPr>
          <a:xfrm>
            <a:off x="914400" y="3621024"/>
            <a:ext cx="548640" cy="548640"/>
          </a:xfrm>
          <a:prstGeom prst="rect">
            <a:avLst/>
          </a:prstGeom>
          <a:noFill/>
          <a:ln/>
        </p:spPr>
        <p:txBody>
          <a:bodyPr wrap="square" rtlCol="0" anchor="ctr"/>
          <a:lstStyle/>
          <a:p>
            <a:pPr marL="0" indent="0" algn="ctr">
              <a:buNone/>
            </a:pPr>
            <a:r>
              <a:rPr lang="pt-PT" sz="1600" b="1" noProof="0" dirty="0">
                <a:solidFill>
                  <a:srgbClr val="FFFFFF"/>
                </a:solidFill>
                <a:latin typeface="Calibri" pitchFamily="34" charset="0"/>
                <a:ea typeface="Calibri" pitchFamily="34" charset="-122"/>
                <a:cs typeface="Calibri" pitchFamily="34" charset="-120"/>
              </a:rPr>
              <a:t>2</a:t>
            </a:r>
            <a:endParaRPr lang="pt-PT" sz="1600" noProof="0" dirty="0"/>
          </a:p>
        </p:txBody>
      </p:sp>
      <p:sp>
        <p:nvSpPr>
          <p:cNvPr id="13" name="Text 10"/>
          <p:cNvSpPr/>
          <p:nvPr/>
        </p:nvSpPr>
        <p:spPr>
          <a:xfrm>
            <a:off x="1691640" y="3419856"/>
            <a:ext cx="4206240" cy="914400"/>
          </a:xfrm>
          <a:prstGeom prst="rect">
            <a:avLst/>
          </a:prstGeom>
          <a:noFill/>
          <a:ln/>
        </p:spPr>
        <p:txBody>
          <a:bodyPr wrap="square" rtlCol="0" anchor="ctr"/>
          <a:lstStyle/>
          <a:p>
            <a:pPr marL="0" indent="0">
              <a:buNone/>
            </a:pPr>
            <a:r>
              <a:rPr lang="pt-PT" sz="1400" b="1" noProof="0" dirty="0">
                <a:solidFill>
                  <a:srgbClr val="0B2545"/>
                </a:solidFill>
                <a:latin typeface="Calibri" pitchFamily="34" charset="0"/>
                <a:ea typeface="Calibri" pitchFamily="34" charset="-122"/>
                <a:cs typeface="Calibri" pitchFamily="34" charset="-120"/>
              </a:rPr>
              <a:t>Plumas de poluentes atmosféricos</a:t>
            </a:r>
            <a:endParaRPr lang="pt-PT" sz="1400" noProof="0" dirty="0"/>
          </a:p>
        </p:txBody>
      </p:sp>
      <p:sp>
        <p:nvSpPr>
          <p:cNvPr id="14" name="Text 11"/>
          <p:cNvSpPr/>
          <p:nvPr/>
        </p:nvSpPr>
        <p:spPr>
          <a:xfrm>
            <a:off x="6035040" y="3401568"/>
            <a:ext cx="5257800" cy="987552"/>
          </a:xfrm>
          <a:prstGeom prst="rect">
            <a:avLst/>
          </a:prstGeom>
          <a:noFill/>
          <a:ln/>
        </p:spPr>
        <p:txBody>
          <a:bodyPr wrap="square" rtlCol="0" anchor="ctr"/>
          <a:lstStyle/>
          <a:p>
            <a:pPr marL="0" indent="0">
              <a:lnSpc>
                <a:spcPts val="1500"/>
              </a:lnSpc>
              <a:buNone/>
            </a:pPr>
            <a:r>
              <a:rPr lang="pt-PT" sz="1200" noProof="0" dirty="0">
                <a:solidFill>
                  <a:srgbClr val="182A32"/>
                </a:solidFill>
                <a:latin typeface="Calibri" pitchFamily="34" charset="0"/>
                <a:ea typeface="Calibri" pitchFamily="34" charset="-122"/>
                <a:cs typeface="Calibri" pitchFamily="34" charset="-120"/>
              </a:rPr>
              <a:t>Gases aquecidos emitidos por chaminés sobem por convecção natural, favorecendo a dispersão na atmosfera.</a:t>
            </a:r>
            <a:endParaRPr lang="pt-PT" sz="1200" noProof="0" dirty="0"/>
          </a:p>
        </p:txBody>
      </p:sp>
      <p:sp>
        <p:nvSpPr>
          <p:cNvPr id="15" name="Shape 12"/>
          <p:cNvSpPr/>
          <p:nvPr/>
        </p:nvSpPr>
        <p:spPr>
          <a:xfrm>
            <a:off x="640080" y="4709160"/>
            <a:ext cx="10881360" cy="1207008"/>
          </a:xfrm>
          <a:prstGeom prst="roundRect">
            <a:avLst>
              <a:gd name="adj" fmla="val 6818"/>
            </a:avLst>
          </a:prstGeom>
          <a:solidFill>
            <a:srgbClr val="EEF4F6"/>
          </a:solidFill>
          <a:ln/>
        </p:spPr>
        <p:txBody>
          <a:bodyPr/>
          <a:lstStyle/>
          <a:p>
            <a:endParaRPr lang="pt-PT" noProof="0" dirty="0"/>
          </a:p>
        </p:txBody>
      </p:sp>
      <p:sp>
        <p:nvSpPr>
          <p:cNvPr id="16" name="Shape 13"/>
          <p:cNvSpPr/>
          <p:nvPr/>
        </p:nvSpPr>
        <p:spPr>
          <a:xfrm>
            <a:off x="914400" y="5038344"/>
            <a:ext cx="548640" cy="548640"/>
          </a:xfrm>
          <a:prstGeom prst="ellipse">
            <a:avLst/>
          </a:prstGeom>
          <a:solidFill>
            <a:srgbClr val="1C7293"/>
          </a:solidFill>
          <a:ln/>
        </p:spPr>
        <p:txBody>
          <a:bodyPr/>
          <a:lstStyle/>
          <a:p>
            <a:endParaRPr lang="pt-PT" noProof="0" dirty="0"/>
          </a:p>
        </p:txBody>
      </p:sp>
      <p:sp>
        <p:nvSpPr>
          <p:cNvPr id="17" name="Text 14"/>
          <p:cNvSpPr/>
          <p:nvPr/>
        </p:nvSpPr>
        <p:spPr>
          <a:xfrm>
            <a:off x="914400" y="5038344"/>
            <a:ext cx="548640" cy="548640"/>
          </a:xfrm>
          <a:prstGeom prst="rect">
            <a:avLst/>
          </a:prstGeom>
          <a:noFill/>
          <a:ln/>
        </p:spPr>
        <p:txBody>
          <a:bodyPr wrap="square" rtlCol="0" anchor="ctr"/>
          <a:lstStyle/>
          <a:p>
            <a:pPr marL="0" indent="0" algn="ctr">
              <a:buNone/>
            </a:pPr>
            <a:r>
              <a:rPr lang="pt-PT" sz="1600" b="1" noProof="0" dirty="0">
                <a:solidFill>
                  <a:srgbClr val="FFFFFF"/>
                </a:solidFill>
                <a:latin typeface="Calibri" pitchFamily="34" charset="0"/>
                <a:ea typeface="Calibri" pitchFamily="34" charset="-122"/>
                <a:cs typeface="Calibri" pitchFamily="34" charset="-120"/>
              </a:rPr>
              <a:t>3</a:t>
            </a:r>
            <a:endParaRPr lang="pt-PT" sz="1600" noProof="0" dirty="0"/>
          </a:p>
        </p:txBody>
      </p:sp>
      <p:sp>
        <p:nvSpPr>
          <p:cNvPr id="18" name="Text 15"/>
          <p:cNvSpPr/>
          <p:nvPr/>
        </p:nvSpPr>
        <p:spPr>
          <a:xfrm>
            <a:off x="1691640" y="4837176"/>
            <a:ext cx="4206240" cy="914400"/>
          </a:xfrm>
          <a:prstGeom prst="rect">
            <a:avLst/>
          </a:prstGeom>
          <a:noFill/>
          <a:ln/>
        </p:spPr>
        <p:txBody>
          <a:bodyPr wrap="square" rtlCol="0" anchor="ctr"/>
          <a:lstStyle/>
          <a:p>
            <a:pPr marL="0" indent="0">
              <a:buNone/>
            </a:pPr>
            <a:r>
              <a:rPr lang="pt-PT" sz="1400" b="1" noProof="0" dirty="0">
                <a:solidFill>
                  <a:srgbClr val="0B2545"/>
                </a:solidFill>
                <a:latin typeface="Calibri" pitchFamily="34" charset="0"/>
                <a:ea typeface="Calibri" pitchFamily="34" charset="-122"/>
                <a:cs typeface="Calibri" pitchFamily="34" charset="-120"/>
              </a:rPr>
              <a:t>Lagoas de estabilização</a:t>
            </a:r>
            <a:endParaRPr lang="pt-PT" sz="1400" noProof="0" dirty="0"/>
          </a:p>
        </p:txBody>
      </p:sp>
      <p:sp>
        <p:nvSpPr>
          <p:cNvPr id="19" name="Text 16"/>
          <p:cNvSpPr/>
          <p:nvPr/>
        </p:nvSpPr>
        <p:spPr>
          <a:xfrm>
            <a:off x="6035040" y="4818888"/>
            <a:ext cx="5257800" cy="987552"/>
          </a:xfrm>
          <a:prstGeom prst="rect">
            <a:avLst/>
          </a:prstGeom>
          <a:noFill/>
          <a:ln/>
        </p:spPr>
        <p:txBody>
          <a:bodyPr wrap="square" rtlCol="0" anchor="ctr"/>
          <a:lstStyle/>
          <a:p>
            <a:pPr marL="0" indent="0">
              <a:lnSpc>
                <a:spcPts val="1500"/>
              </a:lnSpc>
              <a:buNone/>
            </a:pPr>
            <a:r>
              <a:rPr lang="pt-PT" sz="1200" noProof="0" dirty="0">
                <a:solidFill>
                  <a:srgbClr val="182A32"/>
                </a:solidFill>
                <a:latin typeface="Calibri" pitchFamily="34" charset="0"/>
                <a:ea typeface="Calibri" pitchFamily="34" charset="-122"/>
                <a:cs typeface="Calibri" pitchFamily="34" charset="-120"/>
              </a:rPr>
              <a:t>Resfriamento e mistura ocorrem por convecção natural, sem aeração mecânica, em sistemas de baixo custo energético.</a:t>
            </a:r>
            <a:endParaRPr lang="pt-PT" sz="1200" noProof="0" dirty="0"/>
          </a:p>
        </p:txBody>
      </p:sp>
      <p:sp>
        <p:nvSpPr>
          <p:cNvPr id="20" name="Text 17"/>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2 · Mecanismos</a:t>
            </a:r>
            <a:endParaRPr lang="pt-PT" sz="950" noProof="0" dirty="0"/>
          </a:p>
        </p:txBody>
      </p:sp>
      <p:sp>
        <p:nvSpPr>
          <p:cNvPr id="22" name="Text 19"/>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12</a:t>
            </a:r>
            <a:endParaRPr lang="pt-PT" sz="950" noProof="0" dirty="0"/>
          </a:p>
        </p:txBody>
      </p:sp>
    </p:spTree>
    <p:extLst>
      <p:ext uri="{BB962C8B-B14F-4D97-AF65-F5344CB8AC3E}">
        <p14:creationId xmlns:p14="http://schemas.microsoft.com/office/powerpoint/2010/main" val="35281742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APLICAÇÕES AMBIENTAIS</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Convecção </a:t>
            </a:r>
            <a:r>
              <a:rPr lang="pt-PT" sz="3200" b="1" noProof="0" dirty="0">
                <a:solidFill>
                  <a:schemeClr val="accent2"/>
                </a:solidFill>
                <a:latin typeface="Cambria" pitchFamily="34" charset="0"/>
                <a:ea typeface="Cambria" pitchFamily="34" charset="-122"/>
                <a:cs typeface="Cambria" pitchFamily="34" charset="-120"/>
              </a:rPr>
              <a:t>forçada</a:t>
            </a:r>
            <a:r>
              <a:rPr lang="pt-PT" sz="3200" b="1" noProof="0" dirty="0">
                <a:solidFill>
                  <a:srgbClr val="0B2545"/>
                </a:solidFill>
                <a:latin typeface="Cambria" pitchFamily="34" charset="0"/>
                <a:ea typeface="Cambria" pitchFamily="34" charset="-122"/>
                <a:cs typeface="Cambria" pitchFamily="34" charset="-120"/>
              </a:rPr>
              <a:t> no dia a dia ambiental</a:t>
            </a:r>
            <a:endParaRPr lang="pt-PT" sz="3200" noProof="0" dirty="0"/>
          </a:p>
        </p:txBody>
      </p:sp>
      <p:sp>
        <p:nvSpPr>
          <p:cNvPr id="5" name="Shape 2"/>
          <p:cNvSpPr/>
          <p:nvPr/>
        </p:nvSpPr>
        <p:spPr>
          <a:xfrm>
            <a:off x="640080" y="1874520"/>
            <a:ext cx="10881360" cy="1207008"/>
          </a:xfrm>
          <a:prstGeom prst="roundRect">
            <a:avLst>
              <a:gd name="adj" fmla="val 6818"/>
            </a:avLst>
          </a:prstGeom>
          <a:solidFill>
            <a:srgbClr val="EEF4F6"/>
          </a:solidFill>
          <a:ln/>
        </p:spPr>
        <p:txBody>
          <a:bodyPr/>
          <a:lstStyle/>
          <a:p>
            <a:endParaRPr lang="pt-PT" noProof="0" dirty="0"/>
          </a:p>
        </p:txBody>
      </p:sp>
      <p:sp>
        <p:nvSpPr>
          <p:cNvPr id="6" name="Shape 3"/>
          <p:cNvSpPr/>
          <p:nvPr/>
        </p:nvSpPr>
        <p:spPr>
          <a:xfrm>
            <a:off x="914400" y="2203704"/>
            <a:ext cx="548640" cy="548640"/>
          </a:xfrm>
          <a:prstGeom prst="ellipse">
            <a:avLst/>
          </a:prstGeom>
          <a:solidFill>
            <a:srgbClr val="065A82"/>
          </a:solidFill>
          <a:ln/>
        </p:spPr>
        <p:txBody>
          <a:bodyPr/>
          <a:lstStyle/>
          <a:p>
            <a:endParaRPr lang="pt-PT" noProof="0" dirty="0"/>
          </a:p>
        </p:txBody>
      </p:sp>
      <p:sp>
        <p:nvSpPr>
          <p:cNvPr id="7" name="Text 4"/>
          <p:cNvSpPr/>
          <p:nvPr/>
        </p:nvSpPr>
        <p:spPr>
          <a:xfrm>
            <a:off x="914400" y="2203704"/>
            <a:ext cx="548640" cy="548640"/>
          </a:xfrm>
          <a:prstGeom prst="rect">
            <a:avLst/>
          </a:prstGeom>
          <a:noFill/>
          <a:ln/>
        </p:spPr>
        <p:txBody>
          <a:bodyPr wrap="square" rtlCol="0" anchor="ctr"/>
          <a:lstStyle/>
          <a:p>
            <a:pPr marL="0" indent="0" algn="ctr">
              <a:buNone/>
            </a:pPr>
            <a:r>
              <a:rPr lang="pt-PT" sz="1600" b="1" noProof="0" dirty="0">
                <a:solidFill>
                  <a:srgbClr val="FFFFFF"/>
                </a:solidFill>
                <a:latin typeface="Calibri" pitchFamily="34" charset="0"/>
                <a:ea typeface="Calibri" pitchFamily="34" charset="-122"/>
                <a:cs typeface="Calibri" pitchFamily="34" charset="-120"/>
              </a:rPr>
              <a:t>1</a:t>
            </a:r>
            <a:endParaRPr lang="pt-PT" sz="1600" noProof="0" dirty="0"/>
          </a:p>
        </p:txBody>
      </p:sp>
      <p:sp>
        <p:nvSpPr>
          <p:cNvPr id="8" name="Text 5"/>
          <p:cNvSpPr/>
          <p:nvPr/>
        </p:nvSpPr>
        <p:spPr>
          <a:xfrm>
            <a:off x="1691640" y="2002536"/>
            <a:ext cx="4206240" cy="914400"/>
          </a:xfrm>
          <a:prstGeom prst="rect">
            <a:avLst/>
          </a:prstGeom>
          <a:noFill/>
          <a:ln/>
        </p:spPr>
        <p:txBody>
          <a:bodyPr wrap="square" rtlCol="0" anchor="ctr"/>
          <a:lstStyle/>
          <a:p>
            <a:pPr marL="0" indent="0">
              <a:buNone/>
            </a:pPr>
            <a:r>
              <a:rPr lang="pt-PT" sz="1400" b="1" noProof="0" dirty="0">
                <a:solidFill>
                  <a:srgbClr val="0B2545"/>
                </a:solidFill>
                <a:latin typeface="Calibri" pitchFamily="34" charset="0"/>
                <a:ea typeface="Calibri" pitchFamily="34" charset="-122"/>
                <a:cs typeface="Calibri" pitchFamily="34" charset="-120"/>
              </a:rPr>
              <a:t>Torres de resfriamento</a:t>
            </a:r>
            <a:endParaRPr lang="pt-PT" sz="1400" noProof="0" dirty="0"/>
          </a:p>
        </p:txBody>
      </p:sp>
      <p:sp>
        <p:nvSpPr>
          <p:cNvPr id="9" name="Text 6"/>
          <p:cNvSpPr/>
          <p:nvPr/>
        </p:nvSpPr>
        <p:spPr>
          <a:xfrm>
            <a:off x="6035040" y="1984248"/>
            <a:ext cx="5426858" cy="987552"/>
          </a:xfrm>
          <a:prstGeom prst="rect">
            <a:avLst/>
          </a:prstGeom>
          <a:noFill/>
          <a:ln/>
        </p:spPr>
        <p:txBody>
          <a:bodyPr wrap="square" rtlCol="0" anchor="ctr"/>
          <a:lstStyle/>
          <a:p>
            <a:pPr marL="0" indent="0">
              <a:lnSpc>
                <a:spcPts val="1500"/>
              </a:lnSpc>
              <a:buNone/>
            </a:pPr>
            <a:r>
              <a:rPr lang="pt-PT" sz="1200" noProof="0" dirty="0">
                <a:solidFill>
                  <a:srgbClr val="182A32"/>
                </a:solidFill>
                <a:latin typeface="Calibri" pitchFamily="34" charset="0"/>
                <a:ea typeface="Calibri" pitchFamily="34" charset="-122"/>
                <a:cs typeface="Calibri" pitchFamily="34" charset="-120"/>
              </a:rPr>
              <a:t>Ventiladores forçam a passagem de ar sobre a água quente de processos industriais.</a:t>
            </a:r>
            <a:endParaRPr lang="pt-PT" sz="1200" noProof="0" dirty="0"/>
          </a:p>
        </p:txBody>
      </p:sp>
      <p:sp>
        <p:nvSpPr>
          <p:cNvPr id="10" name="Shape 7"/>
          <p:cNvSpPr/>
          <p:nvPr/>
        </p:nvSpPr>
        <p:spPr>
          <a:xfrm>
            <a:off x="640080" y="3291840"/>
            <a:ext cx="10881360" cy="1207008"/>
          </a:xfrm>
          <a:prstGeom prst="roundRect">
            <a:avLst>
              <a:gd name="adj" fmla="val 6818"/>
            </a:avLst>
          </a:prstGeom>
          <a:solidFill>
            <a:srgbClr val="EEF4F6"/>
          </a:solidFill>
          <a:ln/>
        </p:spPr>
        <p:txBody>
          <a:bodyPr/>
          <a:lstStyle/>
          <a:p>
            <a:endParaRPr lang="pt-PT" noProof="0" dirty="0"/>
          </a:p>
        </p:txBody>
      </p:sp>
      <p:sp>
        <p:nvSpPr>
          <p:cNvPr id="11" name="Shape 8"/>
          <p:cNvSpPr/>
          <p:nvPr/>
        </p:nvSpPr>
        <p:spPr>
          <a:xfrm>
            <a:off x="914400" y="3621024"/>
            <a:ext cx="548640" cy="548640"/>
          </a:xfrm>
          <a:prstGeom prst="ellipse">
            <a:avLst/>
          </a:prstGeom>
          <a:solidFill>
            <a:srgbClr val="065A82"/>
          </a:solidFill>
          <a:ln/>
        </p:spPr>
        <p:txBody>
          <a:bodyPr/>
          <a:lstStyle/>
          <a:p>
            <a:endParaRPr lang="pt-PT" noProof="0" dirty="0"/>
          </a:p>
        </p:txBody>
      </p:sp>
      <p:sp>
        <p:nvSpPr>
          <p:cNvPr id="12" name="Text 9"/>
          <p:cNvSpPr/>
          <p:nvPr/>
        </p:nvSpPr>
        <p:spPr>
          <a:xfrm>
            <a:off x="914400" y="3621024"/>
            <a:ext cx="548640" cy="548640"/>
          </a:xfrm>
          <a:prstGeom prst="rect">
            <a:avLst/>
          </a:prstGeom>
          <a:noFill/>
          <a:ln/>
        </p:spPr>
        <p:txBody>
          <a:bodyPr wrap="square" rtlCol="0" anchor="ctr"/>
          <a:lstStyle/>
          <a:p>
            <a:pPr marL="0" indent="0" algn="ctr">
              <a:buNone/>
            </a:pPr>
            <a:r>
              <a:rPr lang="pt-PT" sz="1600" b="1" noProof="0" dirty="0">
                <a:solidFill>
                  <a:srgbClr val="FFFFFF"/>
                </a:solidFill>
                <a:latin typeface="Calibri" pitchFamily="34" charset="0"/>
                <a:ea typeface="Calibri" pitchFamily="34" charset="-122"/>
                <a:cs typeface="Calibri" pitchFamily="34" charset="-120"/>
              </a:rPr>
              <a:t>2</a:t>
            </a:r>
            <a:endParaRPr lang="pt-PT" sz="1600" noProof="0" dirty="0"/>
          </a:p>
        </p:txBody>
      </p:sp>
      <p:sp>
        <p:nvSpPr>
          <p:cNvPr id="13" name="Text 10"/>
          <p:cNvSpPr/>
          <p:nvPr/>
        </p:nvSpPr>
        <p:spPr>
          <a:xfrm>
            <a:off x="1691640" y="3419856"/>
            <a:ext cx="4206240" cy="914400"/>
          </a:xfrm>
          <a:prstGeom prst="rect">
            <a:avLst/>
          </a:prstGeom>
          <a:noFill/>
          <a:ln/>
        </p:spPr>
        <p:txBody>
          <a:bodyPr wrap="square" rtlCol="0" anchor="ctr"/>
          <a:lstStyle/>
          <a:p>
            <a:pPr marL="0" indent="0">
              <a:buNone/>
            </a:pPr>
            <a:r>
              <a:rPr lang="pt-PT" sz="1400" b="1" noProof="0" dirty="0" err="1">
                <a:solidFill>
                  <a:srgbClr val="0B2545"/>
                </a:solidFill>
                <a:latin typeface="Calibri" pitchFamily="34" charset="0"/>
                <a:ea typeface="Calibri" pitchFamily="34" charset="-122"/>
                <a:cs typeface="Calibri" pitchFamily="34" charset="-120"/>
              </a:rPr>
              <a:t>Aeradores</a:t>
            </a:r>
            <a:r>
              <a:rPr lang="pt-PT" sz="1400" b="1" noProof="0" dirty="0">
                <a:solidFill>
                  <a:srgbClr val="0B2545"/>
                </a:solidFill>
                <a:latin typeface="Calibri" pitchFamily="34" charset="0"/>
                <a:ea typeface="Calibri" pitchFamily="34" charset="-122"/>
                <a:cs typeface="Calibri" pitchFamily="34" charset="-120"/>
              </a:rPr>
              <a:t> mecânicos em lagoas</a:t>
            </a:r>
            <a:endParaRPr lang="pt-PT" sz="1400" noProof="0" dirty="0"/>
          </a:p>
        </p:txBody>
      </p:sp>
      <p:sp>
        <p:nvSpPr>
          <p:cNvPr id="14" name="Text 11"/>
          <p:cNvSpPr/>
          <p:nvPr/>
        </p:nvSpPr>
        <p:spPr>
          <a:xfrm>
            <a:off x="6035040" y="3401568"/>
            <a:ext cx="5257800" cy="987552"/>
          </a:xfrm>
          <a:prstGeom prst="rect">
            <a:avLst/>
          </a:prstGeom>
          <a:noFill/>
          <a:ln/>
        </p:spPr>
        <p:txBody>
          <a:bodyPr wrap="square" rtlCol="0" anchor="ctr"/>
          <a:lstStyle/>
          <a:p>
            <a:pPr marL="0" indent="0">
              <a:lnSpc>
                <a:spcPts val="1500"/>
              </a:lnSpc>
              <a:buNone/>
            </a:pPr>
            <a:r>
              <a:rPr lang="pt-PT" sz="1200" noProof="0" dirty="0">
                <a:solidFill>
                  <a:srgbClr val="182A32"/>
                </a:solidFill>
                <a:latin typeface="Calibri" pitchFamily="34" charset="0"/>
                <a:ea typeface="Calibri" pitchFamily="34" charset="-122"/>
                <a:cs typeface="Calibri" pitchFamily="34" charset="-120"/>
              </a:rPr>
              <a:t>Forçam o contato ar-água, aumentando a transferência de calor e de oxigênio em sistemas de tratamento de esgoto.</a:t>
            </a:r>
            <a:endParaRPr lang="pt-PT" sz="1200" noProof="0" dirty="0"/>
          </a:p>
        </p:txBody>
      </p:sp>
      <p:sp>
        <p:nvSpPr>
          <p:cNvPr id="15" name="Shape 12"/>
          <p:cNvSpPr/>
          <p:nvPr/>
        </p:nvSpPr>
        <p:spPr>
          <a:xfrm>
            <a:off x="640080" y="4709160"/>
            <a:ext cx="10881360" cy="1207008"/>
          </a:xfrm>
          <a:prstGeom prst="roundRect">
            <a:avLst>
              <a:gd name="adj" fmla="val 6818"/>
            </a:avLst>
          </a:prstGeom>
          <a:solidFill>
            <a:srgbClr val="EEF4F6"/>
          </a:solidFill>
          <a:ln/>
        </p:spPr>
        <p:txBody>
          <a:bodyPr/>
          <a:lstStyle/>
          <a:p>
            <a:endParaRPr lang="pt-PT" noProof="0" dirty="0"/>
          </a:p>
        </p:txBody>
      </p:sp>
      <p:sp>
        <p:nvSpPr>
          <p:cNvPr id="16" name="Shape 13"/>
          <p:cNvSpPr/>
          <p:nvPr/>
        </p:nvSpPr>
        <p:spPr>
          <a:xfrm>
            <a:off x="914400" y="5038344"/>
            <a:ext cx="548640" cy="548640"/>
          </a:xfrm>
          <a:prstGeom prst="ellipse">
            <a:avLst/>
          </a:prstGeom>
          <a:solidFill>
            <a:srgbClr val="065A82"/>
          </a:solidFill>
          <a:ln/>
        </p:spPr>
        <p:txBody>
          <a:bodyPr/>
          <a:lstStyle/>
          <a:p>
            <a:endParaRPr lang="pt-PT" noProof="0" dirty="0"/>
          </a:p>
        </p:txBody>
      </p:sp>
      <p:sp>
        <p:nvSpPr>
          <p:cNvPr id="17" name="Text 14"/>
          <p:cNvSpPr/>
          <p:nvPr/>
        </p:nvSpPr>
        <p:spPr>
          <a:xfrm>
            <a:off x="914400" y="5038344"/>
            <a:ext cx="548640" cy="548640"/>
          </a:xfrm>
          <a:prstGeom prst="rect">
            <a:avLst/>
          </a:prstGeom>
          <a:noFill/>
          <a:ln/>
        </p:spPr>
        <p:txBody>
          <a:bodyPr wrap="square" rtlCol="0" anchor="ctr"/>
          <a:lstStyle/>
          <a:p>
            <a:pPr marL="0" indent="0" algn="ctr">
              <a:buNone/>
            </a:pPr>
            <a:r>
              <a:rPr lang="pt-PT" sz="1600" b="1" noProof="0" dirty="0">
                <a:solidFill>
                  <a:srgbClr val="FFFFFF"/>
                </a:solidFill>
                <a:latin typeface="Calibri" pitchFamily="34" charset="0"/>
                <a:ea typeface="Calibri" pitchFamily="34" charset="-122"/>
                <a:cs typeface="Calibri" pitchFamily="34" charset="-120"/>
              </a:rPr>
              <a:t>3</a:t>
            </a:r>
            <a:endParaRPr lang="pt-PT" sz="1600" noProof="0" dirty="0"/>
          </a:p>
        </p:txBody>
      </p:sp>
      <p:sp>
        <p:nvSpPr>
          <p:cNvPr id="18" name="Text 15"/>
          <p:cNvSpPr/>
          <p:nvPr/>
        </p:nvSpPr>
        <p:spPr>
          <a:xfrm>
            <a:off x="1691640" y="4837176"/>
            <a:ext cx="4206240" cy="914400"/>
          </a:xfrm>
          <a:prstGeom prst="rect">
            <a:avLst/>
          </a:prstGeom>
          <a:noFill/>
          <a:ln/>
        </p:spPr>
        <p:txBody>
          <a:bodyPr wrap="square" rtlCol="0" anchor="ctr"/>
          <a:lstStyle/>
          <a:p>
            <a:pPr marL="0" indent="0">
              <a:buNone/>
            </a:pPr>
            <a:r>
              <a:rPr lang="pt-PT" sz="1400" b="1" noProof="0" dirty="0">
                <a:solidFill>
                  <a:srgbClr val="0B2545"/>
                </a:solidFill>
                <a:latin typeface="Calibri" pitchFamily="34" charset="0"/>
                <a:ea typeface="Calibri" pitchFamily="34" charset="-122"/>
                <a:cs typeface="Calibri" pitchFamily="34" charset="-120"/>
              </a:rPr>
              <a:t>Dispersão atmosférica pelo vento</a:t>
            </a:r>
            <a:endParaRPr lang="pt-PT" sz="1400" noProof="0" dirty="0"/>
          </a:p>
        </p:txBody>
      </p:sp>
      <p:sp>
        <p:nvSpPr>
          <p:cNvPr id="19" name="Text 16"/>
          <p:cNvSpPr/>
          <p:nvPr/>
        </p:nvSpPr>
        <p:spPr>
          <a:xfrm>
            <a:off x="6035040" y="4818888"/>
            <a:ext cx="5257800" cy="987552"/>
          </a:xfrm>
          <a:prstGeom prst="rect">
            <a:avLst/>
          </a:prstGeom>
          <a:noFill/>
          <a:ln/>
        </p:spPr>
        <p:txBody>
          <a:bodyPr wrap="square" rtlCol="0" anchor="ctr"/>
          <a:lstStyle/>
          <a:p>
            <a:pPr marL="0" indent="0">
              <a:lnSpc>
                <a:spcPts val="1500"/>
              </a:lnSpc>
              <a:buNone/>
            </a:pPr>
            <a:r>
              <a:rPr lang="pt-PT" sz="1200" noProof="0" dirty="0">
                <a:solidFill>
                  <a:srgbClr val="182A32"/>
                </a:solidFill>
                <a:latin typeface="Calibri" pitchFamily="34" charset="0"/>
                <a:ea typeface="Calibri" pitchFamily="34" charset="-122"/>
                <a:cs typeface="Calibri" pitchFamily="34" charset="-120"/>
              </a:rPr>
              <a:t>O vento (agente externo) aumenta a convecção forçada, favorecendo a dispersão de poluentes emitidos por fontes industriais.</a:t>
            </a:r>
            <a:endParaRPr lang="pt-PT" sz="1200" noProof="0" dirty="0"/>
          </a:p>
        </p:txBody>
      </p:sp>
      <p:sp>
        <p:nvSpPr>
          <p:cNvPr id="20" name="Text 17"/>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2 · Mecanismos</a:t>
            </a:r>
            <a:endParaRPr lang="pt-PT" sz="950" noProof="0" dirty="0"/>
          </a:p>
        </p:txBody>
      </p:sp>
      <p:sp>
        <p:nvSpPr>
          <p:cNvPr id="22" name="Text 19"/>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13</a:t>
            </a:r>
            <a:endParaRPr lang="pt-PT" sz="950" noProof="0" dirty="0"/>
          </a:p>
        </p:txBody>
      </p:sp>
    </p:spTree>
    <p:extLst>
      <p:ext uri="{BB962C8B-B14F-4D97-AF65-F5344CB8AC3E}">
        <p14:creationId xmlns:p14="http://schemas.microsoft.com/office/powerpoint/2010/main" val="42638083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a:extLst>
            <a:ext uri="{FF2B5EF4-FFF2-40B4-BE49-F238E27FC236}">
              <a16:creationId xmlns:a16="http://schemas.microsoft.com/office/drawing/2014/main" id="{2689CB9E-7E86-ED11-6FF5-535EFCAE528A}"/>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9AF088B-4E2B-157B-1C2E-37C5C21E925B}"/>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0FA3B1"/>
                </a:solidFill>
                <a:latin typeface="Calibri" pitchFamily="34" charset="0"/>
                <a:ea typeface="Calibri" pitchFamily="34" charset="-122"/>
                <a:cs typeface="Calibri" pitchFamily="34" charset="-120"/>
              </a:rPr>
              <a:t>O MODELO MATEMÁTICO</a:t>
            </a:r>
            <a:endParaRPr lang="pt-PT" sz="1300" noProof="0" dirty="0"/>
          </a:p>
        </p:txBody>
      </p:sp>
      <p:sp>
        <p:nvSpPr>
          <p:cNvPr id="5" name="Shape 2">
            <a:extLst>
              <a:ext uri="{FF2B5EF4-FFF2-40B4-BE49-F238E27FC236}">
                <a16:creationId xmlns:a16="http://schemas.microsoft.com/office/drawing/2014/main" id="{6B041BDE-75DA-90D1-A23E-AD25B64DEDA4}"/>
              </a:ext>
            </a:extLst>
          </p:cNvPr>
          <p:cNvSpPr/>
          <p:nvPr/>
        </p:nvSpPr>
        <p:spPr>
          <a:xfrm>
            <a:off x="822960" y="1837944"/>
            <a:ext cx="10515600" cy="1834404"/>
          </a:xfrm>
          <a:prstGeom prst="roundRect">
            <a:avLst>
              <a:gd name="adj" fmla="val 6316"/>
            </a:avLst>
          </a:prstGeom>
          <a:solidFill>
            <a:srgbClr val="0F2E4E"/>
          </a:solidFill>
          <a:ln w="12700">
            <a:solidFill>
              <a:srgbClr val="0FA3B1"/>
            </a:solidFill>
            <a:prstDash val="solid"/>
          </a:ln>
        </p:spPr>
        <p:txBody>
          <a:bodyPr/>
          <a:lstStyle/>
          <a:p>
            <a:endParaRPr lang="pt-PT" noProof="0" dirty="0"/>
          </a:p>
        </p:txBody>
      </p:sp>
      <p:sp>
        <p:nvSpPr>
          <p:cNvPr id="6" name="Text 3">
            <a:extLst>
              <a:ext uri="{FF2B5EF4-FFF2-40B4-BE49-F238E27FC236}">
                <a16:creationId xmlns:a16="http://schemas.microsoft.com/office/drawing/2014/main" id="{402B56FA-C775-1A76-E393-6B30633472BC}"/>
              </a:ext>
            </a:extLst>
          </p:cNvPr>
          <p:cNvSpPr/>
          <p:nvPr/>
        </p:nvSpPr>
        <p:spPr>
          <a:xfrm>
            <a:off x="822960" y="1522476"/>
            <a:ext cx="10515600" cy="2583180"/>
          </a:xfrm>
          <a:prstGeom prst="rect">
            <a:avLst/>
          </a:prstGeom>
          <a:noFill/>
          <a:ln/>
        </p:spPr>
        <p:txBody>
          <a:bodyPr wrap="square" rtlCol="0" anchor="ctr"/>
          <a:lstStyle/>
          <a:p>
            <a:pPr marL="0" indent="0" algn="ctr">
              <a:lnSpc>
                <a:spcPts val="4000"/>
              </a:lnSpc>
              <a:buNone/>
            </a:pPr>
            <a:r>
              <a:rPr lang="pt-PT" sz="3400" b="1" dirty="0">
                <a:solidFill>
                  <a:srgbClr val="FFFFFF"/>
                </a:solidFill>
                <a:latin typeface="Cambria" pitchFamily="34" charset="0"/>
              </a:rPr>
              <a:t>Como determinar o fluxo de calor e a taxa de transferência de calor por convecção? </a:t>
            </a:r>
            <a:endParaRPr lang="pt-PT" sz="3400" noProof="0" dirty="0"/>
          </a:p>
        </p:txBody>
      </p:sp>
      <p:sp>
        <p:nvSpPr>
          <p:cNvPr id="25" name="Text 22">
            <a:extLst>
              <a:ext uri="{FF2B5EF4-FFF2-40B4-BE49-F238E27FC236}">
                <a16:creationId xmlns:a16="http://schemas.microsoft.com/office/drawing/2014/main" id="{6097D0B2-FCFA-AD37-6759-436F4624A8A6}"/>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6" name="Text 23">
            <a:extLst>
              <a:ext uri="{FF2B5EF4-FFF2-40B4-BE49-F238E27FC236}">
                <a16:creationId xmlns:a16="http://schemas.microsoft.com/office/drawing/2014/main" id="{207892B8-282C-7F78-901C-72A4152BA345}"/>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4 · Lei de Newton</a:t>
            </a:r>
            <a:endParaRPr lang="pt-PT" sz="950" noProof="0" dirty="0"/>
          </a:p>
        </p:txBody>
      </p:sp>
      <p:sp>
        <p:nvSpPr>
          <p:cNvPr id="27" name="Text 24">
            <a:extLst>
              <a:ext uri="{FF2B5EF4-FFF2-40B4-BE49-F238E27FC236}">
                <a16:creationId xmlns:a16="http://schemas.microsoft.com/office/drawing/2014/main" id="{99BE0275-1112-8493-AF9F-5807142E5B9C}"/>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14</a:t>
            </a:r>
            <a:endParaRPr lang="pt-PT" sz="950" noProof="0" dirty="0"/>
          </a:p>
        </p:txBody>
      </p:sp>
    </p:spTree>
    <p:extLst>
      <p:ext uri="{BB962C8B-B14F-4D97-AF65-F5344CB8AC3E}">
        <p14:creationId xmlns:p14="http://schemas.microsoft.com/office/powerpoint/2010/main" val="27141397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3">
    <p:bg>
      <p:bgPr>
        <a:solidFill>
          <a:srgbClr val="0B2545"/>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0FA3B1"/>
                </a:solidFill>
                <a:latin typeface="Calibri" pitchFamily="34" charset="0"/>
                <a:ea typeface="Calibri" pitchFamily="34" charset="-122"/>
                <a:cs typeface="Calibri" pitchFamily="34" charset="-120"/>
              </a:rPr>
              <a:t>O MODELO MATEMÁTICO</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FFFFFF"/>
                </a:solidFill>
                <a:latin typeface="Cambria" pitchFamily="34" charset="0"/>
                <a:ea typeface="Cambria" pitchFamily="34" charset="-122"/>
                <a:cs typeface="Cambria" pitchFamily="34" charset="-120"/>
              </a:rPr>
              <a:t>Lei de Resfriamento de Newton</a:t>
            </a:r>
            <a:endParaRPr lang="pt-PT" sz="3200" noProof="0" dirty="0"/>
          </a:p>
        </p:txBody>
      </p:sp>
      <p:sp>
        <p:nvSpPr>
          <p:cNvPr id="5" name="Shape 2"/>
          <p:cNvSpPr/>
          <p:nvPr/>
        </p:nvSpPr>
        <p:spPr>
          <a:xfrm>
            <a:off x="822960" y="1837944"/>
            <a:ext cx="10515600" cy="1834404"/>
          </a:xfrm>
          <a:prstGeom prst="roundRect">
            <a:avLst>
              <a:gd name="adj" fmla="val 6316"/>
            </a:avLst>
          </a:prstGeom>
          <a:solidFill>
            <a:srgbClr val="0F2E4E"/>
          </a:solidFill>
          <a:ln w="12700">
            <a:solidFill>
              <a:srgbClr val="0FA3B1"/>
            </a:solidFill>
            <a:prstDash val="solid"/>
          </a:ln>
        </p:spPr>
        <p:txBody>
          <a:bodyPr/>
          <a:lstStyle/>
          <a:p>
            <a:endParaRPr lang="pt-PT" noProof="0" dirty="0"/>
          </a:p>
        </p:txBody>
      </p:sp>
      <p:sp>
        <p:nvSpPr>
          <p:cNvPr id="6" name="Text 3"/>
          <p:cNvSpPr/>
          <p:nvPr/>
        </p:nvSpPr>
        <p:spPr>
          <a:xfrm>
            <a:off x="822960" y="1522476"/>
            <a:ext cx="10515600" cy="2583180"/>
          </a:xfrm>
          <a:prstGeom prst="rect">
            <a:avLst/>
          </a:prstGeom>
          <a:noFill/>
          <a:ln/>
        </p:spPr>
        <p:txBody>
          <a:bodyPr wrap="square" rtlCol="0" anchor="ctr"/>
          <a:lstStyle/>
          <a:p>
            <a:pPr marL="0" indent="0" algn="ctr">
              <a:lnSpc>
                <a:spcPts val="4000"/>
              </a:lnSpc>
              <a:buNone/>
            </a:pPr>
            <a:r>
              <a:rPr lang="pt-PT" sz="3400" b="1" noProof="0" dirty="0">
                <a:solidFill>
                  <a:srgbClr val="FFFFFF"/>
                </a:solidFill>
                <a:latin typeface="Cambria" pitchFamily="34" charset="0"/>
                <a:ea typeface="Cambria" pitchFamily="34" charset="-122"/>
                <a:cs typeface="Cambria" pitchFamily="34" charset="-120"/>
              </a:rPr>
              <a:t>q" = h · (</a:t>
            </a:r>
            <a:r>
              <a:rPr lang="pt-PT" sz="3400" b="1" noProof="0" dirty="0" err="1">
                <a:solidFill>
                  <a:srgbClr val="FFFFFF"/>
                </a:solidFill>
                <a:latin typeface="Cambria" pitchFamily="34" charset="0"/>
                <a:ea typeface="Cambria" pitchFamily="34" charset="-122"/>
                <a:cs typeface="Cambria" pitchFamily="34" charset="-120"/>
              </a:rPr>
              <a:t>Ts</a:t>
            </a:r>
            <a:r>
              <a:rPr lang="pt-PT" sz="3400" b="1" noProof="0" dirty="0">
                <a:solidFill>
                  <a:srgbClr val="FFFFFF"/>
                </a:solidFill>
                <a:latin typeface="Cambria" pitchFamily="34" charset="0"/>
                <a:ea typeface="Cambria" pitchFamily="34" charset="-122"/>
                <a:cs typeface="Cambria" pitchFamily="34" charset="-120"/>
              </a:rPr>
              <a:t> − T∞)</a:t>
            </a:r>
            <a:endParaRPr lang="pt-PT" sz="3400" noProof="0" dirty="0"/>
          </a:p>
          <a:p>
            <a:pPr marL="0" indent="0" algn="ctr">
              <a:lnSpc>
                <a:spcPts val="4000"/>
              </a:lnSpc>
              <a:buNone/>
            </a:pPr>
            <a:r>
              <a:rPr lang="pt-PT" sz="2400" noProof="0" dirty="0">
                <a:solidFill>
                  <a:srgbClr val="0FA3B1"/>
                </a:solidFill>
                <a:latin typeface="Cambria" pitchFamily="34" charset="0"/>
                <a:ea typeface="Cambria" pitchFamily="34" charset="-122"/>
                <a:cs typeface="Cambria" pitchFamily="34" charset="-120"/>
              </a:rPr>
              <a:t>Q = h · A · (</a:t>
            </a:r>
            <a:r>
              <a:rPr lang="pt-PT" sz="2400" noProof="0" dirty="0" err="1">
                <a:solidFill>
                  <a:srgbClr val="0FA3B1"/>
                </a:solidFill>
                <a:latin typeface="Cambria" pitchFamily="34" charset="0"/>
                <a:ea typeface="Cambria" pitchFamily="34" charset="-122"/>
                <a:cs typeface="Cambria" pitchFamily="34" charset="-120"/>
              </a:rPr>
              <a:t>Ts</a:t>
            </a:r>
            <a:r>
              <a:rPr lang="pt-PT" sz="2400" noProof="0" dirty="0">
                <a:solidFill>
                  <a:srgbClr val="0FA3B1"/>
                </a:solidFill>
                <a:latin typeface="Cambria" pitchFamily="34" charset="0"/>
                <a:ea typeface="Cambria" pitchFamily="34" charset="-122"/>
                <a:cs typeface="Cambria" pitchFamily="34" charset="-120"/>
              </a:rPr>
              <a:t> − T∞)</a:t>
            </a:r>
            <a:endParaRPr lang="pt-PT" sz="3400" noProof="0" dirty="0"/>
          </a:p>
        </p:txBody>
      </p:sp>
      <p:sp>
        <p:nvSpPr>
          <p:cNvPr id="7" name="Text 4"/>
          <p:cNvSpPr/>
          <p:nvPr/>
        </p:nvSpPr>
        <p:spPr>
          <a:xfrm>
            <a:off x="822960" y="4160520"/>
            <a:ext cx="548640" cy="457200"/>
          </a:xfrm>
          <a:prstGeom prst="rect">
            <a:avLst/>
          </a:prstGeom>
          <a:noFill/>
          <a:ln/>
        </p:spPr>
        <p:txBody>
          <a:bodyPr wrap="square" rtlCol="0" anchor="ctr"/>
          <a:lstStyle/>
          <a:p>
            <a:pPr marL="0" indent="0">
              <a:buNone/>
            </a:pPr>
            <a:r>
              <a:rPr lang="pt-PT" sz="1600" b="1" noProof="0" dirty="0">
                <a:solidFill>
                  <a:srgbClr val="E8602C"/>
                </a:solidFill>
                <a:latin typeface="Cambria" pitchFamily="34" charset="0"/>
                <a:ea typeface="Cambria" pitchFamily="34" charset="-122"/>
                <a:cs typeface="Cambria" pitchFamily="34" charset="-120"/>
              </a:rPr>
              <a:t>q"</a:t>
            </a:r>
            <a:endParaRPr lang="pt-PT" sz="1600" noProof="0" dirty="0"/>
          </a:p>
        </p:txBody>
      </p:sp>
      <p:sp>
        <p:nvSpPr>
          <p:cNvPr id="8" name="Text 5"/>
          <p:cNvSpPr/>
          <p:nvPr/>
        </p:nvSpPr>
        <p:spPr>
          <a:xfrm>
            <a:off x="1371600" y="4160520"/>
            <a:ext cx="3246120" cy="457200"/>
          </a:xfrm>
          <a:prstGeom prst="rect">
            <a:avLst/>
          </a:prstGeom>
          <a:noFill/>
          <a:ln/>
        </p:spPr>
        <p:txBody>
          <a:bodyPr wrap="square" rtlCol="0" anchor="ctr"/>
          <a:lstStyle/>
          <a:p>
            <a:pPr marL="0" indent="0">
              <a:buNone/>
            </a:pPr>
            <a:r>
              <a:rPr lang="pt-PT" sz="1400" noProof="0" dirty="0">
                <a:solidFill>
                  <a:srgbClr val="CFE3EC"/>
                </a:solidFill>
                <a:latin typeface="Calibri" pitchFamily="34" charset="0"/>
                <a:ea typeface="Calibri" pitchFamily="34" charset="-122"/>
                <a:cs typeface="Calibri" pitchFamily="34" charset="-120"/>
              </a:rPr>
              <a:t>fluxo de calor por convecção</a:t>
            </a:r>
            <a:endParaRPr lang="pt-PT" sz="1400" noProof="0" dirty="0"/>
          </a:p>
        </p:txBody>
      </p:sp>
      <p:sp>
        <p:nvSpPr>
          <p:cNvPr id="9" name="Text 6"/>
          <p:cNvSpPr/>
          <p:nvPr/>
        </p:nvSpPr>
        <p:spPr>
          <a:xfrm>
            <a:off x="3703322" y="4160520"/>
            <a:ext cx="1371600" cy="457200"/>
          </a:xfrm>
          <a:prstGeom prst="rect">
            <a:avLst/>
          </a:prstGeom>
          <a:noFill/>
          <a:ln/>
        </p:spPr>
        <p:txBody>
          <a:bodyPr wrap="square" rtlCol="0" anchor="ctr"/>
          <a:lstStyle/>
          <a:p>
            <a:pPr marL="0" indent="0" algn="r">
              <a:buNone/>
            </a:pPr>
            <a:r>
              <a:rPr lang="pt-PT" sz="1400" i="1" noProof="0" dirty="0">
                <a:solidFill>
                  <a:srgbClr val="0FA3B1"/>
                </a:solidFill>
                <a:latin typeface="Calibri" pitchFamily="34" charset="0"/>
                <a:ea typeface="Calibri" pitchFamily="34" charset="-122"/>
                <a:cs typeface="Calibri" pitchFamily="34" charset="-120"/>
              </a:rPr>
              <a:t>W/m²</a:t>
            </a:r>
            <a:endParaRPr lang="pt-PT" sz="1400" noProof="0" dirty="0"/>
          </a:p>
        </p:txBody>
      </p:sp>
      <p:sp>
        <p:nvSpPr>
          <p:cNvPr id="10" name="Text 7"/>
          <p:cNvSpPr/>
          <p:nvPr/>
        </p:nvSpPr>
        <p:spPr>
          <a:xfrm>
            <a:off x="6080760" y="4160520"/>
            <a:ext cx="548640" cy="457200"/>
          </a:xfrm>
          <a:prstGeom prst="rect">
            <a:avLst/>
          </a:prstGeom>
          <a:noFill/>
          <a:ln/>
        </p:spPr>
        <p:txBody>
          <a:bodyPr wrap="square" rtlCol="0" anchor="ctr"/>
          <a:lstStyle/>
          <a:p>
            <a:pPr marL="0" indent="0">
              <a:buNone/>
            </a:pPr>
            <a:r>
              <a:rPr lang="pt-PT" sz="1600" b="1" noProof="0" dirty="0">
                <a:solidFill>
                  <a:srgbClr val="E8602C"/>
                </a:solidFill>
                <a:latin typeface="Cambria" pitchFamily="34" charset="0"/>
                <a:ea typeface="Cambria" pitchFamily="34" charset="-122"/>
                <a:cs typeface="Cambria" pitchFamily="34" charset="-120"/>
              </a:rPr>
              <a:t>Q</a:t>
            </a:r>
            <a:endParaRPr lang="pt-PT" sz="1600" noProof="0" dirty="0"/>
          </a:p>
        </p:txBody>
      </p:sp>
      <p:sp>
        <p:nvSpPr>
          <p:cNvPr id="11" name="Text 8"/>
          <p:cNvSpPr/>
          <p:nvPr/>
        </p:nvSpPr>
        <p:spPr>
          <a:xfrm>
            <a:off x="6629399" y="4160520"/>
            <a:ext cx="3692471" cy="457200"/>
          </a:xfrm>
          <a:prstGeom prst="rect">
            <a:avLst/>
          </a:prstGeom>
          <a:noFill/>
          <a:ln/>
        </p:spPr>
        <p:txBody>
          <a:bodyPr wrap="square" rtlCol="0" anchor="ctr"/>
          <a:lstStyle/>
          <a:p>
            <a:pPr marL="0" indent="0">
              <a:buNone/>
            </a:pPr>
            <a:r>
              <a:rPr lang="pt-PT" sz="1400" noProof="0" dirty="0">
                <a:solidFill>
                  <a:srgbClr val="CFE3EC"/>
                </a:solidFill>
                <a:latin typeface="Calibri" pitchFamily="34" charset="0"/>
                <a:ea typeface="Calibri" pitchFamily="34" charset="-122"/>
                <a:cs typeface="Calibri" pitchFamily="34" charset="-120"/>
              </a:rPr>
              <a:t>taxa de transferência de calor por convecção</a:t>
            </a:r>
            <a:endParaRPr lang="pt-PT" sz="1400" noProof="0" dirty="0"/>
          </a:p>
        </p:txBody>
      </p:sp>
      <p:sp>
        <p:nvSpPr>
          <p:cNvPr id="12" name="Text 9"/>
          <p:cNvSpPr/>
          <p:nvPr/>
        </p:nvSpPr>
        <p:spPr>
          <a:xfrm>
            <a:off x="8961122" y="4160520"/>
            <a:ext cx="1371600" cy="457200"/>
          </a:xfrm>
          <a:prstGeom prst="rect">
            <a:avLst/>
          </a:prstGeom>
          <a:noFill/>
          <a:ln/>
        </p:spPr>
        <p:txBody>
          <a:bodyPr wrap="square" rtlCol="0" anchor="ctr"/>
          <a:lstStyle/>
          <a:p>
            <a:pPr marL="0" indent="0" algn="r">
              <a:buNone/>
            </a:pPr>
            <a:r>
              <a:rPr lang="pt-PT" sz="1400" i="1" noProof="0" dirty="0">
                <a:solidFill>
                  <a:srgbClr val="0FA3B1"/>
                </a:solidFill>
                <a:latin typeface="Calibri" pitchFamily="34" charset="0"/>
                <a:ea typeface="Calibri" pitchFamily="34" charset="-122"/>
                <a:cs typeface="Calibri" pitchFamily="34" charset="-120"/>
              </a:rPr>
              <a:t>W</a:t>
            </a:r>
            <a:endParaRPr lang="pt-PT" sz="1400" noProof="0" dirty="0"/>
          </a:p>
        </p:txBody>
      </p:sp>
      <p:sp>
        <p:nvSpPr>
          <p:cNvPr id="13" name="Text 10"/>
          <p:cNvSpPr/>
          <p:nvPr/>
        </p:nvSpPr>
        <p:spPr>
          <a:xfrm>
            <a:off x="822960" y="4672584"/>
            <a:ext cx="548640" cy="457200"/>
          </a:xfrm>
          <a:prstGeom prst="rect">
            <a:avLst/>
          </a:prstGeom>
          <a:noFill/>
          <a:ln/>
        </p:spPr>
        <p:txBody>
          <a:bodyPr wrap="square" rtlCol="0" anchor="ctr"/>
          <a:lstStyle/>
          <a:p>
            <a:pPr marL="0" indent="0">
              <a:buNone/>
            </a:pPr>
            <a:r>
              <a:rPr lang="pt-PT" sz="1600" b="1" noProof="0" dirty="0">
                <a:solidFill>
                  <a:srgbClr val="E8602C"/>
                </a:solidFill>
                <a:latin typeface="Cambria" pitchFamily="34" charset="0"/>
                <a:ea typeface="Cambria" pitchFamily="34" charset="-122"/>
                <a:cs typeface="Cambria" pitchFamily="34" charset="-120"/>
              </a:rPr>
              <a:t>h</a:t>
            </a:r>
            <a:endParaRPr lang="pt-PT" sz="1600" noProof="0" dirty="0"/>
          </a:p>
        </p:txBody>
      </p:sp>
      <p:sp>
        <p:nvSpPr>
          <p:cNvPr id="14" name="Text 11"/>
          <p:cNvSpPr/>
          <p:nvPr/>
        </p:nvSpPr>
        <p:spPr>
          <a:xfrm>
            <a:off x="1371600" y="4672584"/>
            <a:ext cx="3246120" cy="457200"/>
          </a:xfrm>
          <a:prstGeom prst="rect">
            <a:avLst/>
          </a:prstGeom>
          <a:noFill/>
          <a:ln/>
        </p:spPr>
        <p:txBody>
          <a:bodyPr wrap="square" rtlCol="0" anchor="ctr"/>
          <a:lstStyle/>
          <a:p>
            <a:pPr marL="0" indent="0">
              <a:buNone/>
            </a:pPr>
            <a:r>
              <a:rPr lang="pt-PT" sz="1400" noProof="0" dirty="0">
                <a:solidFill>
                  <a:srgbClr val="CFE3EC"/>
                </a:solidFill>
                <a:latin typeface="Calibri" pitchFamily="34" charset="0"/>
                <a:ea typeface="Calibri" pitchFamily="34" charset="-122"/>
                <a:cs typeface="Calibri" pitchFamily="34" charset="-120"/>
              </a:rPr>
              <a:t>coeficiente convectivo</a:t>
            </a:r>
            <a:endParaRPr lang="pt-PT" sz="1400" noProof="0" dirty="0"/>
          </a:p>
        </p:txBody>
      </p:sp>
      <p:sp>
        <p:nvSpPr>
          <p:cNvPr id="15" name="Text 12"/>
          <p:cNvSpPr/>
          <p:nvPr/>
        </p:nvSpPr>
        <p:spPr>
          <a:xfrm>
            <a:off x="3703322" y="4672584"/>
            <a:ext cx="1371600" cy="457200"/>
          </a:xfrm>
          <a:prstGeom prst="rect">
            <a:avLst/>
          </a:prstGeom>
          <a:noFill/>
          <a:ln/>
        </p:spPr>
        <p:txBody>
          <a:bodyPr wrap="square" rtlCol="0" anchor="ctr"/>
          <a:lstStyle/>
          <a:p>
            <a:pPr marL="0" indent="0" algn="r">
              <a:buNone/>
            </a:pPr>
            <a:r>
              <a:rPr lang="pt-PT" sz="1400" i="1" noProof="0" dirty="0">
                <a:solidFill>
                  <a:srgbClr val="0FA3B1"/>
                </a:solidFill>
                <a:latin typeface="Calibri" pitchFamily="34" charset="0"/>
                <a:ea typeface="Calibri" pitchFamily="34" charset="-122"/>
                <a:cs typeface="Calibri" pitchFamily="34" charset="-120"/>
              </a:rPr>
              <a:t>W/(m²·K)</a:t>
            </a:r>
            <a:endParaRPr lang="pt-PT" sz="1400" noProof="0" dirty="0"/>
          </a:p>
        </p:txBody>
      </p:sp>
      <p:sp>
        <p:nvSpPr>
          <p:cNvPr id="16" name="Text 13"/>
          <p:cNvSpPr/>
          <p:nvPr/>
        </p:nvSpPr>
        <p:spPr>
          <a:xfrm>
            <a:off x="6080760" y="4672584"/>
            <a:ext cx="548640" cy="457200"/>
          </a:xfrm>
          <a:prstGeom prst="rect">
            <a:avLst/>
          </a:prstGeom>
          <a:noFill/>
          <a:ln/>
        </p:spPr>
        <p:txBody>
          <a:bodyPr wrap="square" rtlCol="0" anchor="ctr"/>
          <a:lstStyle/>
          <a:p>
            <a:pPr marL="0" indent="0">
              <a:buNone/>
            </a:pPr>
            <a:r>
              <a:rPr lang="pt-PT" sz="1600" b="1" noProof="0" dirty="0">
                <a:solidFill>
                  <a:srgbClr val="E8602C"/>
                </a:solidFill>
                <a:latin typeface="Cambria" pitchFamily="34" charset="0"/>
                <a:ea typeface="Cambria" pitchFamily="34" charset="-122"/>
                <a:cs typeface="Cambria" pitchFamily="34" charset="-120"/>
              </a:rPr>
              <a:t>A</a:t>
            </a:r>
            <a:endParaRPr lang="pt-PT" sz="1600" noProof="0" dirty="0"/>
          </a:p>
        </p:txBody>
      </p:sp>
      <p:sp>
        <p:nvSpPr>
          <p:cNvPr id="17" name="Text 14"/>
          <p:cNvSpPr/>
          <p:nvPr/>
        </p:nvSpPr>
        <p:spPr>
          <a:xfrm>
            <a:off x="6629400" y="4672584"/>
            <a:ext cx="3246120" cy="457200"/>
          </a:xfrm>
          <a:prstGeom prst="rect">
            <a:avLst/>
          </a:prstGeom>
          <a:noFill/>
          <a:ln/>
        </p:spPr>
        <p:txBody>
          <a:bodyPr wrap="square" rtlCol="0" anchor="ctr"/>
          <a:lstStyle/>
          <a:p>
            <a:pPr marL="0" indent="0">
              <a:buNone/>
            </a:pPr>
            <a:r>
              <a:rPr lang="pt-PT" sz="1400" noProof="0" dirty="0">
                <a:solidFill>
                  <a:srgbClr val="CFE3EC"/>
                </a:solidFill>
                <a:latin typeface="Calibri" pitchFamily="34" charset="0"/>
                <a:ea typeface="Calibri" pitchFamily="34" charset="-122"/>
                <a:cs typeface="Calibri" pitchFamily="34" charset="-120"/>
              </a:rPr>
              <a:t>área da superfície de troca</a:t>
            </a:r>
            <a:endParaRPr lang="pt-PT" sz="1400" noProof="0" dirty="0"/>
          </a:p>
        </p:txBody>
      </p:sp>
      <p:sp>
        <p:nvSpPr>
          <p:cNvPr id="18" name="Text 15"/>
          <p:cNvSpPr/>
          <p:nvPr/>
        </p:nvSpPr>
        <p:spPr>
          <a:xfrm>
            <a:off x="8961122" y="4672584"/>
            <a:ext cx="1371600" cy="457200"/>
          </a:xfrm>
          <a:prstGeom prst="rect">
            <a:avLst/>
          </a:prstGeom>
          <a:noFill/>
          <a:ln/>
        </p:spPr>
        <p:txBody>
          <a:bodyPr wrap="square" rtlCol="0" anchor="ctr"/>
          <a:lstStyle/>
          <a:p>
            <a:pPr marL="0" indent="0" algn="r">
              <a:buNone/>
            </a:pPr>
            <a:r>
              <a:rPr lang="pt-PT" sz="1400" i="1" noProof="0" dirty="0">
                <a:solidFill>
                  <a:srgbClr val="0FA3B1"/>
                </a:solidFill>
                <a:latin typeface="Calibri" pitchFamily="34" charset="0"/>
                <a:ea typeface="Calibri" pitchFamily="34" charset="-122"/>
                <a:cs typeface="Calibri" pitchFamily="34" charset="-120"/>
              </a:rPr>
              <a:t>m²</a:t>
            </a:r>
            <a:endParaRPr lang="pt-PT" sz="1400" noProof="0" dirty="0"/>
          </a:p>
        </p:txBody>
      </p:sp>
      <p:sp>
        <p:nvSpPr>
          <p:cNvPr id="19" name="Text 16"/>
          <p:cNvSpPr/>
          <p:nvPr/>
        </p:nvSpPr>
        <p:spPr>
          <a:xfrm>
            <a:off x="822960" y="5184648"/>
            <a:ext cx="548640" cy="457200"/>
          </a:xfrm>
          <a:prstGeom prst="rect">
            <a:avLst/>
          </a:prstGeom>
          <a:noFill/>
          <a:ln/>
        </p:spPr>
        <p:txBody>
          <a:bodyPr wrap="square" rtlCol="0" anchor="ctr"/>
          <a:lstStyle/>
          <a:p>
            <a:pPr marL="0" indent="0">
              <a:buNone/>
            </a:pPr>
            <a:r>
              <a:rPr lang="pt-PT" sz="1600" b="1" noProof="0" dirty="0" err="1">
                <a:solidFill>
                  <a:srgbClr val="E8602C"/>
                </a:solidFill>
                <a:latin typeface="Cambria" pitchFamily="34" charset="0"/>
                <a:ea typeface="Cambria" pitchFamily="34" charset="-122"/>
                <a:cs typeface="Cambria" pitchFamily="34" charset="-120"/>
              </a:rPr>
              <a:t>Ts</a:t>
            </a:r>
            <a:endParaRPr lang="pt-PT" sz="1600" noProof="0" dirty="0"/>
          </a:p>
        </p:txBody>
      </p:sp>
      <p:sp>
        <p:nvSpPr>
          <p:cNvPr id="20" name="Text 17"/>
          <p:cNvSpPr/>
          <p:nvPr/>
        </p:nvSpPr>
        <p:spPr>
          <a:xfrm>
            <a:off x="1371600" y="5184648"/>
            <a:ext cx="3246120" cy="457200"/>
          </a:xfrm>
          <a:prstGeom prst="rect">
            <a:avLst/>
          </a:prstGeom>
          <a:noFill/>
          <a:ln/>
        </p:spPr>
        <p:txBody>
          <a:bodyPr wrap="square" rtlCol="0" anchor="ctr"/>
          <a:lstStyle/>
          <a:p>
            <a:pPr marL="0" indent="0">
              <a:buNone/>
            </a:pPr>
            <a:r>
              <a:rPr lang="pt-PT" sz="1400" noProof="0" dirty="0">
                <a:solidFill>
                  <a:srgbClr val="CFE3EC"/>
                </a:solidFill>
                <a:latin typeface="Calibri" pitchFamily="34" charset="0"/>
                <a:ea typeface="Calibri" pitchFamily="34" charset="-122"/>
                <a:cs typeface="Calibri" pitchFamily="34" charset="-120"/>
              </a:rPr>
              <a:t>temperatura da superfície</a:t>
            </a:r>
            <a:endParaRPr lang="pt-PT" sz="1400" noProof="0" dirty="0"/>
          </a:p>
        </p:txBody>
      </p:sp>
      <p:sp>
        <p:nvSpPr>
          <p:cNvPr id="21" name="Text 18"/>
          <p:cNvSpPr/>
          <p:nvPr/>
        </p:nvSpPr>
        <p:spPr>
          <a:xfrm>
            <a:off x="3703322" y="5184648"/>
            <a:ext cx="1371600" cy="457200"/>
          </a:xfrm>
          <a:prstGeom prst="rect">
            <a:avLst/>
          </a:prstGeom>
          <a:noFill/>
          <a:ln/>
        </p:spPr>
        <p:txBody>
          <a:bodyPr wrap="square" rtlCol="0" anchor="ctr"/>
          <a:lstStyle/>
          <a:p>
            <a:pPr marL="0" indent="0" algn="r">
              <a:buNone/>
            </a:pPr>
            <a:r>
              <a:rPr lang="pt-PT" sz="1400" i="1" noProof="0" dirty="0">
                <a:solidFill>
                  <a:srgbClr val="0FA3B1"/>
                </a:solidFill>
                <a:latin typeface="Calibri" pitchFamily="34" charset="0"/>
                <a:ea typeface="Calibri" pitchFamily="34" charset="-122"/>
                <a:cs typeface="Calibri" pitchFamily="34" charset="-120"/>
              </a:rPr>
              <a:t>K</a:t>
            </a:r>
            <a:endParaRPr lang="pt-PT" sz="1400" noProof="0" dirty="0"/>
          </a:p>
        </p:txBody>
      </p:sp>
      <p:sp>
        <p:nvSpPr>
          <p:cNvPr id="22" name="Text 19"/>
          <p:cNvSpPr/>
          <p:nvPr/>
        </p:nvSpPr>
        <p:spPr>
          <a:xfrm>
            <a:off x="6080760" y="5184648"/>
            <a:ext cx="548640" cy="457200"/>
          </a:xfrm>
          <a:prstGeom prst="rect">
            <a:avLst/>
          </a:prstGeom>
          <a:noFill/>
          <a:ln/>
        </p:spPr>
        <p:txBody>
          <a:bodyPr wrap="square" rtlCol="0" anchor="ctr"/>
          <a:lstStyle/>
          <a:p>
            <a:pPr marL="0" indent="0">
              <a:buNone/>
            </a:pPr>
            <a:r>
              <a:rPr lang="pt-PT" sz="1600" b="1" noProof="0" dirty="0">
                <a:solidFill>
                  <a:srgbClr val="E8602C"/>
                </a:solidFill>
                <a:latin typeface="Cambria" pitchFamily="34" charset="0"/>
                <a:ea typeface="Cambria" pitchFamily="34" charset="-122"/>
                <a:cs typeface="Cambria" pitchFamily="34" charset="-120"/>
              </a:rPr>
              <a:t>T∞</a:t>
            </a:r>
            <a:endParaRPr lang="pt-PT" sz="1600" noProof="0" dirty="0"/>
          </a:p>
        </p:txBody>
      </p:sp>
      <p:sp>
        <p:nvSpPr>
          <p:cNvPr id="23" name="Text 20"/>
          <p:cNvSpPr/>
          <p:nvPr/>
        </p:nvSpPr>
        <p:spPr>
          <a:xfrm>
            <a:off x="6629400" y="5184648"/>
            <a:ext cx="3246120" cy="457200"/>
          </a:xfrm>
          <a:prstGeom prst="rect">
            <a:avLst/>
          </a:prstGeom>
          <a:noFill/>
          <a:ln/>
        </p:spPr>
        <p:txBody>
          <a:bodyPr wrap="square" rtlCol="0" anchor="ctr"/>
          <a:lstStyle/>
          <a:p>
            <a:pPr marL="0" indent="0">
              <a:buNone/>
            </a:pPr>
            <a:r>
              <a:rPr lang="pt-PT" sz="1400" noProof="0" dirty="0">
                <a:solidFill>
                  <a:srgbClr val="CFE3EC"/>
                </a:solidFill>
                <a:latin typeface="Calibri" pitchFamily="34" charset="0"/>
                <a:ea typeface="Calibri" pitchFamily="34" charset="-122"/>
                <a:cs typeface="Calibri" pitchFamily="34" charset="-120"/>
              </a:rPr>
              <a:t>temperatura do fluido longe da parede</a:t>
            </a:r>
            <a:endParaRPr lang="pt-PT" sz="1400" noProof="0" dirty="0"/>
          </a:p>
        </p:txBody>
      </p:sp>
      <p:sp>
        <p:nvSpPr>
          <p:cNvPr id="24" name="Text 21"/>
          <p:cNvSpPr/>
          <p:nvPr/>
        </p:nvSpPr>
        <p:spPr>
          <a:xfrm>
            <a:off x="8961122" y="5184648"/>
            <a:ext cx="1371600" cy="457200"/>
          </a:xfrm>
          <a:prstGeom prst="rect">
            <a:avLst/>
          </a:prstGeom>
          <a:noFill/>
          <a:ln/>
        </p:spPr>
        <p:txBody>
          <a:bodyPr wrap="square" rtlCol="0" anchor="ctr"/>
          <a:lstStyle/>
          <a:p>
            <a:pPr marL="0" indent="0" algn="r">
              <a:buNone/>
            </a:pPr>
            <a:r>
              <a:rPr lang="pt-PT" sz="1400" i="1" noProof="0" dirty="0">
                <a:solidFill>
                  <a:srgbClr val="0FA3B1"/>
                </a:solidFill>
                <a:latin typeface="Calibri" pitchFamily="34" charset="0"/>
                <a:ea typeface="Calibri" pitchFamily="34" charset="-122"/>
                <a:cs typeface="Calibri" pitchFamily="34" charset="-120"/>
              </a:rPr>
              <a:t>K</a:t>
            </a:r>
            <a:endParaRPr lang="pt-PT" sz="1400" noProof="0" dirty="0"/>
          </a:p>
        </p:txBody>
      </p:sp>
      <p:sp>
        <p:nvSpPr>
          <p:cNvPr id="25" name="Text 22"/>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6" name="Text 23"/>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4 · Lei de Newton</a:t>
            </a:r>
            <a:endParaRPr lang="pt-PT" sz="950" noProof="0" dirty="0"/>
          </a:p>
        </p:txBody>
      </p:sp>
      <p:sp>
        <p:nvSpPr>
          <p:cNvPr id="27" name="Text 24"/>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14</a:t>
            </a:r>
            <a:endParaRPr lang="pt-PT" sz="950" noProof="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O COEFICIENTE CONVECTIVO</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h não é uma propriedade — depende do processo</a:t>
            </a:r>
            <a:endParaRPr lang="pt-PT" sz="3200" noProof="0" dirty="0"/>
          </a:p>
        </p:txBody>
      </p:sp>
      <p:sp>
        <p:nvSpPr>
          <p:cNvPr id="5" name="Shape 2"/>
          <p:cNvSpPr/>
          <p:nvPr/>
        </p:nvSpPr>
        <p:spPr>
          <a:xfrm>
            <a:off x="640080" y="1874520"/>
            <a:ext cx="10881360" cy="713232"/>
          </a:xfrm>
          <a:prstGeom prst="roundRect">
            <a:avLst>
              <a:gd name="adj" fmla="val 10256"/>
            </a:avLst>
          </a:prstGeom>
          <a:solidFill>
            <a:srgbClr val="EEF4F6"/>
          </a:solidFill>
          <a:ln/>
        </p:spPr>
        <p:txBody>
          <a:bodyPr/>
          <a:lstStyle/>
          <a:p>
            <a:endParaRPr lang="pt-PT" noProof="0" dirty="0"/>
          </a:p>
        </p:txBody>
      </p:sp>
      <p:sp>
        <p:nvSpPr>
          <p:cNvPr id="6" name="Shape 3"/>
          <p:cNvSpPr/>
          <p:nvPr/>
        </p:nvSpPr>
        <p:spPr>
          <a:xfrm>
            <a:off x="868680" y="2002536"/>
            <a:ext cx="457200" cy="457200"/>
          </a:xfrm>
          <a:prstGeom prst="ellipse">
            <a:avLst/>
          </a:prstGeom>
          <a:solidFill>
            <a:srgbClr val="065A82"/>
          </a:solidFill>
          <a:ln/>
        </p:spPr>
        <p:txBody>
          <a:bodyPr/>
          <a:lstStyle/>
          <a:p>
            <a:endParaRPr lang="pt-PT" noProof="0" dirty="0"/>
          </a:p>
        </p:txBody>
      </p:sp>
      <p:sp>
        <p:nvSpPr>
          <p:cNvPr id="7" name="Text 4"/>
          <p:cNvSpPr/>
          <p:nvPr/>
        </p:nvSpPr>
        <p:spPr>
          <a:xfrm>
            <a:off x="868680" y="2002536"/>
            <a:ext cx="457200" cy="457200"/>
          </a:xfrm>
          <a:prstGeom prst="rect">
            <a:avLst/>
          </a:prstGeom>
          <a:noFill/>
          <a:ln/>
        </p:spPr>
        <p:txBody>
          <a:bodyPr wrap="square" rtlCol="0" anchor="ctr"/>
          <a:lstStyle/>
          <a:p>
            <a:pPr marL="0" indent="0" algn="ctr">
              <a:buNone/>
            </a:pPr>
            <a:r>
              <a:rPr lang="pt-PT" sz="1300" b="1" noProof="0" dirty="0">
                <a:solidFill>
                  <a:srgbClr val="FFFFFF"/>
                </a:solidFill>
                <a:latin typeface="Calibri" pitchFamily="34" charset="0"/>
                <a:ea typeface="Calibri" pitchFamily="34" charset="-122"/>
                <a:cs typeface="Calibri" pitchFamily="34" charset="-120"/>
              </a:rPr>
              <a:t>1</a:t>
            </a:r>
            <a:endParaRPr lang="pt-PT" sz="1300" noProof="0" dirty="0"/>
          </a:p>
        </p:txBody>
      </p:sp>
      <p:sp>
        <p:nvSpPr>
          <p:cNvPr id="8" name="Text 5"/>
          <p:cNvSpPr/>
          <p:nvPr/>
        </p:nvSpPr>
        <p:spPr>
          <a:xfrm>
            <a:off x="1508760" y="1874520"/>
            <a:ext cx="3931920" cy="713232"/>
          </a:xfrm>
          <a:prstGeom prst="rect">
            <a:avLst/>
          </a:prstGeom>
          <a:noFill/>
          <a:ln/>
        </p:spPr>
        <p:txBody>
          <a:bodyPr wrap="square" rtlCol="0" anchor="ctr"/>
          <a:lstStyle/>
          <a:p>
            <a:pPr marL="0" indent="0">
              <a:buNone/>
            </a:pPr>
            <a:r>
              <a:rPr lang="pt-PT" sz="1400" b="1" noProof="0" dirty="0">
                <a:solidFill>
                  <a:srgbClr val="0B2545"/>
                </a:solidFill>
                <a:latin typeface="Calibri" pitchFamily="34" charset="0"/>
                <a:ea typeface="Calibri" pitchFamily="34" charset="-122"/>
                <a:cs typeface="Calibri" pitchFamily="34" charset="-120"/>
              </a:rPr>
              <a:t>Geometria da superfície</a:t>
            </a:r>
            <a:endParaRPr lang="pt-PT" sz="1400" noProof="0" dirty="0"/>
          </a:p>
        </p:txBody>
      </p:sp>
      <p:sp>
        <p:nvSpPr>
          <p:cNvPr id="9" name="Text 6"/>
          <p:cNvSpPr/>
          <p:nvPr/>
        </p:nvSpPr>
        <p:spPr>
          <a:xfrm>
            <a:off x="5577840" y="1874520"/>
            <a:ext cx="5760720" cy="713232"/>
          </a:xfrm>
          <a:prstGeom prst="rect">
            <a:avLst/>
          </a:prstGeom>
          <a:noFill/>
          <a:ln/>
        </p:spPr>
        <p:txBody>
          <a:bodyPr wrap="square" rtlCol="0" anchor="ctr"/>
          <a:lstStyle/>
          <a:p>
            <a:pPr marL="0" indent="0">
              <a:buNone/>
            </a:pPr>
            <a:r>
              <a:rPr lang="pt-PT" sz="1200" i="1" noProof="0" dirty="0">
                <a:solidFill>
                  <a:srgbClr val="57707A"/>
                </a:solidFill>
                <a:latin typeface="Calibri" pitchFamily="34" charset="0"/>
                <a:ea typeface="Calibri" pitchFamily="34" charset="-122"/>
                <a:cs typeface="Calibri" pitchFamily="34" charset="-120"/>
              </a:rPr>
              <a:t>placa plana, cilindro, esfera, tubo...</a:t>
            </a:r>
            <a:endParaRPr lang="pt-PT" sz="1200" noProof="0" dirty="0"/>
          </a:p>
        </p:txBody>
      </p:sp>
      <p:sp>
        <p:nvSpPr>
          <p:cNvPr id="10" name="Shape 7"/>
          <p:cNvSpPr/>
          <p:nvPr/>
        </p:nvSpPr>
        <p:spPr>
          <a:xfrm>
            <a:off x="640080" y="2715768"/>
            <a:ext cx="10881360" cy="713232"/>
          </a:xfrm>
          <a:prstGeom prst="roundRect">
            <a:avLst>
              <a:gd name="adj" fmla="val 10256"/>
            </a:avLst>
          </a:prstGeom>
          <a:solidFill>
            <a:srgbClr val="E4EEF1"/>
          </a:solidFill>
          <a:ln/>
        </p:spPr>
        <p:txBody>
          <a:bodyPr/>
          <a:lstStyle/>
          <a:p>
            <a:endParaRPr lang="pt-PT" noProof="0" dirty="0"/>
          </a:p>
        </p:txBody>
      </p:sp>
      <p:sp>
        <p:nvSpPr>
          <p:cNvPr id="11" name="Shape 8"/>
          <p:cNvSpPr/>
          <p:nvPr/>
        </p:nvSpPr>
        <p:spPr>
          <a:xfrm>
            <a:off x="868680" y="2843784"/>
            <a:ext cx="457200" cy="457200"/>
          </a:xfrm>
          <a:prstGeom prst="ellipse">
            <a:avLst/>
          </a:prstGeom>
          <a:solidFill>
            <a:srgbClr val="065A82"/>
          </a:solidFill>
          <a:ln/>
        </p:spPr>
        <p:txBody>
          <a:bodyPr/>
          <a:lstStyle/>
          <a:p>
            <a:endParaRPr lang="pt-PT" noProof="0" dirty="0"/>
          </a:p>
        </p:txBody>
      </p:sp>
      <p:sp>
        <p:nvSpPr>
          <p:cNvPr id="12" name="Text 9"/>
          <p:cNvSpPr/>
          <p:nvPr/>
        </p:nvSpPr>
        <p:spPr>
          <a:xfrm>
            <a:off x="868680" y="2843784"/>
            <a:ext cx="457200" cy="457200"/>
          </a:xfrm>
          <a:prstGeom prst="rect">
            <a:avLst/>
          </a:prstGeom>
          <a:noFill/>
          <a:ln/>
        </p:spPr>
        <p:txBody>
          <a:bodyPr wrap="square" rtlCol="0" anchor="ctr"/>
          <a:lstStyle/>
          <a:p>
            <a:pPr marL="0" indent="0" algn="ctr">
              <a:buNone/>
            </a:pPr>
            <a:r>
              <a:rPr lang="pt-PT" sz="1300" b="1" noProof="0" dirty="0">
                <a:solidFill>
                  <a:srgbClr val="FFFFFF"/>
                </a:solidFill>
                <a:latin typeface="Calibri" pitchFamily="34" charset="0"/>
                <a:ea typeface="Calibri" pitchFamily="34" charset="-122"/>
                <a:cs typeface="Calibri" pitchFamily="34" charset="-120"/>
              </a:rPr>
              <a:t>2</a:t>
            </a:r>
            <a:endParaRPr lang="pt-PT" sz="1300" noProof="0" dirty="0"/>
          </a:p>
        </p:txBody>
      </p:sp>
      <p:sp>
        <p:nvSpPr>
          <p:cNvPr id="13" name="Text 10"/>
          <p:cNvSpPr/>
          <p:nvPr/>
        </p:nvSpPr>
        <p:spPr>
          <a:xfrm>
            <a:off x="1508760" y="2715768"/>
            <a:ext cx="3931920" cy="713232"/>
          </a:xfrm>
          <a:prstGeom prst="rect">
            <a:avLst/>
          </a:prstGeom>
          <a:noFill/>
          <a:ln/>
        </p:spPr>
        <p:txBody>
          <a:bodyPr wrap="square" rtlCol="0" anchor="ctr"/>
          <a:lstStyle/>
          <a:p>
            <a:pPr marL="0" indent="0">
              <a:buNone/>
            </a:pPr>
            <a:r>
              <a:rPr lang="pt-PT" sz="1400" b="1" noProof="0" dirty="0">
                <a:solidFill>
                  <a:srgbClr val="0B2545"/>
                </a:solidFill>
                <a:latin typeface="Calibri" pitchFamily="34" charset="0"/>
                <a:ea typeface="Calibri" pitchFamily="34" charset="-122"/>
                <a:cs typeface="Calibri" pitchFamily="34" charset="-120"/>
              </a:rPr>
              <a:t>Regime de escoamento</a:t>
            </a:r>
            <a:endParaRPr lang="pt-PT" sz="1400" noProof="0" dirty="0"/>
          </a:p>
        </p:txBody>
      </p:sp>
      <p:sp>
        <p:nvSpPr>
          <p:cNvPr id="14" name="Text 11"/>
          <p:cNvSpPr/>
          <p:nvPr/>
        </p:nvSpPr>
        <p:spPr>
          <a:xfrm>
            <a:off x="5577840" y="2715768"/>
            <a:ext cx="5760720" cy="713232"/>
          </a:xfrm>
          <a:prstGeom prst="rect">
            <a:avLst/>
          </a:prstGeom>
          <a:noFill/>
          <a:ln/>
        </p:spPr>
        <p:txBody>
          <a:bodyPr wrap="square" rtlCol="0" anchor="ctr"/>
          <a:lstStyle/>
          <a:p>
            <a:pPr marL="0" indent="0">
              <a:buNone/>
            </a:pPr>
            <a:r>
              <a:rPr lang="pt-PT" sz="1200" i="1" noProof="0" dirty="0">
                <a:solidFill>
                  <a:srgbClr val="57707A"/>
                </a:solidFill>
                <a:latin typeface="Calibri" pitchFamily="34" charset="0"/>
                <a:ea typeface="Calibri" pitchFamily="34" charset="-122"/>
                <a:cs typeface="Calibri" pitchFamily="34" charset="-120"/>
              </a:rPr>
              <a:t>laminar ou turbulento</a:t>
            </a:r>
            <a:endParaRPr lang="pt-PT" sz="1200" noProof="0" dirty="0"/>
          </a:p>
        </p:txBody>
      </p:sp>
      <p:sp>
        <p:nvSpPr>
          <p:cNvPr id="15" name="Shape 12"/>
          <p:cNvSpPr/>
          <p:nvPr/>
        </p:nvSpPr>
        <p:spPr>
          <a:xfrm>
            <a:off x="640080" y="3557016"/>
            <a:ext cx="10881360" cy="713232"/>
          </a:xfrm>
          <a:prstGeom prst="roundRect">
            <a:avLst>
              <a:gd name="adj" fmla="val 10256"/>
            </a:avLst>
          </a:prstGeom>
          <a:solidFill>
            <a:srgbClr val="EEF4F6"/>
          </a:solidFill>
          <a:ln/>
        </p:spPr>
        <p:txBody>
          <a:bodyPr/>
          <a:lstStyle/>
          <a:p>
            <a:endParaRPr lang="pt-PT" noProof="0" dirty="0"/>
          </a:p>
        </p:txBody>
      </p:sp>
      <p:sp>
        <p:nvSpPr>
          <p:cNvPr id="16" name="Shape 13"/>
          <p:cNvSpPr/>
          <p:nvPr/>
        </p:nvSpPr>
        <p:spPr>
          <a:xfrm>
            <a:off x="868680" y="3685032"/>
            <a:ext cx="457200" cy="457200"/>
          </a:xfrm>
          <a:prstGeom prst="ellipse">
            <a:avLst/>
          </a:prstGeom>
          <a:solidFill>
            <a:srgbClr val="065A82"/>
          </a:solidFill>
          <a:ln/>
        </p:spPr>
        <p:txBody>
          <a:bodyPr/>
          <a:lstStyle/>
          <a:p>
            <a:endParaRPr lang="pt-PT" noProof="0" dirty="0"/>
          </a:p>
        </p:txBody>
      </p:sp>
      <p:sp>
        <p:nvSpPr>
          <p:cNvPr id="17" name="Text 14"/>
          <p:cNvSpPr/>
          <p:nvPr/>
        </p:nvSpPr>
        <p:spPr>
          <a:xfrm>
            <a:off x="868680" y="3685032"/>
            <a:ext cx="457200" cy="457200"/>
          </a:xfrm>
          <a:prstGeom prst="rect">
            <a:avLst/>
          </a:prstGeom>
          <a:noFill/>
          <a:ln/>
        </p:spPr>
        <p:txBody>
          <a:bodyPr wrap="square" rtlCol="0" anchor="ctr"/>
          <a:lstStyle/>
          <a:p>
            <a:pPr marL="0" indent="0" algn="ctr">
              <a:buNone/>
            </a:pPr>
            <a:r>
              <a:rPr lang="pt-PT" sz="1300" b="1" noProof="0" dirty="0">
                <a:solidFill>
                  <a:srgbClr val="FFFFFF"/>
                </a:solidFill>
                <a:latin typeface="Calibri" pitchFamily="34" charset="0"/>
                <a:ea typeface="Calibri" pitchFamily="34" charset="-122"/>
                <a:cs typeface="Calibri" pitchFamily="34" charset="-120"/>
              </a:rPr>
              <a:t>3</a:t>
            </a:r>
            <a:endParaRPr lang="pt-PT" sz="1300" noProof="0" dirty="0"/>
          </a:p>
        </p:txBody>
      </p:sp>
      <p:sp>
        <p:nvSpPr>
          <p:cNvPr id="18" name="Text 15"/>
          <p:cNvSpPr/>
          <p:nvPr/>
        </p:nvSpPr>
        <p:spPr>
          <a:xfrm>
            <a:off x="1508760" y="3557016"/>
            <a:ext cx="3931920" cy="713232"/>
          </a:xfrm>
          <a:prstGeom prst="rect">
            <a:avLst/>
          </a:prstGeom>
          <a:noFill/>
          <a:ln/>
        </p:spPr>
        <p:txBody>
          <a:bodyPr wrap="square" rtlCol="0" anchor="ctr"/>
          <a:lstStyle/>
          <a:p>
            <a:pPr marL="0" indent="0">
              <a:buNone/>
            </a:pPr>
            <a:r>
              <a:rPr lang="pt-PT" sz="1400" b="1" noProof="0" dirty="0">
                <a:solidFill>
                  <a:srgbClr val="0B2545"/>
                </a:solidFill>
                <a:latin typeface="Calibri" pitchFamily="34" charset="0"/>
                <a:ea typeface="Calibri" pitchFamily="34" charset="-122"/>
                <a:cs typeface="Calibri" pitchFamily="34" charset="-120"/>
              </a:rPr>
              <a:t>Natureza da convecção</a:t>
            </a:r>
            <a:endParaRPr lang="pt-PT" sz="1400" noProof="0" dirty="0"/>
          </a:p>
        </p:txBody>
      </p:sp>
      <p:sp>
        <p:nvSpPr>
          <p:cNvPr id="19" name="Text 16"/>
          <p:cNvSpPr/>
          <p:nvPr/>
        </p:nvSpPr>
        <p:spPr>
          <a:xfrm>
            <a:off x="5577840" y="3557016"/>
            <a:ext cx="5760720" cy="713232"/>
          </a:xfrm>
          <a:prstGeom prst="rect">
            <a:avLst/>
          </a:prstGeom>
          <a:noFill/>
          <a:ln/>
        </p:spPr>
        <p:txBody>
          <a:bodyPr wrap="square" rtlCol="0" anchor="ctr"/>
          <a:lstStyle/>
          <a:p>
            <a:pPr marL="0" indent="0">
              <a:buNone/>
            </a:pPr>
            <a:r>
              <a:rPr lang="pt-PT" sz="1200" i="1" noProof="0" dirty="0">
                <a:solidFill>
                  <a:srgbClr val="57707A"/>
                </a:solidFill>
                <a:latin typeface="Calibri" pitchFamily="34" charset="0"/>
                <a:ea typeface="Calibri" pitchFamily="34" charset="-122"/>
                <a:cs typeface="Calibri" pitchFamily="34" charset="-120"/>
              </a:rPr>
              <a:t>natural ou forçada</a:t>
            </a:r>
            <a:endParaRPr lang="pt-PT" sz="1200" noProof="0" dirty="0"/>
          </a:p>
        </p:txBody>
      </p:sp>
      <p:sp>
        <p:nvSpPr>
          <p:cNvPr id="20" name="Shape 17"/>
          <p:cNvSpPr/>
          <p:nvPr/>
        </p:nvSpPr>
        <p:spPr>
          <a:xfrm>
            <a:off x="640080" y="4398264"/>
            <a:ext cx="10881360" cy="713232"/>
          </a:xfrm>
          <a:prstGeom prst="roundRect">
            <a:avLst>
              <a:gd name="adj" fmla="val 10256"/>
            </a:avLst>
          </a:prstGeom>
          <a:solidFill>
            <a:srgbClr val="E4EEF1"/>
          </a:solidFill>
          <a:ln/>
        </p:spPr>
        <p:txBody>
          <a:bodyPr/>
          <a:lstStyle/>
          <a:p>
            <a:endParaRPr lang="pt-PT" noProof="0" dirty="0"/>
          </a:p>
        </p:txBody>
      </p:sp>
      <p:sp>
        <p:nvSpPr>
          <p:cNvPr id="21" name="Shape 18"/>
          <p:cNvSpPr/>
          <p:nvPr/>
        </p:nvSpPr>
        <p:spPr>
          <a:xfrm>
            <a:off x="868680" y="4526280"/>
            <a:ext cx="457200" cy="457200"/>
          </a:xfrm>
          <a:prstGeom prst="ellipse">
            <a:avLst/>
          </a:prstGeom>
          <a:solidFill>
            <a:srgbClr val="065A82"/>
          </a:solidFill>
          <a:ln/>
        </p:spPr>
        <p:txBody>
          <a:bodyPr/>
          <a:lstStyle/>
          <a:p>
            <a:endParaRPr lang="pt-PT" noProof="0" dirty="0"/>
          </a:p>
        </p:txBody>
      </p:sp>
      <p:sp>
        <p:nvSpPr>
          <p:cNvPr id="22" name="Text 19"/>
          <p:cNvSpPr/>
          <p:nvPr/>
        </p:nvSpPr>
        <p:spPr>
          <a:xfrm>
            <a:off x="868680" y="4526280"/>
            <a:ext cx="457200" cy="457200"/>
          </a:xfrm>
          <a:prstGeom prst="rect">
            <a:avLst/>
          </a:prstGeom>
          <a:noFill/>
          <a:ln/>
        </p:spPr>
        <p:txBody>
          <a:bodyPr wrap="square" rtlCol="0" anchor="ctr"/>
          <a:lstStyle/>
          <a:p>
            <a:pPr marL="0" indent="0" algn="ctr">
              <a:buNone/>
            </a:pPr>
            <a:r>
              <a:rPr lang="pt-PT" sz="1300" b="1" noProof="0" dirty="0">
                <a:solidFill>
                  <a:srgbClr val="FFFFFF"/>
                </a:solidFill>
                <a:latin typeface="Calibri" pitchFamily="34" charset="0"/>
                <a:ea typeface="Calibri" pitchFamily="34" charset="-122"/>
                <a:cs typeface="Calibri" pitchFamily="34" charset="-120"/>
              </a:rPr>
              <a:t>4</a:t>
            </a:r>
            <a:endParaRPr lang="pt-PT" sz="1300" noProof="0" dirty="0"/>
          </a:p>
        </p:txBody>
      </p:sp>
      <p:sp>
        <p:nvSpPr>
          <p:cNvPr id="23" name="Text 20"/>
          <p:cNvSpPr/>
          <p:nvPr/>
        </p:nvSpPr>
        <p:spPr>
          <a:xfrm>
            <a:off x="1508760" y="4398264"/>
            <a:ext cx="3931920" cy="713232"/>
          </a:xfrm>
          <a:prstGeom prst="rect">
            <a:avLst/>
          </a:prstGeom>
          <a:noFill/>
          <a:ln/>
        </p:spPr>
        <p:txBody>
          <a:bodyPr wrap="square" rtlCol="0" anchor="ctr"/>
          <a:lstStyle/>
          <a:p>
            <a:pPr marL="0" indent="0">
              <a:buNone/>
            </a:pPr>
            <a:r>
              <a:rPr lang="pt-PT" sz="1400" b="1" noProof="0" dirty="0">
                <a:solidFill>
                  <a:srgbClr val="0B2545"/>
                </a:solidFill>
                <a:latin typeface="Calibri" pitchFamily="34" charset="0"/>
                <a:ea typeface="Calibri" pitchFamily="34" charset="-122"/>
                <a:cs typeface="Calibri" pitchFamily="34" charset="-120"/>
              </a:rPr>
              <a:t>Propriedades do fluido</a:t>
            </a:r>
            <a:endParaRPr lang="pt-PT" sz="1400" noProof="0" dirty="0"/>
          </a:p>
        </p:txBody>
      </p:sp>
      <p:sp>
        <p:nvSpPr>
          <p:cNvPr id="24" name="Text 21"/>
          <p:cNvSpPr/>
          <p:nvPr/>
        </p:nvSpPr>
        <p:spPr>
          <a:xfrm>
            <a:off x="5577840" y="4398264"/>
            <a:ext cx="5760720" cy="713232"/>
          </a:xfrm>
          <a:prstGeom prst="rect">
            <a:avLst/>
          </a:prstGeom>
          <a:noFill/>
          <a:ln/>
        </p:spPr>
        <p:txBody>
          <a:bodyPr wrap="square" rtlCol="0" anchor="ctr"/>
          <a:lstStyle/>
          <a:p>
            <a:pPr marL="0" indent="0">
              <a:buNone/>
            </a:pPr>
            <a:r>
              <a:rPr lang="pt-PT" sz="1200" i="1" noProof="0" dirty="0" err="1">
                <a:solidFill>
                  <a:srgbClr val="57707A"/>
                </a:solidFill>
                <a:latin typeface="Calibri" pitchFamily="34" charset="0"/>
                <a:ea typeface="Calibri" pitchFamily="34" charset="-122"/>
                <a:cs typeface="Calibri" pitchFamily="34" charset="-120"/>
              </a:rPr>
              <a:t>ρ</a:t>
            </a:r>
            <a:r>
              <a:rPr lang="pt-PT" sz="1200" i="1" noProof="0" dirty="0">
                <a:solidFill>
                  <a:srgbClr val="57707A"/>
                </a:solidFill>
                <a:latin typeface="Calibri" pitchFamily="34" charset="0"/>
                <a:ea typeface="Calibri" pitchFamily="34" charset="-122"/>
                <a:cs typeface="Calibri" pitchFamily="34" charset="-120"/>
              </a:rPr>
              <a:t>, </a:t>
            </a:r>
            <a:r>
              <a:rPr lang="pt-PT" sz="1200" i="1" noProof="0" dirty="0" err="1">
                <a:solidFill>
                  <a:srgbClr val="57707A"/>
                </a:solidFill>
                <a:latin typeface="Calibri" pitchFamily="34" charset="0"/>
                <a:ea typeface="Calibri" pitchFamily="34" charset="-122"/>
                <a:cs typeface="Calibri" pitchFamily="34" charset="-120"/>
              </a:rPr>
              <a:t>μ</a:t>
            </a:r>
            <a:r>
              <a:rPr lang="pt-PT" sz="1200" i="1" noProof="0" dirty="0">
                <a:solidFill>
                  <a:srgbClr val="57707A"/>
                </a:solidFill>
                <a:latin typeface="Calibri" pitchFamily="34" charset="0"/>
                <a:ea typeface="Calibri" pitchFamily="34" charset="-122"/>
                <a:cs typeface="Calibri" pitchFamily="34" charset="-120"/>
              </a:rPr>
              <a:t>, k, </a:t>
            </a:r>
            <a:r>
              <a:rPr lang="pt-PT" sz="1200" i="1" noProof="0" dirty="0" err="1">
                <a:solidFill>
                  <a:srgbClr val="57707A"/>
                </a:solidFill>
                <a:latin typeface="Calibri" pitchFamily="34" charset="0"/>
                <a:ea typeface="Calibri" pitchFamily="34" charset="-122"/>
                <a:cs typeface="Calibri" pitchFamily="34" charset="-120"/>
              </a:rPr>
              <a:t>cp</a:t>
            </a:r>
            <a:r>
              <a:rPr lang="pt-PT" sz="1200" i="1" noProof="0" dirty="0">
                <a:solidFill>
                  <a:srgbClr val="57707A"/>
                </a:solidFill>
                <a:latin typeface="Calibri" pitchFamily="34" charset="0"/>
                <a:ea typeface="Calibri" pitchFamily="34" charset="-122"/>
                <a:cs typeface="Calibri" pitchFamily="34" charset="-120"/>
              </a:rPr>
              <a:t> — variam com T</a:t>
            </a:r>
            <a:endParaRPr lang="pt-PT" sz="1200" noProof="0" dirty="0"/>
          </a:p>
        </p:txBody>
      </p:sp>
      <p:sp>
        <p:nvSpPr>
          <p:cNvPr id="25" name="Shape 22"/>
          <p:cNvSpPr/>
          <p:nvPr/>
        </p:nvSpPr>
        <p:spPr>
          <a:xfrm>
            <a:off x="640080" y="5239512"/>
            <a:ext cx="10881360" cy="713232"/>
          </a:xfrm>
          <a:prstGeom prst="roundRect">
            <a:avLst>
              <a:gd name="adj" fmla="val 10256"/>
            </a:avLst>
          </a:prstGeom>
          <a:solidFill>
            <a:srgbClr val="EEF4F6"/>
          </a:solidFill>
          <a:ln/>
        </p:spPr>
        <p:txBody>
          <a:bodyPr/>
          <a:lstStyle/>
          <a:p>
            <a:endParaRPr lang="pt-PT" noProof="0" dirty="0"/>
          </a:p>
        </p:txBody>
      </p:sp>
      <p:sp>
        <p:nvSpPr>
          <p:cNvPr id="26" name="Shape 23"/>
          <p:cNvSpPr/>
          <p:nvPr/>
        </p:nvSpPr>
        <p:spPr>
          <a:xfrm>
            <a:off x="868680" y="5367528"/>
            <a:ext cx="457200" cy="457200"/>
          </a:xfrm>
          <a:prstGeom prst="ellipse">
            <a:avLst/>
          </a:prstGeom>
          <a:solidFill>
            <a:srgbClr val="065A82"/>
          </a:solidFill>
          <a:ln/>
        </p:spPr>
        <p:txBody>
          <a:bodyPr/>
          <a:lstStyle/>
          <a:p>
            <a:endParaRPr lang="pt-PT" noProof="0" dirty="0"/>
          </a:p>
        </p:txBody>
      </p:sp>
      <p:sp>
        <p:nvSpPr>
          <p:cNvPr id="27" name="Text 24"/>
          <p:cNvSpPr/>
          <p:nvPr/>
        </p:nvSpPr>
        <p:spPr>
          <a:xfrm>
            <a:off x="868680" y="5367528"/>
            <a:ext cx="457200" cy="457200"/>
          </a:xfrm>
          <a:prstGeom prst="rect">
            <a:avLst/>
          </a:prstGeom>
          <a:noFill/>
          <a:ln/>
        </p:spPr>
        <p:txBody>
          <a:bodyPr wrap="square" rtlCol="0" anchor="ctr"/>
          <a:lstStyle/>
          <a:p>
            <a:pPr marL="0" indent="0" algn="ctr">
              <a:buNone/>
            </a:pPr>
            <a:r>
              <a:rPr lang="pt-PT" sz="1300" b="1" noProof="0" dirty="0">
                <a:solidFill>
                  <a:srgbClr val="FFFFFF"/>
                </a:solidFill>
                <a:latin typeface="Calibri" pitchFamily="34" charset="0"/>
                <a:ea typeface="Calibri" pitchFamily="34" charset="-122"/>
                <a:cs typeface="Calibri" pitchFamily="34" charset="-120"/>
              </a:rPr>
              <a:t>5</a:t>
            </a:r>
            <a:endParaRPr lang="pt-PT" sz="1300" noProof="0" dirty="0"/>
          </a:p>
        </p:txBody>
      </p:sp>
      <p:sp>
        <p:nvSpPr>
          <p:cNvPr id="28" name="Text 25"/>
          <p:cNvSpPr/>
          <p:nvPr/>
        </p:nvSpPr>
        <p:spPr>
          <a:xfrm>
            <a:off x="1508760" y="5239512"/>
            <a:ext cx="3931920" cy="713232"/>
          </a:xfrm>
          <a:prstGeom prst="rect">
            <a:avLst/>
          </a:prstGeom>
          <a:noFill/>
          <a:ln/>
        </p:spPr>
        <p:txBody>
          <a:bodyPr wrap="square" rtlCol="0" anchor="ctr"/>
          <a:lstStyle/>
          <a:p>
            <a:pPr marL="0" indent="0">
              <a:buNone/>
            </a:pPr>
            <a:r>
              <a:rPr lang="pt-PT" sz="1400" b="1" noProof="0" dirty="0">
                <a:solidFill>
                  <a:srgbClr val="0B2545"/>
                </a:solidFill>
                <a:latin typeface="Calibri" pitchFamily="34" charset="0"/>
                <a:ea typeface="Calibri" pitchFamily="34" charset="-122"/>
                <a:cs typeface="Calibri" pitchFamily="34" charset="-120"/>
              </a:rPr>
              <a:t>Velocidade do escoamento</a:t>
            </a:r>
            <a:endParaRPr lang="pt-PT" sz="1400" noProof="0" dirty="0"/>
          </a:p>
        </p:txBody>
      </p:sp>
      <p:sp>
        <p:nvSpPr>
          <p:cNvPr id="29" name="Text 26"/>
          <p:cNvSpPr/>
          <p:nvPr/>
        </p:nvSpPr>
        <p:spPr>
          <a:xfrm>
            <a:off x="5577840" y="5239512"/>
            <a:ext cx="5760720" cy="713232"/>
          </a:xfrm>
          <a:prstGeom prst="rect">
            <a:avLst/>
          </a:prstGeom>
          <a:noFill/>
          <a:ln/>
        </p:spPr>
        <p:txBody>
          <a:bodyPr wrap="square" rtlCol="0" anchor="ctr"/>
          <a:lstStyle/>
          <a:p>
            <a:pPr marL="0" indent="0">
              <a:buNone/>
            </a:pPr>
            <a:r>
              <a:rPr lang="pt-PT" sz="1200" i="1" noProof="0" dirty="0">
                <a:solidFill>
                  <a:srgbClr val="57707A"/>
                </a:solidFill>
                <a:latin typeface="Calibri" pitchFamily="34" charset="0"/>
                <a:ea typeface="Calibri" pitchFamily="34" charset="-122"/>
                <a:cs typeface="Calibri" pitchFamily="34" charset="-120"/>
              </a:rPr>
              <a:t>quanto maior V, maior h (forçada)</a:t>
            </a:r>
            <a:endParaRPr lang="pt-PT" sz="1200" noProof="0" dirty="0"/>
          </a:p>
        </p:txBody>
      </p:sp>
      <p:sp>
        <p:nvSpPr>
          <p:cNvPr id="30" name="Text 27"/>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31" name="Text 28"/>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4 · Lei de Newton</a:t>
            </a:r>
            <a:endParaRPr lang="pt-PT" sz="950" noProof="0" dirty="0"/>
          </a:p>
        </p:txBody>
      </p:sp>
      <p:sp>
        <p:nvSpPr>
          <p:cNvPr id="32" name="Text 29"/>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15</a:t>
            </a:r>
            <a:endParaRPr lang="pt-PT" sz="950" noProof="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7E2B094-60B7-3E08-1CE9-CBCD0F9DB776}"/>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5E0DF4DB-6C2B-9A63-D9AF-79F81BEEACEF}"/>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O COEFICIENTE CONVECTIVO</a:t>
            </a:r>
            <a:endParaRPr lang="pt-PT" sz="1300" noProof="0" dirty="0"/>
          </a:p>
        </p:txBody>
      </p:sp>
      <p:sp>
        <p:nvSpPr>
          <p:cNvPr id="4" name="Text 1">
            <a:extLst>
              <a:ext uri="{FF2B5EF4-FFF2-40B4-BE49-F238E27FC236}">
                <a16:creationId xmlns:a16="http://schemas.microsoft.com/office/drawing/2014/main" id="{6D075211-1F17-BA2C-A0C0-B11781517EC2}"/>
              </a:ext>
            </a:extLst>
          </p:cNvPr>
          <p:cNvSpPr/>
          <p:nvPr/>
        </p:nvSpPr>
        <p:spPr>
          <a:xfrm>
            <a:off x="640080" y="775224"/>
            <a:ext cx="10881360" cy="822960"/>
          </a:xfrm>
          <a:prstGeom prst="rect">
            <a:avLst/>
          </a:prstGeom>
          <a:noFill/>
          <a:ln/>
        </p:spPr>
        <p:txBody>
          <a:bodyPr wrap="square" rtlCol="0" anchor="ctr"/>
          <a:lstStyle/>
          <a:p>
            <a:r>
              <a:rPr lang="pt-PT" sz="3200" b="1" dirty="0">
                <a:solidFill>
                  <a:srgbClr val="0B2545"/>
                </a:solidFill>
                <a:latin typeface="Cambria" pitchFamily="34" charset="0"/>
                <a:ea typeface="Cambria" pitchFamily="34" charset="-122"/>
                <a:cs typeface="Cambria" pitchFamily="34" charset="-120"/>
              </a:rPr>
              <a:t>Valores típicos do coeficiente de transferência de calor por convecção (h)</a:t>
            </a:r>
            <a:endParaRPr lang="pt-PT" sz="3200" noProof="0" dirty="0"/>
          </a:p>
        </p:txBody>
      </p:sp>
      <p:sp>
        <p:nvSpPr>
          <p:cNvPr id="23" name="Text 20">
            <a:extLst>
              <a:ext uri="{FF2B5EF4-FFF2-40B4-BE49-F238E27FC236}">
                <a16:creationId xmlns:a16="http://schemas.microsoft.com/office/drawing/2014/main" id="{18E92E49-A903-FA7B-91C8-464F5176F827}"/>
              </a:ext>
            </a:extLst>
          </p:cNvPr>
          <p:cNvSpPr/>
          <p:nvPr/>
        </p:nvSpPr>
        <p:spPr>
          <a:xfrm>
            <a:off x="822960" y="6080760"/>
            <a:ext cx="10515600" cy="320040"/>
          </a:xfrm>
          <a:prstGeom prst="rect">
            <a:avLst/>
          </a:prstGeom>
          <a:noFill/>
          <a:ln/>
        </p:spPr>
        <p:txBody>
          <a:bodyPr wrap="square" rtlCol="0" anchor="ctr"/>
          <a:lstStyle/>
          <a:p>
            <a:pPr marL="0" indent="0">
              <a:buNone/>
            </a:pPr>
            <a:r>
              <a:rPr lang="pt-PT" sz="950" i="1" noProof="0" dirty="0">
                <a:solidFill>
                  <a:srgbClr val="57707A"/>
                </a:solidFill>
                <a:latin typeface="Calibri" pitchFamily="34" charset="0"/>
                <a:ea typeface="Calibri" pitchFamily="34" charset="-122"/>
                <a:cs typeface="Calibri" pitchFamily="34" charset="-120"/>
              </a:rPr>
              <a:t>Fonte: valores de referência de </a:t>
            </a:r>
            <a:r>
              <a:rPr lang="pt-PT" sz="950" i="1" noProof="0" dirty="0" err="1">
                <a:solidFill>
                  <a:srgbClr val="57707A"/>
                </a:solidFill>
                <a:latin typeface="Calibri" pitchFamily="34" charset="0"/>
                <a:ea typeface="Calibri" pitchFamily="34" charset="-122"/>
                <a:cs typeface="Calibri" pitchFamily="34" charset="-120"/>
              </a:rPr>
              <a:t>Çengel</a:t>
            </a:r>
            <a:r>
              <a:rPr lang="pt-PT" sz="950" i="1" noProof="0" dirty="0">
                <a:solidFill>
                  <a:srgbClr val="57707A"/>
                </a:solidFill>
                <a:latin typeface="Calibri" pitchFamily="34" charset="0"/>
                <a:ea typeface="Calibri" pitchFamily="34" charset="-122"/>
                <a:cs typeface="Calibri" pitchFamily="34" charset="-120"/>
              </a:rPr>
              <a:t> &amp; </a:t>
            </a:r>
            <a:r>
              <a:rPr lang="pt-PT" sz="950" i="1" noProof="0" dirty="0" err="1">
                <a:solidFill>
                  <a:srgbClr val="57707A"/>
                </a:solidFill>
                <a:latin typeface="Calibri" pitchFamily="34" charset="0"/>
                <a:ea typeface="Calibri" pitchFamily="34" charset="-122"/>
                <a:cs typeface="Calibri" pitchFamily="34" charset="-120"/>
              </a:rPr>
              <a:t>Ghajar</a:t>
            </a:r>
            <a:r>
              <a:rPr lang="pt-PT" sz="950" i="1" noProof="0" dirty="0">
                <a:solidFill>
                  <a:srgbClr val="57707A"/>
                </a:solidFill>
                <a:latin typeface="Calibri" pitchFamily="34" charset="0"/>
                <a:ea typeface="Calibri" pitchFamily="34" charset="-122"/>
                <a:cs typeface="Calibri" pitchFamily="34" charset="-120"/>
              </a:rPr>
              <a:t> / </a:t>
            </a:r>
            <a:r>
              <a:rPr lang="pt-PT" sz="950" i="1" noProof="0" dirty="0" err="1">
                <a:solidFill>
                  <a:srgbClr val="57707A"/>
                </a:solidFill>
                <a:latin typeface="Calibri" pitchFamily="34" charset="0"/>
                <a:ea typeface="Calibri" pitchFamily="34" charset="-122"/>
                <a:cs typeface="Calibri" pitchFamily="34" charset="-120"/>
              </a:rPr>
              <a:t>Incropera</a:t>
            </a:r>
            <a:r>
              <a:rPr lang="pt-PT" sz="950" i="1" noProof="0" dirty="0">
                <a:solidFill>
                  <a:srgbClr val="57707A"/>
                </a:solidFill>
                <a:latin typeface="Calibri" pitchFamily="34" charset="0"/>
                <a:ea typeface="Calibri" pitchFamily="34" charset="-122"/>
                <a:cs typeface="Calibri" pitchFamily="34" charset="-120"/>
              </a:rPr>
              <a:t> — ordens de grandeza para orientação de projeto.</a:t>
            </a:r>
            <a:endParaRPr lang="pt-PT" sz="950" noProof="0" dirty="0"/>
          </a:p>
        </p:txBody>
      </p:sp>
      <p:sp>
        <p:nvSpPr>
          <p:cNvPr id="24" name="Text 21">
            <a:extLst>
              <a:ext uri="{FF2B5EF4-FFF2-40B4-BE49-F238E27FC236}">
                <a16:creationId xmlns:a16="http://schemas.microsoft.com/office/drawing/2014/main" id="{05ACC41F-36AD-D260-DEAD-51D87BC56ABA}"/>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5" name="Text 22">
            <a:extLst>
              <a:ext uri="{FF2B5EF4-FFF2-40B4-BE49-F238E27FC236}">
                <a16:creationId xmlns:a16="http://schemas.microsoft.com/office/drawing/2014/main" id="{02C51705-F2ED-4DEA-F5A6-C47F1CF7DE98}"/>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4 · Lei de Newton</a:t>
            </a:r>
            <a:endParaRPr lang="pt-PT" sz="950" noProof="0" dirty="0"/>
          </a:p>
        </p:txBody>
      </p:sp>
      <p:sp>
        <p:nvSpPr>
          <p:cNvPr id="26" name="Text 23">
            <a:extLst>
              <a:ext uri="{FF2B5EF4-FFF2-40B4-BE49-F238E27FC236}">
                <a16:creationId xmlns:a16="http://schemas.microsoft.com/office/drawing/2014/main" id="{7DD39463-F4F4-8141-B99C-B82BE0CC4A7F}"/>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16</a:t>
            </a:r>
            <a:endParaRPr lang="pt-PT" sz="950" noProof="0" dirty="0"/>
          </a:p>
        </p:txBody>
      </p:sp>
      <p:graphicFrame>
        <p:nvGraphicFramePr>
          <p:cNvPr id="2" name="Table 1">
            <a:extLst>
              <a:ext uri="{FF2B5EF4-FFF2-40B4-BE49-F238E27FC236}">
                <a16:creationId xmlns:a16="http://schemas.microsoft.com/office/drawing/2014/main" id="{B7EFCA78-D9A2-58D4-6316-40948BC7D540}"/>
              </a:ext>
            </a:extLst>
          </p:cNvPr>
          <p:cNvGraphicFramePr>
            <a:graphicFrameLocks noGrp="1"/>
          </p:cNvGraphicFramePr>
          <p:nvPr>
            <p:extLst>
              <p:ext uri="{D42A27DB-BD31-4B8C-83A1-F6EECF244321}">
                <p14:modId xmlns:p14="http://schemas.microsoft.com/office/powerpoint/2010/main" val="537138328"/>
              </p:ext>
            </p:extLst>
          </p:nvPr>
        </p:nvGraphicFramePr>
        <p:xfrm>
          <a:off x="822960" y="2224952"/>
          <a:ext cx="10261983" cy="3606507"/>
        </p:xfrm>
        <a:graphic>
          <a:graphicData uri="http://schemas.openxmlformats.org/drawingml/2006/table">
            <a:tbl>
              <a:tblPr firstRow="1" firstCol="1" bandRow="1">
                <a:tableStyleId>{5C22544A-7EE6-4342-B048-85BDC9FD1C3A}</a:tableStyleId>
              </a:tblPr>
              <a:tblGrid>
                <a:gridCol w="2183812">
                  <a:extLst>
                    <a:ext uri="{9D8B030D-6E8A-4147-A177-3AD203B41FA5}">
                      <a16:colId xmlns:a16="http://schemas.microsoft.com/office/drawing/2014/main" val="1089292331"/>
                    </a:ext>
                  </a:extLst>
                </a:gridCol>
                <a:gridCol w="4657145">
                  <a:extLst>
                    <a:ext uri="{9D8B030D-6E8A-4147-A177-3AD203B41FA5}">
                      <a16:colId xmlns:a16="http://schemas.microsoft.com/office/drawing/2014/main" val="877331068"/>
                    </a:ext>
                  </a:extLst>
                </a:gridCol>
                <a:gridCol w="3421026">
                  <a:extLst>
                    <a:ext uri="{9D8B030D-6E8A-4147-A177-3AD203B41FA5}">
                      <a16:colId xmlns:a16="http://schemas.microsoft.com/office/drawing/2014/main" val="3774610639"/>
                    </a:ext>
                  </a:extLst>
                </a:gridCol>
              </a:tblGrid>
              <a:tr h="607547">
                <a:tc gridSpan="2">
                  <a:txBody>
                    <a:bodyPr/>
                    <a:lstStyle/>
                    <a:p>
                      <a:pPr algn="ctr">
                        <a:lnSpc>
                          <a:spcPct val="115000"/>
                        </a:lnSpc>
                        <a:spcAft>
                          <a:spcPts val="800"/>
                        </a:spcAft>
                        <a:buNone/>
                      </a:pPr>
                      <a:r>
                        <a:rPr lang="pt-BR" sz="1800" kern="100" dirty="0">
                          <a:effectLst/>
                        </a:rPr>
                        <a:t>Processo</a:t>
                      </a:r>
                      <a:endParaRPr lang="en-BR"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35A81"/>
                    </a:solidFill>
                  </a:tcPr>
                </a:tc>
                <a:tc hMerge="1">
                  <a:txBody>
                    <a:bodyPr/>
                    <a:lstStyle/>
                    <a:p>
                      <a:endParaRPr lang="en-BR"/>
                    </a:p>
                  </a:txBody>
                  <a:tcPr/>
                </a:tc>
                <a:tc>
                  <a:txBody>
                    <a:bodyPr/>
                    <a:lstStyle/>
                    <a:p>
                      <a:pPr algn="ctr">
                        <a:lnSpc>
                          <a:spcPct val="115000"/>
                        </a:lnSpc>
                        <a:spcAft>
                          <a:spcPts val="800"/>
                        </a:spcAft>
                        <a:buNone/>
                      </a:pPr>
                      <a:r>
                        <a:rPr lang="pt-BR" sz="1800" kern="100" dirty="0" err="1">
                          <a:effectLst/>
                        </a:rPr>
                        <a:t>h</a:t>
                      </a:r>
                      <a:r>
                        <a:rPr lang="pt-BR" sz="1800" kern="100" dirty="0">
                          <a:effectLst/>
                        </a:rPr>
                        <a:t> (W/m</a:t>
                      </a:r>
                      <a:r>
                        <a:rPr lang="pt-BR" sz="1800" kern="100" baseline="30000" dirty="0">
                          <a:effectLst/>
                        </a:rPr>
                        <a:t>2</a:t>
                      </a:r>
                      <a:r>
                        <a:rPr lang="pt-BR" sz="1800" kern="100" dirty="0">
                          <a:effectLst/>
                        </a:rPr>
                        <a:t>.K)</a:t>
                      </a:r>
                      <a:endParaRPr lang="en-BR"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035A81"/>
                    </a:solidFill>
                  </a:tcPr>
                </a:tc>
                <a:extLst>
                  <a:ext uri="{0D108BD9-81ED-4DB2-BD59-A6C34878D82A}">
                    <a16:rowId xmlns:a16="http://schemas.microsoft.com/office/drawing/2014/main" val="2354309821"/>
                  </a:ext>
                </a:extLst>
              </a:tr>
              <a:tr h="599792">
                <a:tc rowSpan="2">
                  <a:txBody>
                    <a:bodyPr/>
                    <a:lstStyle/>
                    <a:p>
                      <a:pPr>
                        <a:lnSpc>
                          <a:spcPct val="115000"/>
                        </a:lnSpc>
                        <a:spcAft>
                          <a:spcPts val="800"/>
                        </a:spcAft>
                        <a:buNone/>
                      </a:pPr>
                      <a:r>
                        <a:rPr lang="pt-BR" sz="1800" kern="100" dirty="0">
                          <a:solidFill>
                            <a:schemeClr val="tx1"/>
                          </a:solidFill>
                          <a:effectLst/>
                        </a:rPr>
                        <a:t>Convecção natural</a:t>
                      </a:r>
                    </a:p>
                  </a:txBody>
                  <a:tcPr marL="68580" marR="68580" marT="0" marB="0" anchor="ctr">
                    <a:solidFill>
                      <a:srgbClr val="EEF5F7"/>
                    </a:solidFill>
                  </a:tcPr>
                </a:tc>
                <a:tc>
                  <a:txBody>
                    <a:bodyPr/>
                    <a:lstStyle/>
                    <a:p>
                      <a:pPr>
                        <a:lnSpc>
                          <a:spcPct val="115000"/>
                        </a:lnSpc>
                        <a:spcAft>
                          <a:spcPts val="800"/>
                        </a:spcAft>
                        <a:buNone/>
                      </a:pPr>
                      <a:r>
                        <a:rPr lang="pt-BR" sz="1800" kern="100" dirty="0">
                          <a:solidFill>
                            <a:srgbClr val="E8602C"/>
                          </a:solidFill>
                          <a:effectLst/>
                        </a:rPr>
                        <a:t>Gases</a:t>
                      </a:r>
                      <a:endParaRPr lang="en-BR" sz="1800" kern="100" dirty="0">
                        <a:solidFill>
                          <a:srgbClr val="E8602C"/>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EEF5F7"/>
                    </a:solidFill>
                  </a:tcPr>
                </a:tc>
                <a:tc>
                  <a:txBody>
                    <a:bodyPr/>
                    <a:lstStyle/>
                    <a:p>
                      <a:pPr algn="ctr">
                        <a:lnSpc>
                          <a:spcPct val="115000"/>
                        </a:lnSpc>
                        <a:spcAft>
                          <a:spcPts val="800"/>
                        </a:spcAft>
                        <a:buNone/>
                      </a:pPr>
                      <a:r>
                        <a:rPr lang="pt-BR" sz="1800" kern="100" dirty="0">
                          <a:solidFill>
                            <a:srgbClr val="E8602C"/>
                          </a:solidFill>
                          <a:effectLst/>
                        </a:rPr>
                        <a:t>2 – 25</a:t>
                      </a:r>
                      <a:endParaRPr lang="en-BR" sz="1800" kern="100" dirty="0">
                        <a:solidFill>
                          <a:srgbClr val="E8602C"/>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EEF5F7"/>
                    </a:solidFill>
                  </a:tcPr>
                </a:tc>
                <a:extLst>
                  <a:ext uri="{0D108BD9-81ED-4DB2-BD59-A6C34878D82A}">
                    <a16:rowId xmlns:a16="http://schemas.microsoft.com/office/drawing/2014/main" val="3104498080"/>
                  </a:ext>
                </a:extLst>
              </a:tr>
              <a:tr h="599792">
                <a:tc vMerge="1">
                  <a:txBody>
                    <a:bodyPr/>
                    <a:lstStyle/>
                    <a:p>
                      <a:endParaRPr dirty="0"/>
                    </a:p>
                  </a:txBody>
                  <a:tcPr marL="68580" marR="68580" marT="0" marB="0" anchor="ctr"/>
                </a:tc>
                <a:tc>
                  <a:txBody>
                    <a:bodyPr/>
                    <a:lstStyle/>
                    <a:p>
                      <a:pPr>
                        <a:lnSpc>
                          <a:spcPct val="115000"/>
                        </a:lnSpc>
                        <a:spcAft>
                          <a:spcPts val="800"/>
                        </a:spcAft>
                        <a:buNone/>
                      </a:pPr>
                      <a:r>
                        <a:rPr lang="pt-BR" sz="1800" kern="100" dirty="0">
                          <a:effectLst/>
                        </a:rPr>
                        <a:t>Líquidos</a:t>
                      </a:r>
                      <a:endParaRPr lang="en-BR"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FFFFFF"/>
                    </a:solidFill>
                  </a:tcPr>
                </a:tc>
                <a:tc>
                  <a:txBody>
                    <a:bodyPr/>
                    <a:lstStyle/>
                    <a:p>
                      <a:pPr algn="ctr">
                        <a:lnSpc>
                          <a:spcPct val="115000"/>
                        </a:lnSpc>
                        <a:spcAft>
                          <a:spcPts val="800"/>
                        </a:spcAft>
                        <a:buNone/>
                      </a:pPr>
                      <a:r>
                        <a:rPr lang="pt-BR" sz="1800" kern="100" dirty="0">
                          <a:effectLst/>
                        </a:rPr>
                        <a:t>50 – 1.000</a:t>
                      </a:r>
                      <a:endParaRPr lang="en-BR"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FFFFFF"/>
                    </a:solidFill>
                  </a:tcPr>
                </a:tc>
                <a:extLst>
                  <a:ext uri="{0D108BD9-81ED-4DB2-BD59-A6C34878D82A}">
                    <a16:rowId xmlns:a16="http://schemas.microsoft.com/office/drawing/2014/main" val="702342289"/>
                  </a:ext>
                </a:extLst>
              </a:tr>
              <a:tr h="599792">
                <a:tc rowSpan="2">
                  <a:txBody>
                    <a:bodyPr/>
                    <a:lstStyle/>
                    <a:p>
                      <a:pPr>
                        <a:lnSpc>
                          <a:spcPct val="115000"/>
                        </a:lnSpc>
                        <a:spcAft>
                          <a:spcPts val="800"/>
                        </a:spcAft>
                        <a:buNone/>
                      </a:pPr>
                      <a:r>
                        <a:rPr lang="pt-BR" sz="1800" kern="100" dirty="0">
                          <a:solidFill>
                            <a:schemeClr val="tx1"/>
                          </a:solidFill>
                          <a:effectLst/>
                        </a:rPr>
                        <a:t>Convecção forçada</a:t>
                      </a:r>
                    </a:p>
                  </a:txBody>
                  <a:tcPr marL="68580" marR="68580" marT="0" marB="0" anchor="ctr">
                    <a:solidFill>
                      <a:srgbClr val="FFFFFF"/>
                    </a:solidFill>
                  </a:tcPr>
                </a:tc>
                <a:tc>
                  <a:txBody>
                    <a:bodyPr/>
                    <a:lstStyle/>
                    <a:p>
                      <a:pPr>
                        <a:lnSpc>
                          <a:spcPct val="115000"/>
                        </a:lnSpc>
                        <a:spcAft>
                          <a:spcPts val="800"/>
                        </a:spcAft>
                        <a:buNone/>
                      </a:pPr>
                      <a:r>
                        <a:rPr lang="pt-BR" sz="1800" kern="100" dirty="0">
                          <a:solidFill>
                            <a:srgbClr val="E8602C"/>
                          </a:solidFill>
                          <a:effectLst/>
                        </a:rPr>
                        <a:t>Gases</a:t>
                      </a:r>
                      <a:endParaRPr lang="en-BR" sz="1800" kern="100" dirty="0">
                        <a:solidFill>
                          <a:srgbClr val="E8602C"/>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EEF5F7"/>
                    </a:solidFill>
                  </a:tcPr>
                </a:tc>
                <a:tc>
                  <a:txBody>
                    <a:bodyPr/>
                    <a:lstStyle/>
                    <a:p>
                      <a:pPr algn="ctr">
                        <a:lnSpc>
                          <a:spcPct val="115000"/>
                        </a:lnSpc>
                        <a:spcAft>
                          <a:spcPts val="800"/>
                        </a:spcAft>
                        <a:buNone/>
                      </a:pPr>
                      <a:r>
                        <a:rPr lang="pt-BR" sz="1800" kern="100" dirty="0">
                          <a:solidFill>
                            <a:srgbClr val="E8602C"/>
                          </a:solidFill>
                          <a:effectLst/>
                        </a:rPr>
                        <a:t>25 – 250</a:t>
                      </a:r>
                      <a:endParaRPr lang="en-BR" sz="1800" kern="100" dirty="0">
                        <a:solidFill>
                          <a:srgbClr val="E8602C"/>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EEF5F7"/>
                    </a:solidFill>
                  </a:tcPr>
                </a:tc>
                <a:extLst>
                  <a:ext uri="{0D108BD9-81ED-4DB2-BD59-A6C34878D82A}">
                    <a16:rowId xmlns:a16="http://schemas.microsoft.com/office/drawing/2014/main" val="232574927"/>
                  </a:ext>
                </a:extLst>
              </a:tr>
              <a:tr h="599792">
                <a:tc vMerge="1">
                  <a:txBody>
                    <a:bodyPr/>
                    <a:lstStyle/>
                    <a:p>
                      <a:endParaRPr dirty="0"/>
                    </a:p>
                  </a:txBody>
                  <a:tcPr marL="68580" marR="68580" marT="0" marB="0" anchor="ctr"/>
                </a:tc>
                <a:tc>
                  <a:txBody>
                    <a:bodyPr/>
                    <a:lstStyle/>
                    <a:p>
                      <a:pPr>
                        <a:lnSpc>
                          <a:spcPct val="115000"/>
                        </a:lnSpc>
                        <a:spcAft>
                          <a:spcPts val="800"/>
                        </a:spcAft>
                        <a:buNone/>
                      </a:pPr>
                      <a:r>
                        <a:rPr lang="pt-BR" sz="1800" kern="100" dirty="0">
                          <a:effectLst/>
                        </a:rPr>
                        <a:t>Líquidos</a:t>
                      </a:r>
                      <a:endParaRPr lang="en-BR"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FFFFFF"/>
                    </a:solidFill>
                  </a:tcPr>
                </a:tc>
                <a:tc>
                  <a:txBody>
                    <a:bodyPr/>
                    <a:lstStyle/>
                    <a:p>
                      <a:pPr algn="ctr">
                        <a:lnSpc>
                          <a:spcPct val="115000"/>
                        </a:lnSpc>
                        <a:spcAft>
                          <a:spcPts val="800"/>
                        </a:spcAft>
                        <a:buNone/>
                      </a:pPr>
                      <a:r>
                        <a:rPr lang="pt-BR" sz="1800" kern="100" dirty="0">
                          <a:effectLst/>
                        </a:rPr>
                        <a:t>100 – 20.000</a:t>
                      </a:r>
                      <a:endParaRPr lang="en-BR"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FFFFFF"/>
                    </a:solidFill>
                  </a:tcPr>
                </a:tc>
                <a:extLst>
                  <a:ext uri="{0D108BD9-81ED-4DB2-BD59-A6C34878D82A}">
                    <a16:rowId xmlns:a16="http://schemas.microsoft.com/office/drawing/2014/main" val="80501972"/>
                  </a:ext>
                </a:extLst>
              </a:tr>
              <a:tr h="599792">
                <a:tc gridSpan="2">
                  <a:txBody>
                    <a:bodyPr/>
                    <a:lstStyle/>
                    <a:p>
                      <a:pPr>
                        <a:lnSpc>
                          <a:spcPct val="115000"/>
                        </a:lnSpc>
                        <a:spcAft>
                          <a:spcPts val="800"/>
                        </a:spcAft>
                        <a:buNone/>
                      </a:pPr>
                      <a:r>
                        <a:rPr lang="pt-BR" sz="1800" kern="100" dirty="0">
                          <a:solidFill>
                            <a:schemeClr val="tx1"/>
                          </a:solidFill>
                          <a:effectLst/>
                        </a:rPr>
                        <a:t>Convecção com mudança de fase (ebulição ou condensação)</a:t>
                      </a:r>
                      <a:endParaRPr lang="en-BR" sz="18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EEF5F7"/>
                    </a:solidFill>
                  </a:tcPr>
                </a:tc>
                <a:tc hMerge="1">
                  <a:txBody>
                    <a:bodyPr/>
                    <a:lstStyle/>
                    <a:p>
                      <a:endParaRPr lang="en-BR"/>
                    </a:p>
                  </a:txBody>
                  <a:tcPr/>
                </a:tc>
                <a:tc>
                  <a:txBody>
                    <a:bodyPr/>
                    <a:lstStyle/>
                    <a:p>
                      <a:pPr algn="ctr">
                        <a:lnSpc>
                          <a:spcPct val="115000"/>
                        </a:lnSpc>
                        <a:spcAft>
                          <a:spcPts val="800"/>
                        </a:spcAft>
                        <a:buNone/>
                      </a:pPr>
                      <a:r>
                        <a:rPr lang="pt-BR" sz="1800" kern="100" dirty="0">
                          <a:effectLst/>
                        </a:rPr>
                        <a:t>2.500 – 100.000</a:t>
                      </a:r>
                      <a:endParaRPr lang="en-BR"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rgbClr val="EEF5F7"/>
                    </a:solidFill>
                  </a:tcPr>
                </a:tc>
                <a:extLst>
                  <a:ext uri="{0D108BD9-81ED-4DB2-BD59-A6C34878D82A}">
                    <a16:rowId xmlns:a16="http://schemas.microsoft.com/office/drawing/2014/main" val="2811706069"/>
                  </a:ext>
                </a:extLst>
              </a:tr>
            </a:tbl>
          </a:graphicData>
        </a:graphic>
      </p:graphicFrame>
    </p:spTree>
    <p:extLst>
      <p:ext uri="{BB962C8B-B14F-4D97-AF65-F5344CB8AC3E}">
        <p14:creationId xmlns:p14="http://schemas.microsoft.com/office/powerpoint/2010/main" val="39491177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O COEFICIENTE CONVECTIVO</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Como determinar h? </a:t>
            </a:r>
          </a:p>
          <a:p>
            <a:pPr marL="0" indent="0">
              <a:buNone/>
            </a:pPr>
            <a:r>
              <a:rPr lang="pt-PT" sz="3200" b="1" noProof="0" dirty="0">
                <a:solidFill>
                  <a:srgbClr val="0B2545"/>
                </a:solidFill>
                <a:latin typeface="Cambria" pitchFamily="34" charset="0"/>
                <a:ea typeface="Cambria" pitchFamily="34" charset="-122"/>
                <a:cs typeface="Cambria" pitchFamily="34" charset="-120"/>
              </a:rPr>
              <a:t>Abordagem empírica</a:t>
            </a:r>
            <a:endParaRPr lang="pt-PT" sz="3200" noProof="0" dirty="0"/>
          </a:p>
        </p:txBody>
      </p:sp>
      <p:sp>
        <p:nvSpPr>
          <p:cNvPr id="6" name="Shape 3"/>
          <p:cNvSpPr/>
          <p:nvPr/>
        </p:nvSpPr>
        <p:spPr>
          <a:xfrm>
            <a:off x="640080" y="2743200"/>
            <a:ext cx="10881360" cy="2834640"/>
          </a:xfrm>
          <a:prstGeom prst="roundRect">
            <a:avLst>
              <a:gd name="adj" fmla="val 3226"/>
            </a:avLst>
          </a:prstGeom>
          <a:solidFill>
            <a:srgbClr val="EEF4F6"/>
          </a:solidFill>
          <a:ln/>
        </p:spPr>
        <p:txBody>
          <a:bodyPr/>
          <a:lstStyle/>
          <a:p>
            <a:endParaRPr lang="pt-PT" noProof="0" dirty="0"/>
          </a:p>
        </p:txBody>
      </p:sp>
      <p:sp>
        <p:nvSpPr>
          <p:cNvPr id="8" name="Text 5"/>
          <p:cNvSpPr/>
          <p:nvPr/>
        </p:nvSpPr>
        <p:spPr>
          <a:xfrm>
            <a:off x="457200" y="2926080"/>
            <a:ext cx="10332720" cy="548640"/>
          </a:xfrm>
          <a:prstGeom prst="rect">
            <a:avLst/>
          </a:prstGeom>
          <a:noFill/>
          <a:ln/>
        </p:spPr>
        <p:txBody>
          <a:bodyPr wrap="square" rtlCol="0" anchor="ctr"/>
          <a:lstStyle/>
          <a:p>
            <a:pPr marL="0" indent="0" algn="ctr">
              <a:buNone/>
            </a:pPr>
            <a:r>
              <a:rPr lang="pt-PT" sz="2000" b="1" noProof="0" dirty="0">
                <a:solidFill>
                  <a:srgbClr val="0B2545"/>
                </a:solidFill>
                <a:latin typeface="Cambria" pitchFamily="34" charset="0"/>
                <a:ea typeface="Cambria" pitchFamily="34" charset="-122"/>
                <a:cs typeface="Cambria" pitchFamily="34" charset="-120"/>
              </a:rPr>
              <a:t>Correlações experimentais </a:t>
            </a:r>
            <a:endParaRPr lang="pt-PT" sz="2000" noProof="0" dirty="0"/>
          </a:p>
        </p:txBody>
      </p:sp>
      <p:sp>
        <p:nvSpPr>
          <p:cNvPr id="9" name="Shape 6"/>
          <p:cNvSpPr/>
          <p:nvPr/>
        </p:nvSpPr>
        <p:spPr>
          <a:xfrm>
            <a:off x="5486400" y="3977640"/>
            <a:ext cx="320040" cy="411480"/>
          </a:xfrm>
          <a:prstGeom prst="downArrow">
            <a:avLst/>
          </a:prstGeom>
          <a:solidFill>
            <a:srgbClr val="E8602C"/>
          </a:solidFill>
          <a:ln/>
        </p:spPr>
        <p:txBody>
          <a:bodyPr/>
          <a:lstStyle/>
          <a:p>
            <a:endParaRPr lang="pt-PT" noProof="0" dirty="0"/>
          </a:p>
        </p:txBody>
      </p:sp>
      <p:sp>
        <p:nvSpPr>
          <p:cNvPr id="11" name="Text 8"/>
          <p:cNvSpPr/>
          <p:nvPr/>
        </p:nvSpPr>
        <p:spPr>
          <a:xfrm>
            <a:off x="914400" y="4846320"/>
            <a:ext cx="10332720" cy="594360"/>
          </a:xfrm>
          <a:prstGeom prst="rect">
            <a:avLst/>
          </a:prstGeom>
          <a:noFill/>
          <a:ln/>
        </p:spPr>
        <p:txBody>
          <a:bodyPr wrap="square" rtlCol="0" anchor="ctr"/>
          <a:lstStyle/>
          <a:p>
            <a:pPr marL="0" indent="0">
              <a:buNone/>
            </a:pPr>
            <a:r>
              <a:rPr lang="pt-PT" sz="2400" b="1" noProof="0" dirty="0">
                <a:solidFill>
                  <a:srgbClr val="065A82"/>
                </a:solidFill>
                <a:latin typeface="Cambria" pitchFamily="34" charset="0"/>
                <a:ea typeface="Cambria" pitchFamily="34" charset="-122"/>
                <a:cs typeface="Cambria" pitchFamily="34" charset="-120"/>
              </a:rPr>
              <a:t>Expressas por equações relacionando números adimensionais</a:t>
            </a:r>
            <a:endParaRPr lang="pt-PT" sz="2400" noProof="0" dirty="0"/>
          </a:p>
        </p:txBody>
      </p:sp>
      <p:sp>
        <p:nvSpPr>
          <p:cNvPr id="13" name="Text 10"/>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14" name="Text 11"/>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5 · Adimensionais</a:t>
            </a:r>
            <a:endParaRPr lang="pt-PT" sz="950" noProof="0" dirty="0"/>
          </a:p>
        </p:txBody>
      </p:sp>
      <p:sp>
        <p:nvSpPr>
          <p:cNvPr id="15" name="Text 12"/>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17</a:t>
            </a:r>
            <a:endParaRPr lang="pt-PT" sz="950" noProof="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NÚMEROS ADIMENSIONAIS</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r>
              <a:rPr lang="pt-PT" sz="3200" b="1" noProof="0" dirty="0" err="1">
                <a:solidFill>
                  <a:srgbClr val="0B2545"/>
                </a:solidFill>
                <a:latin typeface="Cambria" pitchFamily="34" charset="0"/>
                <a:ea typeface="Cambria" pitchFamily="34" charset="-122"/>
                <a:cs typeface="Cambria" pitchFamily="34" charset="-120"/>
              </a:rPr>
              <a:t>Nusselt</a:t>
            </a:r>
            <a:r>
              <a:rPr lang="pt-PT" sz="3200" b="1" noProof="0" dirty="0">
                <a:solidFill>
                  <a:srgbClr val="0B2545"/>
                </a:solidFill>
                <a:latin typeface="Cambria" pitchFamily="34" charset="0"/>
                <a:ea typeface="Cambria" pitchFamily="34" charset="-122"/>
                <a:cs typeface="Cambria" pitchFamily="34" charset="-120"/>
              </a:rPr>
              <a:t>, Reynolds e </a:t>
            </a:r>
            <a:r>
              <a:rPr lang="pt-PT" sz="3200" b="1" noProof="0" dirty="0" err="1">
                <a:solidFill>
                  <a:srgbClr val="0B2545"/>
                </a:solidFill>
                <a:latin typeface="Cambria" pitchFamily="34" charset="0"/>
                <a:ea typeface="Cambria" pitchFamily="34" charset="-122"/>
                <a:cs typeface="Cambria" pitchFamily="34" charset="-120"/>
              </a:rPr>
              <a:t>Prandtl</a:t>
            </a:r>
            <a:r>
              <a:rPr lang="pt-PT" sz="3200" b="1" dirty="0">
                <a:solidFill>
                  <a:srgbClr val="0B2545"/>
                </a:solidFill>
                <a:latin typeface="Cambria" pitchFamily="34" charset="0"/>
                <a:ea typeface="Cambria" pitchFamily="34" charset="-122"/>
                <a:cs typeface="Cambria" pitchFamily="34" charset="-120"/>
              </a:rPr>
              <a:t> – Convecção forçada</a:t>
            </a:r>
            <a:endParaRPr lang="pt-PT" sz="3200" noProof="0" dirty="0"/>
          </a:p>
        </p:txBody>
      </p:sp>
      <p:sp>
        <p:nvSpPr>
          <p:cNvPr id="5" name="Shape 2"/>
          <p:cNvSpPr/>
          <p:nvPr/>
        </p:nvSpPr>
        <p:spPr>
          <a:xfrm>
            <a:off x="640080" y="1828800"/>
            <a:ext cx="3429000" cy="4069080"/>
          </a:xfrm>
          <a:prstGeom prst="roundRect">
            <a:avLst>
              <a:gd name="adj" fmla="val 2667"/>
            </a:avLst>
          </a:prstGeom>
          <a:solidFill>
            <a:srgbClr val="EEF4F6"/>
          </a:solidFill>
          <a:ln/>
        </p:spPr>
        <p:txBody>
          <a:bodyPr/>
          <a:lstStyle/>
          <a:p>
            <a:endParaRPr lang="pt-PT" noProof="0" dirty="0"/>
          </a:p>
        </p:txBody>
      </p:sp>
      <p:sp>
        <p:nvSpPr>
          <p:cNvPr id="6" name="Text 3"/>
          <p:cNvSpPr/>
          <p:nvPr/>
        </p:nvSpPr>
        <p:spPr>
          <a:xfrm>
            <a:off x="868680" y="2011680"/>
            <a:ext cx="2971800" cy="777240"/>
          </a:xfrm>
          <a:prstGeom prst="rect">
            <a:avLst/>
          </a:prstGeom>
          <a:noFill/>
          <a:ln/>
        </p:spPr>
        <p:txBody>
          <a:bodyPr wrap="square" rtlCol="0" anchor="ctr"/>
          <a:lstStyle/>
          <a:p>
            <a:pPr marL="0" indent="0">
              <a:buNone/>
            </a:pPr>
            <a:r>
              <a:rPr lang="pt-PT" sz="3200" b="1" noProof="0" dirty="0">
                <a:solidFill>
                  <a:srgbClr val="065A82"/>
                </a:solidFill>
                <a:latin typeface="Cambria" pitchFamily="34" charset="0"/>
                <a:ea typeface="Cambria" pitchFamily="34" charset="-122"/>
                <a:cs typeface="Cambria" pitchFamily="34" charset="-120"/>
              </a:rPr>
              <a:t>Nu</a:t>
            </a:r>
            <a:endParaRPr lang="pt-PT" sz="3200" noProof="0" dirty="0"/>
          </a:p>
        </p:txBody>
      </p:sp>
      <p:sp>
        <p:nvSpPr>
          <p:cNvPr id="7" name="Text 4"/>
          <p:cNvSpPr/>
          <p:nvPr/>
        </p:nvSpPr>
        <p:spPr>
          <a:xfrm>
            <a:off x="868680" y="2743200"/>
            <a:ext cx="2971800" cy="365760"/>
          </a:xfrm>
          <a:prstGeom prst="rect">
            <a:avLst/>
          </a:prstGeom>
          <a:noFill/>
          <a:ln/>
        </p:spPr>
        <p:txBody>
          <a:bodyPr wrap="square" rtlCol="0" anchor="ctr"/>
          <a:lstStyle/>
          <a:p>
            <a:pPr marL="0" indent="0">
              <a:buNone/>
            </a:pPr>
            <a:r>
              <a:rPr lang="pt-PT" sz="1250" b="1" noProof="0" dirty="0">
                <a:solidFill>
                  <a:srgbClr val="0B2545"/>
                </a:solidFill>
                <a:latin typeface="Calibri" pitchFamily="34" charset="0"/>
                <a:ea typeface="Calibri" pitchFamily="34" charset="-122"/>
                <a:cs typeface="Calibri" pitchFamily="34" charset="-120"/>
              </a:rPr>
              <a:t>Número de </a:t>
            </a:r>
            <a:r>
              <a:rPr lang="pt-PT" sz="1250" b="1" noProof="0" dirty="0" err="1">
                <a:solidFill>
                  <a:srgbClr val="0B2545"/>
                </a:solidFill>
                <a:latin typeface="Calibri" pitchFamily="34" charset="0"/>
                <a:ea typeface="Calibri" pitchFamily="34" charset="-122"/>
                <a:cs typeface="Calibri" pitchFamily="34" charset="-120"/>
              </a:rPr>
              <a:t>Nusselt</a:t>
            </a:r>
            <a:endParaRPr lang="pt-PT" sz="1250" noProof="0" dirty="0"/>
          </a:p>
        </p:txBody>
      </p:sp>
      <p:sp>
        <p:nvSpPr>
          <p:cNvPr id="8" name="Shape 5"/>
          <p:cNvSpPr/>
          <p:nvPr/>
        </p:nvSpPr>
        <p:spPr>
          <a:xfrm>
            <a:off x="868680" y="3200400"/>
            <a:ext cx="2971800" cy="502920"/>
          </a:xfrm>
          <a:prstGeom prst="roundRect">
            <a:avLst>
              <a:gd name="adj" fmla="val 10909"/>
            </a:avLst>
          </a:prstGeom>
          <a:solidFill>
            <a:srgbClr val="FFFFFF"/>
          </a:solidFill>
          <a:ln w="12700">
            <a:solidFill>
              <a:srgbClr val="D6E2E6"/>
            </a:solidFill>
            <a:prstDash val="solid"/>
          </a:ln>
        </p:spPr>
        <p:txBody>
          <a:bodyPr/>
          <a:lstStyle/>
          <a:p>
            <a:endParaRPr lang="pt-PT" noProof="0" dirty="0"/>
          </a:p>
        </p:txBody>
      </p:sp>
      <p:sp>
        <p:nvSpPr>
          <p:cNvPr id="9" name="Text 6"/>
          <p:cNvSpPr/>
          <p:nvPr/>
        </p:nvSpPr>
        <p:spPr>
          <a:xfrm>
            <a:off x="868680" y="3200400"/>
            <a:ext cx="2971800" cy="502920"/>
          </a:xfrm>
          <a:prstGeom prst="rect">
            <a:avLst/>
          </a:prstGeom>
          <a:noFill/>
          <a:ln/>
        </p:spPr>
        <p:txBody>
          <a:bodyPr wrap="square" rtlCol="0" anchor="ctr"/>
          <a:lstStyle/>
          <a:p>
            <a:pPr marL="0" indent="0" algn="ctr">
              <a:buNone/>
            </a:pPr>
            <a:r>
              <a:rPr lang="pt-PT" sz="1300" b="1" noProof="0" dirty="0">
                <a:solidFill>
                  <a:srgbClr val="E8602C"/>
                </a:solidFill>
                <a:latin typeface="Cambria" pitchFamily="34" charset="0"/>
                <a:ea typeface="Cambria" pitchFamily="34" charset="-122"/>
                <a:cs typeface="Cambria" pitchFamily="34" charset="-120"/>
              </a:rPr>
              <a:t>Nu = </a:t>
            </a:r>
            <a:r>
              <a:rPr lang="pt-PT" sz="1300" b="1" noProof="0" dirty="0" err="1">
                <a:solidFill>
                  <a:srgbClr val="E8602C"/>
                </a:solidFill>
                <a:latin typeface="Cambria" pitchFamily="34" charset="0"/>
                <a:ea typeface="Cambria" pitchFamily="34" charset="-122"/>
                <a:cs typeface="Cambria" pitchFamily="34" charset="-120"/>
              </a:rPr>
              <a:t>h·L</a:t>
            </a:r>
            <a:r>
              <a:rPr lang="pt-PT" sz="1300" b="1" noProof="0" dirty="0">
                <a:solidFill>
                  <a:srgbClr val="E8602C"/>
                </a:solidFill>
                <a:latin typeface="Cambria" pitchFamily="34" charset="0"/>
                <a:ea typeface="Cambria" pitchFamily="34" charset="-122"/>
                <a:cs typeface="Cambria" pitchFamily="34" charset="-120"/>
              </a:rPr>
              <a:t> / k</a:t>
            </a:r>
            <a:endParaRPr lang="pt-PT" sz="1300" noProof="0" dirty="0"/>
          </a:p>
        </p:txBody>
      </p:sp>
      <p:sp>
        <p:nvSpPr>
          <p:cNvPr id="10" name="Text 7"/>
          <p:cNvSpPr/>
          <p:nvPr/>
        </p:nvSpPr>
        <p:spPr>
          <a:xfrm>
            <a:off x="868680" y="3886200"/>
            <a:ext cx="2971800" cy="1828800"/>
          </a:xfrm>
          <a:prstGeom prst="rect">
            <a:avLst/>
          </a:prstGeom>
          <a:noFill/>
          <a:ln/>
        </p:spPr>
        <p:txBody>
          <a:bodyPr wrap="square" rtlCol="0" anchor="ctr"/>
          <a:lstStyle/>
          <a:p>
            <a:pPr marL="0" indent="0">
              <a:lnSpc>
                <a:spcPts val="1400"/>
              </a:lnSpc>
              <a:buNone/>
            </a:pPr>
            <a:r>
              <a:rPr lang="pt-PT" sz="1050" noProof="0" dirty="0">
                <a:solidFill>
                  <a:srgbClr val="182A32"/>
                </a:solidFill>
                <a:latin typeface="Calibri" pitchFamily="34" charset="0"/>
                <a:ea typeface="Calibri" pitchFamily="34" charset="-122"/>
                <a:cs typeface="Calibri" pitchFamily="34" charset="-120"/>
              </a:rPr>
              <a:t>Razão entre a transferência de calor por convecção e a que ocorreria só por condução no fluido.</a:t>
            </a:r>
            <a:endParaRPr lang="pt-PT" sz="1050" noProof="0" dirty="0"/>
          </a:p>
        </p:txBody>
      </p:sp>
      <p:sp>
        <p:nvSpPr>
          <p:cNvPr id="11" name="Shape 8"/>
          <p:cNvSpPr/>
          <p:nvPr/>
        </p:nvSpPr>
        <p:spPr>
          <a:xfrm>
            <a:off x="4343400" y="1828800"/>
            <a:ext cx="3429000" cy="4069080"/>
          </a:xfrm>
          <a:prstGeom prst="roundRect">
            <a:avLst>
              <a:gd name="adj" fmla="val 2667"/>
            </a:avLst>
          </a:prstGeom>
          <a:solidFill>
            <a:srgbClr val="EEF4F6"/>
          </a:solidFill>
          <a:ln/>
        </p:spPr>
        <p:txBody>
          <a:bodyPr/>
          <a:lstStyle/>
          <a:p>
            <a:endParaRPr lang="pt-PT" noProof="0" dirty="0"/>
          </a:p>
        </p:txBody>
      </p:sp>
      <p:sp>
        <p:nvSpPr>
          <p:cNvPr id="12" name="Text 9"/>
          <p:cNvSpPr/>
          <p:nvPr/>
        </p:nvSpPr>
        <p:spPr>
          <a:xfrm>
            <a:off x="4572000" y="2011680"/>
            <a:ext cx="2971800" cy="777240"/>
          </a:xfrm>
          <a:prstGeom prst="rect">
            <a:avLst/>
          </a:prstGeom>
          <a:noFill/>
          <a:ln/>
        </p:spPr>
        <p:txBody>
          <a:bodyPr wrap="square" rtlCol="0" anchor="ctr"/>
          <a:lstStyle/>
          <a:p>
            <a:pPr marL="0" indent="0">
              <a:buNone/>
            </a:pPr>
            <a:r>
              <a:rPr lang="pt-PT" sz="3200" b="1" noProof="0" dirty="0" err="1">
                <a:solidFill>
                  <a:srgbClr val="065A82"/>
                </a:solidFill>
                <a:latin typeface="Cambria" pitchFamily="34" charset="0"/>
                <a:ea typeface="Cambria" pitchFamily="34" charset="-122"/>
                <a:cs typeface="Cambria" pitchFamily="34" charset="-120"/>
              </a:rPr>
              <a:t>Re</a:t>
            </a:r>
            <a:endParaRPr lang="pt-PT" sz="3200" noProof="0" dirty="0"/>
          </a:p>
        </p:txBody>
      </p:sp>
      <p:sp>
        <p:nvSpPr>
          <p:cNvPr id="13" name="Text 10"/>
          <p:cNvSpPr/>
          <p:nvPr/>
        </p:nvSpPr>
        <p:spPr>
          <a:xfrm>
            <a:off x="4572000" y="2743200"/>
            <a:ext cx="2971800" cy="365760"/>
          </a:xfrm>
          <a:prstGeom prst="rect">
            <a:avLst/>
          </a:prstGeom>
          <a:noFill/>
          <a:ln/>
        </p:spPr>
        <p:txBody>
          <a:bodyPr wrap="square" rtlCol="0" anchor="ctr"/>
          <a:lstStyle/>
          <a:p>
            <a:pPr marL="0" indent="0">
              <a:buNone/>
            </a:pPr>
            <a:r>
              <a:rPr lang="pt-PT" sz="1250" b="1" noProof="0" dirty="0">
                <a:solidFill>
                  <a:srgbClr val="0B2545"/>
                </a:solidFill>
                <a:latin typeface="Calibri" pitchFamily="34" charset="0"/>
                <a:ea typeface="Calibri" pitchFamily="34" charset="-122"/>
                <a:cs typeface="Calibri" pitchFamily="34" charset="-120"/>
              </a:rPr>
              <a:t>Número de Reynolds</a:t>
            </a:r>
            <a:endParaRPr lang="pt-PT" sz="1250" noProof="0" dirty="0"/>
          </a:p>
        </p:txBody>
      </p:sp>
      <p:sp>
        <p:nvSpPr>
          <p:cNvPr id="14" name="Shape 11"/>
          <p:cNvSpPr/>
          <p:nvPr/>
        </p:nvSpPr>
        <p:spPr>
          <a:xfrm>
            <a:off x="4572000" y="3200400"/>
            <a:ext cx="2971800" cy="502920"/>
          </a:xfrm>
          <a:prstGeom prst="roundRect">
            <a:avLst>
              <a:gd name="adj" fmla="val 10909"/>
            </a:avLst>
          </a:prstGeom>
          <a:solidFill>
            <a:srgbClr val="FFFFFF"/>
          </a:solidFill>
          <a:ln w="12700">
            <a:solidFill>
              <a:srgbClr val="D6E2E6"/>
            </a:solidFill>
            <a:prstDash val="solid"/>
          </a:ln>
        </p:spPr>
        <p:txBody>
          <a:bodyPr/>
          <a:lstStyle/>
          <a:p>
            <a:endParaRPr lang="pt-PT" noProof="0" dirty="0"/>
          </a:p>
        </p:txBody>
      </p:sp>
      <p:sp>
        <p:nvSpPr>
          <p:cNvPr id="15" name="Text 12"/>
          <p:cNvSpPr/>
          <p:nvPr/>
        </p:nvSpPr>
        <p:spPr>
          <a:xfrm>
            <a:off x="4572000" y="3200400"/>
            <a:ext cx="2971800" cy="502920"/>
          </a:xfrm>
          <a:prstGeom prst="rect">
            <a:avLst/>
          </a:prstGeom>
          <a:noFill/>
          <a:ln/>
        </p:spPr>
        <p:txBody>
          <a:bodyPr wrap="square" rtlCol="0" anchor="ctr"/>
          <a:lstStyle/>
          <a:p>
            <a:pPr marL="0" indent="0" algn="ctr">
              <a:buNone/>
            </a:pPr>
            <a:r>
              <a:rPr lang="pt-PT" sz="1300" b="1" noProof="0" dirty="0" err="1">
                <a:solidFill>
                  <a:srgbClr val="E8602C"/>
                </a:solidFill>
                <a:latin typeface="Cambria" pitchFamily="34" charset="0"/>
                <a:ea typeface="Cambria" pitchFamily="34" charset="-122"/>
                <a:cs typeface="Cambria" pitchFamily="34" charset="-120"/>
              </a:rPr>
              <a:t>Re</a:t>
            </a:r>
            <a:r>
              <a:rPr lang="pt-PT" sz="1300" b="1" noProof="0" dirty="0">
                <a:solidFill>
                  <a:srgbClr val="E8602C"/>
                </a:solidFill>
                <a:latin typeface="Cambria" pitchFamily="34" charset="0"/>
                <a:ea typeface="Cambria" pitchFamily="34" charset="-122"/>
                <a:cs typeface="Cambria" pitchFamily="34" charset="-120"/>
              </a:rPr>
              <a:t> = </a:t>
            </a:r>
            <a:r>
              <a:rPr lang="pt-PT" sz="1300" b="1" noProof="0" dirty="0" err="1">
                <a:solidFill>
                  <a:srgbClr val="E8602C"/>
                </a:solidFill>
                <a:latin typeface="Cambria" pitchFamily="34" charset="0"/>
                <a:ea typeface="Cambria" pitchFamily="34" charset="-122"/>
                <a:cs typeface="Cambria" pitchFamily="34" charset="-120"/>
              </a:rPr>
              <a:t>ρ·V·L</a:t>
            </a:r>
            <a:r>
              <a:rPr lang="pt-PT" sz="1300" b="1" noProof="0" dirty="0">
                <a:solidFill>
                  <a:srgbClr val="E8602C"/>
                </a:solidFill>
                <a:latin typeface="Cambria" pitchFamily="34" charset="0"/>
                <a:ea typeface="Cambria" pitchFamily="34" charset="-122"/>
                <a:cs typeface="Cambria" pitchFamily="34" charset="-120"/>
              </a:rPr>
              <a:t> / </a:t>
            </a:r>
            <a:r>
              <a:rPr lang="pt-PT" sz="1300" b="1" noProof="0" dirty="0" err="1">
                <a:solidFill>
                  <a:srgbClr val="E8602C"/>
                </a:solidFill>
                <a:latin typeface="Cambria" pitchFamily="34" charset="0"/>
                <a:ea typeface="Cambria" pitchFamily="34" charset="-122"/>
                <a:cs typeface="Cambria" pitchFamily="34" charset="-120"/>
              </a:rPr>
              <a:t>μ</a:t>
            </a:r>
            <a:endParaRPr lang="pt-PT" sz="1300" noProof="0" dirty="0"/>
          </a:p>
        </p:txBody>
      </p:sp>
      <p:sp>
        <p:nvSpPr>
          <p:cNvPr id="16" name="Text 13"/>
          <p:cNvSpPr/>
          <p:nvPr/>
        </p:nvSpPr>
        <p:spPr>
          <a:xfrm>
            <a:off x="4572000" y="3886200"/>
            <a:ext cx="2971800" cy="1828800"/>
          </a:xfrm>
          <a:prstGeom prst="rect">
            <a:avLst/>
          </a:prstGeom>
          <a:noFill/>
          <a:ln/>
        </p:spPr>
        <p:txBody>
          <a:bodyPr wrap="square" rtlCol="0" anchor="ctr"/>
          <a:lstStyle/>
          <a:p>
            <a:pPr marL="0" indent="0">
              <a:lnSpc>
                <a:spcPts val="1400"/>
              </a:lnSpc>
              <a:buNone/>
            </a:pPr>
            <a:r>
              <a:rPr lang="pt-PT" sz="1050" noProof="0" dirty="0">
                <a:solidFill>
                  <a:srgbClr val="182A32"/>
                </a:solidFill>
                <a:latin typeface="Calibri" pitchFamily="34" charset="0"/>
                <a:ea typeface="Calibri" pitchFamily="34" charset="-122"/>
                <a:cs typeface="Calibri" pitchFamily="34" charset="-120"/>
              </a:rPr>
              <a:t>Razão entre forças de inércia e viscosas — já usado para definir o regime laminar/turbulento.</a:t>
            </a:r>
            <a:endParaRPr lang="pt-PT" sz="1050" noProof="0" dirty="0"/>
          </a:p>
        </p:txBody>
      </p:sp>
      <p:sp>
        <p:nvSpPr>
          <p:cNvPr id="17" name="Shape 14"/>
          <p:cNvSpPr/>
          <p:nvPr/>
        </p:nvSpPr>
        <p:spPr>
          <a:xfrm>
            <a:off x="8046720" y="1828800"/>
            <a:ext cx="3429000" cy="4069080"/>
          </a:xfrm>
          <a:prstGeom prst="roundRect">
            <a:avLst>
              <a:gd name="adj" fmla="val 2667"/>
            </a:avLst>
          </a:prstGeom>
          <a:solidFill>
            <a:srgbClr val="EEF4F6"/>
          </a:solidFill>
          <a:ln/>
        </p:spPr>
        <p:txBody>
          <a:bodyPr/>
          <a:lstStyle/>
          <a:p>
            <a:endParaRPr lang="pt-PT" noProof="0" dirty="0"/>
          </a:p>
        </p:txBody>
      </p:sp>
      <p:sp>
        <p:nvSpPr>
          <p:cNvPr id="18" name="Text 15"/>
          <p:cNvSpPr/>
          <p:nvPr/>
        </p:nvSpPr>
        <p:spPr>
          <a:xfrm>
            <a:off x="8275320" y="2011680"/>
            <a:ext cx="2971800" cy="777240"/>
          </a:xfrm>
          <a:prstGeom prst="rect">
            <a:avLst/>
          </a:prstGeom>
          <a:noFill/>
          <a:ln/>
        </p:spPr>
        <p:txBody>
          <a:bodyPr wrap="square" rtlCol="0" anchor="ctr"/>
          <a:lstStyle/>
          <a:p>
            <a:pPr marL="0" indent="0">
              <a:buNone/>
            </a:pPr>
            <a:r>
              <a:rPr lang="pt-PT" sz="3200" b="1" noProof="0" dirty="0" err="1">
                <a:solidFill>
                  <a:srgbClr val="065A82"/>
                </a:solidFill>
                <a:latin typeface="Cambria" pitchFamily="34" charset="0"/>
                <a:ea typeface="Cambria" pitchFamily="34" charset="-122"/>
                <a:cs typeface="Cambria" pitchFamily="34" charset="-120"/>
              </a:rPr>
              <a:t>Pr</a:t>
            </a:r>
            <a:endParaRPr lang="pt-PT" sz="3200" noProof="0" dirty="0"/>
          </a:p>
        </p:txBody>
      </p:sp>
      <p:sp>
        <p:nvSpPr>
          <p:cNvPr id="19" name="Text 16"/>
          <p:cNvSpPr/>
          <p:nvPr/>
        </p:nvSpPr>
        <p:spPr>
          <a:xfrm>
            <a:off x="8275320" y="2743200"/>
            <a:ext cx="2971800" cy="365760"/>
          </a:xfrm>
          <a:prstGeom prst="rect">
            <a:avLst/>
          </a:prstGeom>
          <a:noFill/>
          <a:ln/>
        </p:spPr>
        <p:txBody>
          <a:bodyPr wrap="square" rtlCol="0" anchor="ctr"/>
          <a:lstStyle/>
          <a:p>
            <a:pPr marL="0" indent="0">
              <a:buNone/>
            </a:pPr>
            <a:r>
              <a:rPr lang="pt-PT" sz="1250" b="1" noProof="0" dirty="0">
                <a:solidFill>
                  <a:srgbClr val="0B2545"/>
                </a:solidFill>
                <a:latin typeface="Calibri" pitchFamily="34" charset="0"/>
                <a:ea typeface="Calibri" pitchFamily="34" charset="-122"/>
                <a:cs typeface="Calibri" pitchFamily="34" charset="-120"/>
              </a:rPr>
              <a:t>Número de </a:t>
            </a:r>
            <a:r>
              <a:rPr lang="pt-PT" sz="1250" b="1" noProof="0" dirty="0" err="1">
                <a:solidFill>
                  <a:srgbClr val="0B2545"/>
                </a:solidFill>
                <a:latin typeface="Calibri" pitchFamily="34" charset="0"/>
                <a:ea typeface="Calibri" pitchFamily="34" charset="-122"/>
                <a:cs typeface="Calibri" pitchFamily="34" charset="-120"/>
              </a:rPr>
              <a:t>Prandtl</a:t>
            </a:r>
            <a:endParaRPr lang="pt-PT" sz="1250" noProof="0" dirty="0"/>
          </a:p>
        </p:txBody>
      </p:sp>
      <p:sp>
        <p:nvSpPr>
          <p:cNvPr id="20" name="Shape 17"/>
          <p:cNvSpPr/>
          <p:nvPr/>
        </p:nvSpPr>
        <p:spPr>
          <a:xfrm>
            <a:off x="8275320" y="3200400"/>
            <a:ext cx="2971800" cy="502920"/>
          </a:xfrm>
          <a:prstGeom prst="roundRect">
            <a:avLst>
              <a:gd name="adj" fmla="val 10909"/>
            </a:avLst>
          </a:prstGeom>
          <a:solidFill>
            <a:srgbClr val="FFFFFF"/>
          </a:solidFill>
          <a:ln w="12700">
            <a:solidFill>
              <a:srgbClr val="D6E2E6"/>
            </a:solidFill>
            <a:prstDash val="solid"/>
          </a:ln>
        </p:spPr>
        <p:txBody>
          <a:bodyPr/>
          <a:lstStyle/>
          <a:p>
            <a:endParaRPr lang="pt-PT" noProof="0" dirty="0"/>
          </a:p>
        </p:txBody>
      </p:sp>
      <p:sp>
        <p:nvSpPr>
          <p:cNvPr id="21" name="Text 18"/>
          <p:cNvSpPr/>
          <p:nvPr/>
        </p:nvSpPr>
        <p:spPr>
          <a:xfrm>
            <a:off x="8275320" y="3200400"/>
            <a:ext cx="2971800" cy="502920"/>
          </a:xfrm>
          <a:prstGeom prst="rect">
            <a:avLst/>
          </a:prstGeom>
          <a:noFill/>
          <a:ln/>
        </p:spPr>
        <p:txBody>
          <a:bodyPr wrap="square" rtlCol="0" anchor="ctr"/>
          <a:lstStyle/>
          <a:p>
            <a:pPr marL="0" indent="0" algn="ctr">
              <a:buNone/>
            </a:pPr>
            <a:r>
              <a:rPr lang="pt-PT" sz="1300" b="1" noProof="0" dirty="0" err="1">
                <a:solidFill>
                  <a:srgbClr val="E8602C"/>
                </a:solidFill>
                <a:latin typeface="Cambria" pitchFamily="34" charset="0"/>
                <a:ea typeface="Cambria" pitchFamily="34" charset="-122"/>
                <a:cs typeface="Cambria" pitchFamily="34" charset="-120"/>
              </a:rPr>
              <a:t>Pr</a:t>
            </a:r>
            <a:r>
              <a:rPr lang="pt-PT" sz="1300" b="1" noProof="0" dirty="0">
                <a:solidFill>
                  <a:srgbClr val="E8602C"/>
                </a:solidFill>
                <a:latin typeface="Cambria" pitchFamily="34" charset="0"/>
                <a:ea typeface="Cambria" pitchFamily="34" charset="-122"/>
                <a:cs typeface="Cambria" pitchFamily="34" charset="-120"/>
              </a:rPr>
              <a:t> = </a:t>
            </a:r>
            <a:r>
              <a:rPr lang="pt-PT" sz="1300" b="1" noProof="0" dirty="0" err="1">
                <a:solidFill>
                  <a:srgbClr val="E8602C"/>
                </a:solidFill>
                <a:latin typeface="Cambria" pitchFamily="34" charset="0"/>
                <a:ea typeface="Cambria" pitchFamily="34" charset="-122"/>
                <a:cs typeface="Cambria" pitchFamily="34" charset="-120"/>
              </a:rPr>
              <a:t>ν</a:t>
            </a:r>
            <a:r>
              <a:rPr lang="pt-PT" sz="1300" b="1" noProof="0" dirty="0">
                <a:solidFill>
                  <a:srgbClr val="E8602C"/>
                </a:solidFill>
                <a:latin typeface="Cambria" pitchFamily="34" charset="0"/>
                <a:ea typeface="Cambria" pitchFamily="34" charset="-122"/>
                <a:cs typeface="Cambria" pitchFamily="34" charset="-120"/>
              </a:rPr>
              <a:t> / α</a:t>
            </a:r>
            <a:endParaRPr lang="pt-PT" sz="1300" noProof="0" dirty="0"/>
          </a:p>
        </p:txBody>
      </p:sp>
      <p:sp>
        <p:nvSpPr>
          <p:cNvPr id="22" name="Text 19"/>
          <p:cNvSpPr/>
          <p:nvPr/>
        </p:nvSpPr>
        <p:spPr>
          <a:xfrm>
            <a:off x="8275320" y="3886200"/>
            <a:ext cx="2971800" cy="1828800"/>
          </a:xfrm>
          <a:prstGeom prst="rect">
            <a:avLst/>
          </a:prstGeom>
          <a:noFill/>
          <a:ln/>
        </p:spPr>
        <p:txBody>
          <a:bodyPr wrap="square" rtlCol="0" anchor="ctr"/>
          <a:lstStyle/>
          <a:p>
            <a:pPr marL="0" indent="0">
              <a:lnSpc>
                <a:spcPts val="1400"/>
              </a:lnSpc>
              <a:buNone/>
            </a:pPr>
            <a:r>
              <a:rPr lang="pt-PT" sz="1050" noProof="0" dirty="0">
                <a:solidFill>
                  <a:srgbClr val="182A32"/>
                </a:solidFill>
                <a:latin typeface="Calibri" pitchFamily="34" charset="0"/>
                <a:ea typeface="Calibri" pitchFamily="34" charset="-122"/>
                <a:cs typeface="Calibri" pitchFamily="34" charset="-120"/>
              </a:rPr>
              <a:t>Razão entre a difusividade de momento e a difusividade térmica do fluido.</a:t>
            </a:r>
            <a:endParaRPr lang="pt-PT" sz="1050" noProof="0" dirty="0"/>
          </a:p>
        </p:txBody>
      </p:sp>
      <p:sp>
        <p:nvSpPr>
          <p:cNvPr id="23" name="Text 20"/>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4" name="Text 21"/>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5 · Adimensionais</a:t>
            </a:r>
            <a:endParaRPr lang="pt-PT" sz="950" noProof="0" dirty="0"/>
          </a:p>
        </p:txBody>
      </p:sp>
      <p:sp>
        <p:nvSpPr>
          <p:cNvPr id="25" name="Text 22"/>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18</a:t>
            </a:r>
            <a:endParaRPr lang="pt-PT" sz="950" noProof="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D965656-184F-9175-C646-E81D70C42A9E}"/>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A5CAEE6D-29FE-DEE2-70A7-BA44D6B13B43}"/>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NÚMEROS ADIMENSIONAIS</a:t>
            </a:r>
            <a:endParaRPr lang="pt-PT" sz="1300" noProof="0" dirty="0"/>
          </a:p>
        </p:txBody>
      </p:sp>
      <p:sp>
        <p:nvSpPr>
          <p:cNvPr id="4" name="Text 1">
            <a:extLst>
              <a:ext uri="{FF2B5EF4-FFF2-40B4-BE49-F238E27FC236}">
                <a16:creationId xmlns:a16="http://schemas.microsoft.com/office/drawing/2014/main" id="{CBDE4E1C-28EC-F4CA-7727-AA9663A6DF8C}"/>
              </a:ext>
            </a:extLst>
          </p:cNvPr>
          <p:cNvSpPr/>
          <p:nvPr/>
        </p:nvSpPr>
        <p:spPr>
          <a:xfrm>
            <a:off x="640080" y="713232"/>
            <a:ext cx="10881360" cy="822960"/>
          </a:xfrm>
          <a:prstGeom prst="rect">
            <a:avLst/>
          </a:prstGeom>
          <a:noFill/>
          <a:ln/>
        </p:spPr>
        <p:txBody>
          <a:bodyPr wrap="square" rtlCol="0" anchor="ctr"/>
          <a:lstStyle/>
          <a:p>
            <a:r>
              <a:rPr lang="pt-PT" sz="3200" b="1" noProof="0" dirty="0" err="1">
                <a:solidFill>
                  <a:srgbClr val="0B2545"/>
                </a:solidFill>
                <a:latin typeface="Cambria" pitchFamily="34" charset="0"/>
                <a:ea typeface="Cambria" pitchFamily="34" charset="-122"/>
                <a:cs typeface="Cambria" pitchFamily="34" charset="-120"/>
              </a:rPr>
              <a:t>Nusselt</a:t>
            </a:r>
            <a:r>
              <a:rPr lang="pt-PT" sz="3200" b="1" noProof="0" dirty="0">
                <a:solidFill>
                  <a:srgbClr val="0B2545"/>
                </a:solidFill>
                <a:latin typeface="Cambria" pitchFamily="34" charset="0"/>
                <a:ea typeface="Cambria" pitchFamily="34" charset="-122"/>
                <a:cs typeface="Cambria" pitchFamily="34" charset="-120"/>
              </a:rPr>
              <a:t>, </a:t>
            </a:r>
            <a:r>
              <a:rPr lang="pt-PT" sz="3200" b="1" dirty="0" err="1">
                <a:solidFill>
                  <a:srgbClr val="0B2545"/>
                </a:solidFill>
                <a:latin typeface="Cambria" pitchFamily="34" charset="0"/>
                <a:ea typeface="Cambria" pitchFamily="34" charset="-122"/>
                <a:cs typeface="Cambria" pitchFamily="34" charset="-120"/>
              </a:rPr>
              <a:t>Grashof</a:t>
            </a:r>
            <a:r>
              <a:rPr lang="pt-PT" sz="3200" b="1" noProof="0" dirty="0">
                <a:solidFill>
                  <a:srgbClr val="0B2545"/>
                </a:solidFill>
                <a:latin typeface="Cambria" pitchFamily="34" charset="0"/>
                <a:ea typeface="Cambria" pitchFamily="34" charset="-122"/>
                <a:cs typeface="Cambria" pitchFamily="34" charset="-120"/>
              </a:rPr>
              <a:t> e </a:t>
            </a:r>
            <a:r>
              <a:rPr lang="pt-PT" sz="3200" b="1" noProof="0" dirty="0" err="1">
                <a:solidFill>
                  <a:srgbClr val="0B2545"/>
                </a:solidFill>
                <a:latin typeface="Cambria" pitchFamily="34" charset="0"/>
                <a:ea typeface="Cambria" pitchFamily="34" charset="-122"/>
                <a:cs typeface="Cambria" pitchFamily="34" charset="-120"/>
              </a:rPr>
              <a:t>Prandtl</a:t>
            </a:r>
            <a:r>
              <a:rPr lang="pt-PT" sz="3200" b="1" dirty="0">
                <a:solidFill>
                  <a:srgbClr val="0B2545"/>
                </a:solidFill>
                <a:latin typeface="Cambria" pitchFamily="34" charset="0"/>
                <a:ea typeface="Cambria" pitchFamily="34" charset="-122"/>
                <a:cs typeface="Cambria" pitchFamily="34" charset="-120"/>
              </a:rPr>
              <a:t> – Convecção natural</a:t>
            </a:r>
            <a:endParaRPr lang="pt-PT" sz="3200" noProof="0" dirty="0"/>
          </a:p>
        </p:txBody>
      </p:sp>
      <p:sp>
        <p:nvSpPr>
          <p:cNvPr id="5" name="Shape 2">
            <a:extLst>
              <a:ext uri="{FF2B5EF4-FFF2-40B4-BE49-F238E27FC236}">
                <a16:creationId xmlns:a16="http://schemas.microsoft.com/office/drawing/2014/main" id="{C56907E9-9CA3-01EE-99AF-341C54B81026}"/>
              </a:ext>
            </a:extLst>
          </p:cNvPr>
          <p:cNvSpPr/>
          <p:nvPr/>
        </p:nvSpPr>
        <p:spPr>
          <a:xfrm>
            <a:off x="640080" y="1828800"/>
            <a:ext cx="3429000" cy="4069080"/>
          </a:xfrm>
          <a:prstGeom prst="roundRect">
            <a:avLst>
              <a:gd name="adj" fmla="val 2667"/>
            </a:avLst>
          </a:prstGeom>
          <a:solidFill>
            <a:srgbClr val="EEF4F6"/>
          </a:solidFill>
          <a:ln/>
        </p:spPr>
        <p:txBody>
          <a:bodyPr/>
          <a:lstStyle/>
          <a:p>
            <a:endParaRPr lang="pt-PT" noProof="0" dirty="0"/>
          </a:p>
        </p:txBody>
      </p:sp>
      <p:sp>
        <p:nvSpPr>
          <p:cNvPr id="6" name="Text 3">
            <a:extLst>
              <a:ext uri="{FF2B5EF4-FFF2-40B4-BE49-F238E27FC236}">
                <a16:creationId xmlns:a16="http://schemas.microsoft.com/office/drawing/2014/main" id="{8F27EF15-85F3-E6B0-78BB-F076C5BD678E}"/>
              </a:ext>
            </a:extLst>
          </p:cNvPr>
          <p:cNvSpPr/>
          <p:nvPr/>
        </p:nvSpPr>
        <p:spPr>
          <a:xfrm>
            <a:off x="868680" y="2011680"/>
            <a:ext cx="2971800" cy="777240"/>
          </a:xfrm>
          <a:prstGeom prst="rect">
            <a:avLst/>
          </a:prstGeom>
          <a:noFill/>
          <a:ln/>
        </p:spPr>
        <p:txBody>
          <a:bodyPr wrap="square" rtlCol="0" anchor="ctr"/>
          <a:lstStyle/>
          <a:p>
            <a:pPr marL="0" indent="0">
              <a:buNone/>
            </a:pPr>
            <a:r>
              <a:rPr lang="pt-PT" sz="3200" b="1" noProof="0" dirty="0">
                <a:solidFill>
                  <a:srgbClr val="065A82"/>
                </a:solidFill>
                <a:latin typeface="Cambria" pitchFamily="34" charset="0"/>
                <a:ea typeface="Cambria" pitchFamily="34" charset="-122"/>
                <a:cs typeface="Cambria" pitchFamily="34" charset="-120"/>
              </a:rPr>
              <a:t>Nu</a:t>
            </a:r>
            <a:endParaRPr lang="pt-PT" sz="3200" noProof="0" dirty="0"/>
          </a:p>
        </p:txBody>
      </p:sp>
      <p:sp>
        <p:nvSpPr>
          <p:cNvPr id="7" name="Text 4">
            <a:extLst>
              <a:ext uri="{FF2B5EF4-FFF2-40B4-BE49-F238E27FC236}">
                <a16:creationId xmlns:a16="http://schemas.microsoft.com/office/drawing/2014/main" id="{90BA6591-01F6-DF5D-5A33-2071529B5EFA}"/>
              </a:ext>
            </a:extLst>
          </p:cNvPr>
          <p:cNvSpPr/>
          <p:nvPr/>
        </p:nvSpPr>
        <p:spPr>
          <a:xfrm>
            <a:off x="868680" y="2743200"/>
            <a:ext cx="2971800" cy="365760"/>
          </a:xfrm>
          <a:prstGeom prst="rect">
            <a:avLst/>
          </a:prstGeom>
          <a:noFill/>
          <a:ln/>
        </p:spPr>
        <p:txBody>
          <a:bodyPr wrap="square" rtlCol="0" anchor="ctr"/>
          <a:lstStyle/>
          <a:p>
            <a:pPr marL="0" indent="0">
              <a:buNone/>
            </a:pPr>
            <a:r>
              <a:rPr lang="pt-PT" sz="1250" b="1" noProof="0" dirty="0">
                <a:solidFill>
                  <a:srgbClr val="0B2545"/>
                </a:solidFill>
                <a:latin typeface="Calibri" pitchFamily="34" charset="0"/>
                <a:ea typeface="Calibri" pitchFamily="34" charset="-122"/>
                <a:cs typeface="Calibri" pitchFamily="34" charset="-120"/>
              </a:rPr>
              <a:t>Número de </a:t>
            </a:r>
            <a:r>
              <a:rPr lang="pt-PT" sz="1250" b="1" noProof="0" dirty="0" err="1">
                <a:solidFill>
                  <a:srgbClr val="0B2545"/>
                </a:solidFill>
                <a:latin typeface="Calibri" pitchFamily="34" charset="0"/>
                <a:ea typeface="Calibri" pitchFamily="34" charset="-122"/>
                <a:cs typeface="Calibri" pitchFamily="34" charset="-120"/>
              </a:rPr>
              <a:t>Nusselt</a:t>
            </a:r>
            <a:endParaRPr lang="pt-PT" sz="1250" noProof="0" dirty="0"/>
          </a:p>
        </p:txBody>
      </p:sp>
      <p:sp>
        <p:nvSpPr>
          <p:cNvPr id="8" name="Shape 5">
            <a:extLst>
              <a:ext uri="{FF2B5EF4-FFF2-40B4-BE49-F238E27FC236}">
                <a16:creationId xmlns:a16="http://schemas.microsoft.com/office/drawing/2014/main" id="{710181EA-5D9C-0CDD-577B-C8378226FBD6}"/>
              </a:ext>
            </a:extLst>
          </p:cNvPr>
          <p:cNvSpPr/>
          <p:nvPr/>
        </p:nvSpPr>
        <p:spPr>
          <a:xfrm>
            <a:off x="868680" y="3200400"/>
            <a:ext cx="2971800" cy="502920"/>
          </a:xfrm>
          <a:prstGeom prst="roundRect">
            <a:avLst>
              <a:gd name="adj" fmla="val 10909"/>
            </a:avLst>
          </a:prstGeom>
          <a:solidFill>
            <a:srgbClr val="FFFFFF"/>
          </a:solidFill>
          <a:ln w="12700">
            <a:solidFill>
              <a:srgbClr val="D6E2E6"/>
            </a:solidFill>
            <a:prstDash val="solid"/>
          </a:ln>
        </p:spPr>
        <p:txBody>
          <a:bodyPr/>
          <a:lstStyle/>
          <a:p>
            <a:endParaRPr lang="pt-PT" noProof="0" dirty="0"/>
          </a:p>
        </p:txBody>
      </p:sp>
      <p:sp>
        <p:nvSpPr>
          <p:cNvPr id="9" name="Text 6">
            <a:extLst>
              <a:ext uri="{FF2B5EF4-FFF2-40B4-BE49-F238E27FC236}">
                <a16:creationId xmlns:a16="http://schemas.microsoft.com/office/drawing/2014/main" id="{DC6444CC-5766-31A7-95FD-8AFA30276207}"/>
              </a:ext>
            </a:extLst>
          </p:cNvPr>
          <p:cNvSpPr/>
          <p:nvPr/>
        </p:nvSpPr>
        <p:spPr>
          <a:xfrm>
            <a:off x="868680" y="3200400"/>
            <a:ext cx="2971800" cy="502920"/>
          </a:xfrm>
          <a:prstGeom prst="rect">
            <a:avLst/>
          </a:prstGeom>
          <a:noFill/>
          <a:ln/>
        </p:spPr>
        <p:txBody>
          <a:bodyPr wrap="square" rtlCol="0" anchor="ctr"/>
          <a:lstStyle/>
          <a:p>
            <a:pPr marL="0" indent="0" algn="ctr">
              <a:buNone/>
            </a:pPr>
            <a:r>
              <a:rPr lang="pt-PT" sz="1300" b="1" noProof="0" dirty="0">
                <a:solidFill>
                  <a:srgbClr val="E8602C"/>
                </a:solidFill>
                <a:latin typeface="Cambria" pitchFamily="34" charset="0"/>
                <a:ea typeface="Cambria" pitchFamily="34" charset="-122"/>
                <a:cs typeface="Cambria" pitchFamily="34" charset="-120"/>
              </a:rPr>
              <a:t>Nu = </a:t>
            </a:r>
            <a:r>
              <a:rPr lang="pt-PT" sz="1300" b="1" noProof="0" dirty="0" err="1">
                <a:solidFill>
                  <a:srgbClr val="E8602C"/>
                </a:solidFill>
                <a:latin typeface="Cambria" pitchFamily="34" charset="0"/>
                <a:ea typeface="Cambria" pitchFamily="34" charset="-122"/>
                <a:cs typeface="Cambria" pitchFamily="34" charset="-120"/>
              </a:rPr>
              <a:t>h·L</a:t>
            </a:r>
            <a:r>
              <a:rPr lang="pt-PT" sz="1300" b="1" noProof="0" dirty="0">
                <a:solidFill>
                  <a:srgbClr val="E8602C"/>
                </a:solidFill>
                <a:latin typeface="Cambria" pitchFamily="34" charset="0"/>
                <a:ea typeface="Cambria" pitchFamily="34" charset="-122"/>
                <a:cs typeface="Cambria" pitchFamily="34" charset="-120"/>
              </a:rPr>
              <a:t> / k</a:t>
            </a:r>
            <a:endParaRPr lang="pt-PT" sz="1300" noProof="0" dirty="0"/>
          </a:p>
        </p:txBody>
      </p:sp>
      <p:sp>
        <p:nvSpPr>
          <p:cNvPr id="10" name="Text 7">
            <a:extLst>
              <a:ext uri="{FF2B5EF4-FFF2-40B4-BE49-F238E27FC236}">
                <a16:creationId xmlns:a16="http://schemas.microsoft.com/office/drawing/2014/main" id="{E8E20D98-8F57-D5A2-D92E-A37BC51CE8E1}"/>
              </a:ext>
            </a:extLst>
          </p:cNvPr>
          <p:cNvSpPr/>
          <p:nvPr/>
        </p:nvSpPr>
        <p:spPr>
          <a:xfrm>
            <a:off x="868680" y="3886200"/>
            <a:ext cx="2971800" cy="1828800"/>
          </a:xfrm>
          <a:prstGeom prst="rect">
            <a:avLst/>
          </a:prstGeom>
          <a:noFill/>
          <a:ln/>
        </p:spPr>
        <p:txBody>
          <a:bodyPr wrap="square" rtlCol="0" anchor="ctr"/>
          <a:lstStyle/>
          <a:p>
            <a:pPr marL="0" indent="0">
              <a:lnSpc>
                <a:spcPts val="1400"/>
              </a:lnSpc>
              <a:buNone/>
            </a:pPr>
            <a:r>
              <a:rPr lang="pt-PT" sz="1050" noProof="0" dirty="0">
                <a:solidFill>
                  <a:srgbClr val="182A32"/>
                </a:solidFill>
                <a:latin typeface="Calibri" pitchFamily="34" charset="0"/>
                <a:ea typeface="Calibri" pitchFamily="34" charset="-122"/>
                <a:cs typeface="Calibri" pitchFamily="34" charset="-120"/>
              </a:rPr>
              <a:t>Razão entre a transferência de calor por convecção e a que ocorreria só por condução no fluido.</a:t>
            </a:r>
            <a:endParaRPr lang="pt-PT" sz="1050" noProof="0" dirty="0"/>
          </a:p>
        </p:txBody>
      </p:sp>
      <p:sp>
        <p:nvSpPr>
          <p:cNvPr id="11" name="Shape 8">
            <a:extLst>
              <a:ext uri="{FF2B5EF4-FFF2-40B4-BE49-F238E27FC236}">
                <a16:creationId xmlns:a16="http://schemas.microsoft.com/office/drawing/2014/main" id="{3A99D580-CCBD-E2B8-3EAF-21C284AF7AD0}"/>
              </a:ext>
            </a:extLst>
          </p:cNvPr>
          <p:cNvSpPr/>
          <p:nvPr/>
        </p:nvSpPr>
        <p:spPr>
          <a:xfrm>
            <a:off x="4343400" y="1828800"/>
            <a:ext cx="3429000" cy="4069080"/>
          </a:xfrm>
          <a:prstGeom prst="roundRect">
            <a:avLst>
              <a:gd name="adj" fmla="val 2667"/>
            </a:avLst>
          </a:prstGeom>
          <a:solidFill>
            <a:srgbClr val="EEF4F6"/>
          </a:solidFill>
          <a:ln/>
        </p:spPr>
        <p:txBody>
          <a:bodyPr/>
          <a:lstStyle/>
          <a:p>
            <a:endParaRPr lang="pt-PT" noProof="0" dirty="0"/>
          </a:p>
        </p:txBody>
      </p:sp>
      <p:sp>
        <p:nvSpPr>
          <p:cNvPr id="12" name="Text 9">
            <a:extLst>
              <a:ext uri="{FF2B5EF4-FFF2-40B4-BE49-F238E27FC236}">
                <a16:creationId xmlns:a16="http://schemas.microsoft.com/office/drawing/2014/main" id="{116988C0-F03D-7426-EE67-4AC9D9A42229}"/>
              </a:ext>
            </a:extLst>
          </p:cNvPr>
          <p:cNvSpPr/>
          <p:nvPr/>
        </p:nvSpPr>
        <p:spPr>
          <a:xfrm>
            <a:off x="4572000" y="2011680"/>
            <a:ext cx="2971800" cy="777240"/>
          </a:xfrm>
          <a:prstGeom prst="rect">
            <a:avLst/>
          </a:prstGeom>
          <a:noFill/>
          <a:ln/>
        </p:spPr>
        <p:txBody>
          <a:bodyPr wrap="square" rtlCol="0" anchor="ctr"/>
          <a:lstStyle/>
          <a:p>
            <a:pPr marL="0" indent="0">
              <a:buNone/>
            </a:pPr>
            <a:r>
              <a:rPr lang="pt-PT" sz="3200" b="1" noProof="0" dirty="0">
                <a:solidFill>
                  <a:srgbClr val="065A82"/>
                </a:solidFill>
                <a:latin typeface="Cambria" pitchFamily="34" charset="0"/>
                <a:ea typeface="Cambria" pitchFamily="34" charset="-122"/>
                <a:cs typeface="Cambria" pitchFamily="34" charset="-120"/>
              </a:rPr>
              <a:t>Gr</a:t>
            </a:r>
            <a:endParaRPr lang="pt-PT" sz="3200" noProof="0" dirty="0"/>
          </a:p>
        </p:txBody>
      </p:sp>
      <p:sp>
        <p:nvSpPr>
          <p:cNvPr id="13" name="Text 10">
            <a:extLst>
              <a:ext uri="{FF2B5EF4-FFF2-40B4-BE49-F238E27FC236}">
                <a16:creationId xmlns:a16="http://schemas.microsoft.com/office/drawing/2014/main" id="{341EECA4-C110-FEE6-77F6-E699BEF6030D}"/>
              </a:ext>
            </a:extLst>
          </p:cNvPr>
          <p:cNvSpPr/>
          <p:nvPr/>
        </p:nvSpPr>
        <p:spPr>
          <a:xfrm>
            <a:off x="4572000" y="2743200"/>
            <a:ext cx="2971800" cy="365760"/>
          </a:xfrm>
          <a:prstGeom prst="rect">
            <a:avLst/>
          </a:prstGeom>
          <a:noFill/>
          <a:ln/>
        </p:spPr>
        <p:txBody>
          <a:bodyPr wrap="square" rtlCol="0" anchor="ctr"/>
          <a:lstStyle/>
          <a:p>
            <a:pPr marL="0" indent="0">
              <a:buNone/>
            </a:pPr>
            <a:r>
              <a:rPr lang="pt-PT" sz="1250" b="1" noProof="0" dirty="0">
                <a:solidFill>
                  <a:srgbClr val="0B2545"/>
                </a:solidFill>
                <a:latin typeface="Calibri" pitchFamily="34" charset="0"/>
                <a:ea typeface="Calibri" pitchFamily="34" charset="-122"/>
                <a:cs typeface="Calibri" pitchFamily="34" charset="-120"/>
              </a:rPr>
              <a:t>Número de </a:t>
            </a:r>
            <a:r>
              <a:rPr lang="pt-PT" sz="1250" b="1" noProof="0" dirty="0" err="1">
                <a:solidFill>
                  <a:srgbClr val="0B2545"/>
                </a:solidFill>
                <a:latin typeface="Calibri" pitchFamily="34" charset="0"/>
                <a:ea typeface="Calibri" pitchFamily="34" charset="-122"/>
                <a:cs typeface="Calibri" pitchFamily="34" charset="-120"/>
              </a:rPr>
              <a:t>Grashof</a:t>
            </a:r>
            <a:endParaRPr lang="pt-PT" sz="1250" noProof="0" dirty="0"/>
          </a:p>
        </p:txBody>
      </p:sp>
      <mc:AlternateContent xmlns:mc="http://schemas.openxmlformats.org/markup-compatibility/2006">
        <mc:Choice xmlns:a14="http://schemas.microsoft.com/office/drawing/2010/main" Requires="a14">
          <p:sp>
            <p:nvSpPr>
              <p:cNvPr id="14" name="Shape 11">
                <a:extLst>
                  <a:ext uri="{FF2B5EF4-FFF2-40B4-BE49-F238E27FC236}">
                    <a16:creationId xmlns:a16="http://schemas.microsoft.com/office/drawing/2014/main" id="{2ADB7602-CA04-016B-043E-7A4430B356EE}"/>
                  </a:ext>
                </a:extLst>
              </p:cNvPr>
              <p:cNvSpPr/>
              <p:nvPr/>
            </p:nvSpPr>
            <p:spPr>
              <a:xfrm>
                <a:off x="4572000" y="3200399"/>
                <a:ext cx="2971800" cy="914399"/>
              </a:xfrm>
              <a:prstGeom prst="roundRect">
                <a:avLst>
                  <a:gd name="adj" fmla="val 10909"/>
                </a:avLst>
              </a:prstGeom>
              <a:solidFill>
                <a:srgbClr val="FFFFFF"/>
              </a:solidFill>
              <a:ln w="12700">
                <a:solidFill>
                  <a:srgbClr val="D6E2E6"/>
                </a:solidFill>
                <a:prstDash val="solid"/>
              </a:ln>
            </p:spPr>
            <p:txBody>
              <a:bodyPr/>
              <a:lstStyle/>
              <a:p>
                <a14:m>
                  <m:oMathPara xmlns:m="http://schemas.openxmlformats.org/officeDocument/2006/math">
                    <m:oMathParaPr>
                      <m:jc m:val="centerGroup"/>
                    </m:oMathParaPr>
                    <m:oMath xmlns:m="http://schemas.openxmlformats.org/officeDocument/2006/math">
                      <m:r>
                        <a:rPr lang="pt-BR" b="0" i="1" noProof="0" smtClean="0">
                          <a:solidFill>
                            <a:srgbClr val="E8602C"/>
                          </a:solidFill>
                          <a:latin typeface="Cambria Math" panose="02040503050406030204" pitchFamily="18" charset="0"/>
                        </a:rPr>
                        <m:t>𝐺𝑟</m:t>
                      </m:r>
                      <m:r>
                        <a:rPr lang="pt-BR" b="0" i="1" noProof="0" smtClean="0">
                          <a:solidFill>
                            <a:srgbClr val="E8602C"/>
                          </a:solidFill>
                          <a:latin typeface="Cambria Math" panose="02040503050406030204" pitchFamily="18" charset="0"/>
                        </a:rPr>
                        <m:t>= </m:t>
                      </m:r>
                      <m:f>
                        <m:fPr>
                          <m:ctrlPr>
                            <a:rPr lang="pt-BR" b="0" i="1" noProof="0" smtClean="0">
                              <a:solidFill>
                                <a:srgbClr val="E8602C"/>
                              </a:solidFill>
                              <a:latin typeface="Cambria Math" panose="02040503050406030204" pitchFamily="18" charset="0"/>
                            </a:rPr>
                          </m:ctrlPr>
                        </m:fPr>
                        <m:num>
                          <m:r>
                            <a:rPr lang="pt-BR" b="0" i="1" noProof="0" smtClean="0">
                              <a:solidFill>
                                <a:srgbClr val="E8602C"/>
                              </a:solidFill>
                              <a:latin typeface="Cambria Math" panose="02040503050406030204" pitchFamily="18" charset="0"/>
                            </a:rPr>
                            <m:t>𝑔</m:t>
                          </m:r>
                          <m:r>
                            <a:rPr lang="pt-BR" b="0" i="1" noProof="0" smtClean="0">
                              <a:solidFill>
                                <a:srgbClr val="E8602C"/>
                              </a:solidFill>
                              <a:latin typeface="Cambria Math" panose="02040503050406030204" pitchFamily="18" charset="0"/>
                            </a:rPr>
                            <m:t>.</m:t>
                          </m:r>
                          <m:r>
                            <a:rPr lang="pt-BR" b="0" i="1" noProof="0" smtClean="0">
                              <a:solidFill>
                                <a:srgbClr val="E8602C"/>
                              </a:solidFill>
                              <a:latin typeface="Cambria Math" panose="02040503050406030204" pitchFamily="18" charset="0"/>
                              <a:ea typeface="Cambria Math" panose="02040503050406030204" pitchFamily="18" charset="0"/>
                            </a:rPr>
                            <m:t>𝛽</m:t>
                          </m:r>
                          <m:r>
                            <a:rPr lang="pt-BR" b="0" i="1" noProof="0" smtClean="0">
                              <a:solidFill>
                                <a:srgbClr val="E8602C"/>
                              </a:solidFill>
                              <a:latin typeface="Cambria Math" panose="02040503050406030204" pitchFamily="18" charset="0"/>
                              <a:ea typeface="Cambria Math" panose="02040503050406030204" pitchFamily="18" charset="0"/>
                            </a:rPr>
                            <m:t>.</m:t>
                          </m:r>
                          <m:d>
                            <m:dPr>
                              <m:ctrlPr>
                                <a:rPr lang="pt-BR" b="0" i="1" noProof="0" smtClean="0">
                                  <a:solidFill>
                                    <a:srgbClr val="E8602C"/>
                                  </a:solidFill>
                                  <a:latin typeface="Cambria Math" panose="02040503050406030204" pitchFamily="18" charset="0"/>
                                  <a:ea typeface="Cambria Math" panose="02040503050406030204" pitchFamily="18" charset="0"/>
                                </a:rPr>
                              </m:ctrlPr>
                            </m:dPr>
                            <m:e>
                              <m:sSub>
                                <m:sSubPr>
                                  <m:ctrlPr>
                                    <a:rPr lang="pt-BR" b="0" i="1" noProof="0" smtClean="0">
                                      <a:solidFill>
                                        <a:srgbClr val="E8602C"/>
                                      </a:solidFill>
                                      <a:latin typeface="Cambria Math" panose="02040503050406030204" pitchFamily="18" charset="0"/>
                                      <a:ea typeface="Cambria Math" panose="02040503050406030204" pitchFamily="18" charset="0"/>
                                    </a:rPr>
                                  </m:ctrlPr>
                                </m:sSubPr>
                                <m:e>
                                  <m:r>
                                    <a:rPr lang="pt-BR" b="0" i="1" noProof="0" smtClean="0">
                                      <a:solidFill>
                                        <a:srgbClr val="E8602C"/>
                                      </a:solidFill>
                                      <a:latin typeface="Cambria Math" panose="02040503050406030204" pitchFamily="18" charset="0"/>
                                      <a:ea typeface="Cambria Math" panose="02040503050406030204" pitchFamily="18" charset="0"/>
                                    </a:rPr>
                                    <m:t>𝑇</m:t>
                                  </m:r>
                                </m:e>
                                <m:sub>
                                  <m:r>
                                    <a:rPr lang="pt-BR" b="0" i="1" noProof="0" smtClean="0">
                                      <a:solidFill>
                                        <a:srgbClr val="E8602C"/>
                                      </a:solidFill>
                                      <a:latin typeface="Cambria Math" panose="02040503050406030204" pitchFamily="18" charset="0"/>
                                      <a:ea typeface="Cambria Math" panose="02040503050406030204" pitchFamily="18" charset="0"/>
                                    </a:rPr>
                                    <m:t>𝑠</m:t>
                                  </m:r>
                                </m:sub>
                              </m:sSub>
                              <m:r>
                                <a:rPr lang="pt-BR" b="0" i="1" noProof="0" smtClean="0">
                                  <a:solidFill>
                                    <a:srgbClr val="E8602C"/>
                                  </a:solidFill>
                                  <a:latin typeface="Cambria Math" panose="02040503050406030204" pitchFamily="18" charset="0"/>
                                  <a:ea typeface="Cambria Math" panose="02040503050406030204" pitchFamily="18" charset="0"/>
                                </a:rPr>
                                <m:t>−</m:t>
                              </m:r>
                              <m:sSub>
                                <m:sSubPr>
                                  <m:ctrlPr>
                                    <a:rPr lang="pt-BR" b="0" i="1" noProof="0" smtClean="0">
                                      <a:solidFill>
                                        <a:srgbClr val="E8602C"/>
                                      </a:solidFill>
                                      <a:latin typeface="Cambria Math" panose="02040503050406030204" pitchFamily="18" charset="0"/>
                                      <a:ea typeface="Cambria Math" panose="02040503050406030204" pitchFamily="18" charset="0"/>
                                    </a:rPr>
                                  </m:ctrlPr>
                                </m:sSubPr>
                                <m:e>
                                  <m:r>
                                    <a:rPr lang="pt-BR" b="0" i="1" noProof="0" smtClean="0">
                                      <a:solidFill>
                                        <a:srgbClr val="E8602C"/>
                                      </a:solidFill>
                                      <a:latin typeface="Cambria Math" panose="02040503050406030204" pitchFamily="18" charset="0"/>
                                      <a:ea typeface="Cambria Math" panose="02040503050406030204" pitchFamily="18" charset="0"/>
                                    </a:rPr>
                                    <m:t>𝑇</m:t>
                                  </m:r>
                                </m:e>
                                <m:sub>
                                  <m:r>
                                    <a:rPr lang="pt-BR" b="0" i="1" noProof="0" smtClean="0">
                                      <a:solidFill>
                                        <a:srgbClr val="E8602C"/>
                                      </a:solidFill>
                                      <a:latin typeface="Cambria Math" panose="02040503050406030204" pitchFamily="18" charset="0"/>
                                      <a:ea typeface="Cambria Math" panose="02040503050406030204" pitchFamily="18" charset="0"/>
                                    </a:rPr>
                                    <m:t>∞</m:t>
                                  </m:r>
                                </m:sub>
                              </m:sSub>
                            </m:e>
                          </m:d>
                          <m:r>
                            <a:rPr lang="pt-BR" b="0" i="1" noProof="0" smtClean="0">
                              <a:solidFill>
                                <a:srgbClr val="E8602C"/>
                              </a:solidFill>
                              <a:latin typeface="Cambria Math" panose="02040503050406030204" pitchFamily="18" charset="0"/>
                              <a:ea typeface="Cambria Math" panose="02040503050406030204" pitchFamily="18" charset="0"/>
                            </a:rPr>
                            <m:t>.</m:t>
                          </m:r>
                          <m:sSup>
                            <m:sSupPr>
                              <m:ctrlPr>
                                <a:rPr lang="pt-BR" b="0" i="1" noProof="0" smtClean="0">
                                  <a:solidFill>
                                    <a:srgbClr val="E8602C"/>
                                  </a:solidFill>
                                  <a:latin typeface="Cambria Math" panose="02040503050406030204" pitchFamily="18" charset="0"/>
                                  <a:ea typeface="Cambria Math" panose="02040503050406030204" pitchFamily="18" charset="0"/>
                                </a:rPr>
                              </m:ctrlPr>
                            </m:sSupPr>
                            <m:e>
                              <m:r>
                                <a:rPr lang="pt-BR" b="0" i="1" noProof="0" smtClean="0">
                                  <a:solidFill>
                                    <a:srgbClr val="E8602C"/>
                                  </a:solidFill>
                                  <a:latin typeface="Cambria Math" panose="02040503050406030204" pitchFamily="18" charset="0"/>
                                  <a:ea typeface="Cambria Math" panose="02040503050406030204" pitchFamily="18" charset="0"/>
                                </a:rPr>
                                <m:t>𝐿</m:t>
                              </m:r>
                            </m:e>
                            <m:sup>
                              <m:r>
                                <a:rPr lang="pt-BR" b="0" i="1" noProof="0" smtClean="0">
                                  <a:solidFill>
                                    <a:srgbClr val="E8602C"/>
                                  </a:solidFill>
                                  <a:latin typeface="Cambria Math" panose="02040503050406030204" pitchFamily="18" charset="0"/>
                                  <a:ea typeface="Cambria Math" panose="02040503050406030204" pitchFamily="18" charset="0"/>
                                </a:rPr>
                                <m:t>3</m:t>
                              </m:r>
                            </m:sup>
                          </m:sSup>
                        </m:num>
                        <m:den>
                          <m:sSup>
                            <m:sSupPr>
                              <m:ctrlPr>
                                <a:rPr lang="pt-BR" b="0" i="1" noProof="0" smtClean="0">
                                  <a:solidFill>
                                    <a:srgbClr val="E8602C"/>
                                  </a:solidFill>
                                  <a:latin typeface="Cambria Math" panose="02040503050406030204" pitchFamily="18" charset="0"/>
                                  <a:ea typeface="Cambria Math" panose="02040503050406030204" pitchFamily="18" charset="0"/>
                                </a:rPr>
                              </m:ctrlPr>
                            </m:sSupPr>
                            <m:e>
                              <m:r>
                                <a:rPr lang="pt-BR" i="1">
                                  <a:solidFill>
                                    <a:srgbClr val="E8602C"/>
                                  </a:solidFill>
                                  <a:latin typeface="Cambria Math" panose="02040503050406030204" pitchFamily="18" charset="0"/>
                                  <a:ea typeface="Cambria Math" panose="02040503050406030204" pitchFamily="18" charset="0"/>
                                </a:rPr>
                                <m:t>𝜈</m:t>
                              </m:r>
                            </m:e>
                            <m:sup>
                              <m:r>
                                <a:rPr lang="pt-BR" b="0" i="1" noProof="0" smtClean="0">
                                  <a:solidFill>
                                    <a:srgbClr val="E8602C"/>
                                  </a:solidFill>
                                  <a:latin typeface="Cambria Math" panose="02040503050406030204" pitchFamily="18" charset="0"/>
                                  <a:ea typeface="Cambria Math" panose="02040503050406030204" pitchFamily="18" charset="0"/>
                                </a:rPr>
                                <m:t>2</m:t>
                              </m:r>
                            </m:sup>
                          </m:sSup>
                        </m:den>
                      </m:f>
                    </m:oMath>
                  </m:oMathPara>
                </a14:m>
                <a:endParaRPr lang="pt-PT" noProof="0" dirty="0"/>
              </a:p>
            </p:txBody>
          </p:sp>
        </mc:Choice>
        <mc:Fallback>
          <p:sp>
            <p:nvSpPr>
              <p:cNvPr id="14" name="Shape 11">
                <a:extLst>
                  <a:ext uri="{FF2B5EF4-FFF2-40B4-BE49-F238E27FC236}">
                    <a16:creationId xmlns:a16="http://schemas.microsoft.com/office/drawing/2014/main" id="{2ADB7602-CA04-016B-043E-7A4430B356EE}"/>
                  </a:ext>
                </a:extLst>
              </p:cNvPr>
              <p:cNvSpPr>
                <a:spLocks noRot="1" noChangeAspect="1" noMove="1" noResize="1" noEditPoints="1" noAdjustHandles="1" noChangeArrowheads="1" noChangeShapeType="1" noTextEdit="1"/>
              </p:cNvSpPr>
              <p:nvPr/>
            </p:nvSpPr>
            <p:spPr>
              <a:xfrm>
                <a:off x="4572000" y="3200399"/>
                <a:ext cx="2971800" cy="914399"/>
              </a:xfrm>
              <a:prstGeom prst="roundRect">
                <a:avLst>
                  <a:gd name="adj" fmla="val 10909"/>
                </a:avLst>
              </a:prstGeom>
              <a:blipFill>
                <a:blip r:embed="rId3"/>
                <a:stretch>
                  <a:fillRect/>
                </a:stretch>
              </a:blipFill>
              <a:ln w="12700">
                <a:solidFill>
                  <a:srgbClr val="D6E2E6"/>
                </a:solidFill>
                <a:prstDash val="solid"/>
              </a:ln>
            </p:spPr>
            <p:txBody>
              <a:bodyPr/>
              <a:lstStyle/>
              <a:p>
                <a:r>
                  <a:rPr lang="en-BR">
                    <a:noFill/>
                  </a:rPr>
                  <a:t> </a:t>
                </a:r>
              </a:p>
            </p:txBody>
          </p:sp>
        </mc:Fallback>
      </mc:AlternateContent>
      <p:sp>
        <p:nvSpPr>
          <p:cNvPr id="15" name="Text 12">
            <a:extLst>
              <a:ext uri="{FF2B5EF4-FFF2-40B4-BE49-F238E27FC236}">
                <a16:creationId xmlns:a16="http://schemas.microsoft.com/office/drawing/2014/main" id="{EC79AAF0-11C6-2F99-8BD4-B5B01D74D717}"/>
              </a:ext>
            </a:extLst>
          </p:cNvPr>
          <p:cNvSpPr/>
          <p:nvPr/>
        </p:nvSpPr>
        <p:spPr>
          <a:xfrm>
            <a:off x="4572000" y="3200400"/>
            <a:ext cx="2971800" cy="914400"/>
          </a:xfrm>
          <a:prstGeom prst="rect">
            <a:avLst/>
          </a:prstGeom>
          <a:noFill/>
          <a:ln/>
        </p:spPr>
        <p:txBody>
          <a:bodyPr wrap="square" rtlCol="0" anchor="ctr"/>
          <a:lstStyle/>
          <a:p>
            <a:pPr marL="0" indent="0" algn="ctr">
              <a:buNone/>
            </a:pPr>
            <a:endParaRPr lang="pt-PT" sz="1300" noProof="0" dirty="0"/>
          </a:p>
        </p:txBody>
      </p:sp>
      <p:sp>
        <p:nvSpPr>
          <p:cNvPr id="17" name="Shape 14">
            <a:extLst>
              <a:ext uri="{FF2B5EF4-FFF2-40B4-BE49-F238E27FC236}">
                <a16:creationId xmlns:a16="http://schemas.microsoft.com/office/drawing/2014/main" id="{5E37FC1D-8AA4-A246-0D5B-D9882103F71B}"/>
              </a:ext>
            </a:extLst>
          </p:cNvPr>
          <p:cNvSpPr/>
          <p:nvPr/>
        </p:nvSpPr>
        <p:spPr>
          <a:xfrm>
            <a:off x="8046720" y="1828800"/>
            <a:ext cx="3429000" cy="4069080"/>
          </a:xfrm>
          <a:prstGeom prst="roundRect">
            <a:avLst>
              <a:gd name="adj" fmla="val 2667"/>
            </a:avLst>
          </a:prstGeom>
          <a:solidFill>
            <a:srgbClr val="EEF4F6"/>
          </a:solidFill>
          <a:ln/>
        </p:spPr>
        <p:txBody>
          <a:bodyPr/>
          <a:lstStyle/>
          <a:p>
            <a:endParaRPr lang="pt-PT" noProof="0" dirty="0"/>
          </a:p>
        </p:txBody>
      </p:sp>
      <p:sp>
        <p:nvSpPr>
          <p:cNvPr id="18" name="Text 15">
            <a:extLst>
              <a:ext uri="{FF2B5EF4-FFF2-40B4-BE49-F238E27FC236}">
                <a16:creationId xmlns:a16="http://schemas.microsoft.com/office/drawing/2014/main" id="{C4F9B3A2-A094-6E3F-458A-E53F855AD4AF}"/>
              </a:ext>
            </a:extLst>
          </p:cNvPr>
          <p:cNvSpPr/>
          <p:nvPr/>
        </p:nvSpPr>
        <p:spPr>
          <a:xfrm>
            <a:off x="8275320" y="2011680"/>
            <a:ext cx="2971800" cy="777240"/>
          </a:xfrm>
          <a:prstGeom prst="rect">
            <a:avLst/>
          </a:prstGeom>
          <a:noFill/>
          <a:ln/>
        </p:spPr>
        <p:txBody>
          <a:bodyPr wrap="square" rtlCol="0" anchor="ctr"/>
          <a:lstStyle/>
          <a:p>
            <a:pPr marL="0" indent="0">
              <a:buNone/>
            </a:pPr>
            <a:r>
              <a:rPr lang="pt-PT" sz="3200" b="1" noProof="0" dirty="0" err="1">
                <a:solidFill>
                  <a:srgbClr val="065A82"/>
                </a:solidFill>
                <a:latin typeface="Cambria" pitchFamily="34" charset="0"/>
                <a:ea typeface="Cambria" pitchFamily="34" charset="-122"/>
                <a:cs typeface="Cambria" pitchFamily="34" charset="-120"/>
              </a:rPr>
              <a:t>Pr</a:t>
            </a:r>
            <a:endParaRPr lang="pt-PT" sz="3200" noProof="0" dirty="0"/>
          </a:p>
        </p:txBody>
      </p:sp>
      <p:sp>
        <p:nvSpPr>
          <p:cNvPr id="19" name="Text 16">
            <a:extLst>
              <a:ext uri="{FF2B5EF4-FFF2-40B4-BE49-F238E27FC236}">
                <a16:creationId xmlns:a16="http://schemas.microsoft.com/office/drawing/2014/main" id="{4FE8AC70-BE4C-70A6-3FD3-67CE65BFABD4}"/>
              </a:ext>
            </a:extLst>
          </p:cNvPr>
          <p:cNvSpPr/>
          <p:nvPr/>
        </p:nvSpPr>
        <p:spPr>
          <a:xfrm>
            <a:off x="8275320" y="2743200"/>
            <a:ext cx="2971800" cy="365760"/>
          </a:xfrm>
          <a:prstGeom prst="rect">
            <a:avLst/>
          </a:prstGeom>
          <a:noFill/>
          <a:ln/>
        </p:spPr>
        <p:txBody>
          <a:bodyPr wrap="square" rtlCol="0" anchor="ctr"/>
          <a:lstStyle/>
          <a:p>
            <a:pPr marL="0" indent="0">
              <a:buNone/>
            </a:pPr>
            <a:r>
              <a:rPr lang="pt-PT" sz="1250" b="1" noProof="0" dirty="0">
                <a:solidFill>
                  <a:srgbClr val="0B2545"/>
                </a:solidFill>
                <a:latin typeface="Calibri" pitchFamily="34" charset="0"/>
                <a:ea typeface="Calibri" pitchFamily="34" charset="-122"/>
                <a:cs typeface="Calibri" pitchFamily="34" charset="-120"/>
              </a:rPr>
              <a:t>Número de </a:t>
            </a:r>
            <a:r>
              <a:rPr lang="pt-PT" sz="1250" b="1" noProof="0" dirty="0" err="1">
                <a:solidFill>
                  <a:srgbClr val="0B2545"/>
                </a:solidFill>
                <a:latin typeface="Calibri" pitchFamily="34" charset="0"/>
                <a:ea typeface="Calibri" pitchFamily="34" charset="-122"/>
                <a:cs typeface="Calibri" pitchFamily="34" charset="-120"/>
              </a:rPr>
              <a:t>Prandtl</a:t>
            </a:r>
            <a:endParaRPr lang="pt-PT" sz="1250" noProof="0" dirty="0"/>
          </a:p>
        </p:txBody>
      </p:sp>
      <p:sp>
        <p:nvSpPr>
          <p:cNvPr id="20" name="Shape 17">
            <a:extLst>
              <a:ext uri="{FF2B5EF4-FFF2-40B4-BE49-F238E27FC236}">
                <a16:creationId xmlns:a16="http://schemas.microsoft.com/office/drawing/2014/main" id="{FD5771CB-AF31-90B4-2663-501FCCB8625A}"/>
              </a:ext>
            </a:extLst>
          </p:cNvPr>
          <p:cNvSpPr/>
          <p:nvPr/>
        </p:nvSpPr>
        <p:spPr>
          <a:xfrm>
            <a:off x="8275320" y="3200400"/>
            <a:ext cx="2971800" cy="502920"/>
          </a:xfrm>
          <a:prstGeom prst="roundRect">
            <a:avLst>
              <a:gd name="adj" fmla="val 10909"/>
            </a:avLst>
          </a:prstGeom>
          <a:solidFill>
            <a:srgbClr val="FFFFFF"/>
          </a:solidFill>
          <a:ln w="12700">
            <a:solidFill>
              <a:srgbClr val="D6E2E6"/>
            </a:solidFill>
            <a:prstDash val="solid"/>
          </a:ln>
        </p:spPr>
        <p:txBody>
          <a:bodyPr/>
          <a:lstStyle/>
          <a:p>
            <a:endParaRPr lang="pt-PT" noProof="0" dirty="0"/>
          </a:p>
        </p:txBody>
      </p:sp>
      <p:sp>
        <p:nvSpPr>
          <p:cNvPr id="21" name="Text 18">
            <a:extLst>
              <a:ext uri="{FF2B5EF4-FFF2-40B4-BE49-F238E27FC236}">
                <a16:creationId xmlns:a16="http://schemas.microsoft.com/office/drawing/2014/main" id="{376BBE50-3D86-B113-E906-983C4014317D}"/>
              </a:ext>
            </a:extLst>
          </p:cNvPr>
          <p:cNvSpPr/>
          <p:nvPr/>
        </p:nvSpPr>
        <p:spPr>
          <a:xfrm>
            <a:off x="8275320" y="3200400"/>
            <a:ext cx="2971800" cy="502920"/>
          </a:xfrm>
          <a:prstGeom prst="rect">
            <a:avLst/>
          </a:prstGeom>
          <a:noFill/>
          <a:ln/>
        </p:spPr>
        <p:txBody>
          <a:bodyPr wrap="square" rtlCol="0" anchor="ctr"/>
          <a:lstStyle/>
          <a:p>
            <a:pPr marL="0" indent="0" algn="ctr">
              <a:buNone/>
            </a:pPr>
            <a:r>
              <a:rPr lang="pt-PT" sz="1300" b="1" noProof="0" dirty="0" err="1">
                <a:solidFill>
                  <a:srgbClr val="E8602C"/>
                </a:solidFill>
                <a:latin typeface="Cambria" pitchFamily="34" charset="0"/>
                <a:ea typeface="Cambria" pitchFamily="34" charset="-122"/>
                <a:cs typeface="Cambria" pitchFamily="34" charset="-120"/>
              </a:rPr>
              <a:t>Pr</a:t>
            </a:r>
            <a:r>
              <a:rPr lang="pt-PT" sz="1300" b="1" noProof="0" dirty="0">
                <a:solidFill>
                  <a:srgbClr val="E8602C"/>
                </a:solidFill>
                <a:latin typeface="Cambria" pitchFamily="34" charset="0"/>
                <a:ea typeface="Cambria" pitchFamily="34" charset="-122"/>
                <a:cs typeface="Cambria" pitchFamily="34" charset="-120"/>
              </a:rPr>
              <a:t> = </a:t>
            </a:r>
            <a:r>
              <a:rPr lang="pt-PT" sz="1300" b="1" noProof="0" dirty="0" err="1">
                <a:solidFill>
                  <a:srgbClr val="E8602C"/>
                </a:solidFill>
                <a:latin typeface="Cambria" pitchFamily="34" charset="0"/>
                <a:ea typeface="Cambria" pitchFamily="34" charset="-122"/>
                <a:cs typeface="Cambria" pitchFamily="34" charset="-120"/>
              </a:rPr>
              <a:t>ν</a:t>
            </a:r>
            <a:r>
              <a:rPr lang="pt-PT" sz="1300" b="1" noProof="0" dirty="0">
                <a:solidFill>
                  <a:srgbClr val="E8602C"/>
                </a:solidFill>
                <a:latin typeface="Cambria" pitchFamily="34" charset="0"/>
                <a:ea typeface="Cambria" pitchFamily="34" charset="-122"/>
                <a:cs typeface="Cambria" pitchFamily="34" charset="-120"/>
              </a:rPr>
              <a:t> / α</a:t>
            </a:r>
            <a:endParaRPr lang="pt-PT" sz="1300" noProof="0" dirty="0"/>
          </a:p>
        </p:txBody>
      </p:sp>
      <p:sp>
        <p:nvSpPr>
          <p:cNvPr id="22" name="Text 19">
            <a:extLst>
              <a:ext uri="{FF2B5EF4-FFF2-40B4-BE49-F238E27FC236}">
                <a16:creationId xmlns:a16="http://schemas.microsoft.com/office/drawing/2014/main" id="{5217B9D1-846F-F17A-C267-B549CDC9B812}"/>
              </a:ext>
            </a:extLst>
          </p:cNvPr>
          <p:cNvSpPr/>
          <p:nvPr/>
        </p:nvSpPr>
        <p:spPr>
          <a:xfrm>
            <a:off x="8275320" y="3886200"/>
            <a:ext cx="2971800" cy="1828800"/>
          </a:xfrm>
          <a:prstGeom prst="rect">
            <a:avLst/>
          </a:prstGeom>
          <a:noFill/>
          <a:ln/>
        </p:spPr>
        <p:txBody>
          <a:bodyPr wrap="square" rtlCol="0" anchor="ctr"/>
          <a:lstStyle/>
          <a:p>
            <a:pPr marL="0" indent="0">
              <a:lnSpc>
                <a:spcPts val="1400"/>
              </a:lnSpc>
              <a:buNone/>
            </a:pPr>
            <a:r>
              <a:rPr lang="pt-PT" sz="1050" noProof="0" dirty="0">
                <a:solidFill>
                  <a:srgbClr val="182A32"/>
                </a:solidFill>
                <a:latin typeface="Calibri" pitchFamily="34" charset="0"/>
                <a:ea typeface="Calibri" pitchFamily="34" charset="-122"/>
                <a:cs typeface="Calibri" pitchFamily="34" charset="-120"/>
              </a:rPr>
              <a:t>Razão entre a difusividade de momento e a difusividade térmica do fluido.</a:t>
            </a:r>
            <a:endParaRPr lang="pt-PT" sz="1050" noProof="0" dirty="0"/>
          </a:p>
        </p:txBody>
      </p:sp>
      <p:sp>
        <p:nvSpPr>
          <p:cNvPr id="23" name="Text 20">
            <a:extLst>
              <a:ext uri="{FF2B5EF4-FFF2-40B4-BE49-F238E27FC236}">
                <a16:creationId xmlns:a16="http://schemas.microsoft.com/office/drawing/2014/main" id="{0BC515D4-BEC9-10CD-F062-028B2B7349D3}"/>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4" name="Text 21">
            <a:extLst>
              <a:ext uri="{FF2B5EF4-FFF2-40B4-BE49-F238E27FC236}">
                <a16:creationId xmlns:a16="http://schemas.microsoft.com/office/drawing/2014/main" id="{D3B9A2F1-87C3-6561-7954-B5621E4DE8E4}"/>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5 · Adimensionais</a:t>
            </a:r>
            <a:endParaRPr lang="pt-PT" sz="950" noProof="0" dirty="0"/>
          </a:p>
        </p:txBody>
      </p:sp>
      <p:sp>
        <p:nvSpPr>
          <p:cNvPr id="25" name="Text 22">
            <a:extLst>
              <a:ext uri="{FF2B5EF4-FFF2-40B4-BE49-F238E27FC236}">
                <a16:creationId xmlns:a16="http://schemas.microsoft.com/office/drawing/2014/main" id="{3A1821D6-55B6-F6C3-492E-9EFD8B0C7E8F}"/>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19</a:t>
            </a:r>
            <a:endParaRPr lang="pt-PT" sz="950" noProof="0" dirty="0"/>
          </a:p>
        </p:txBody>
      </p:sp>
    </p:spTree>
    <p:extLst>
      <p:ext uri="{BB962C8B-B14F-4D97-AF65-F5344CB8AC3E}">
        <p14:creationId xmlns:p14="http://schemas.microsoft.com/office/powerpoint/2010/main" val="24992001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NÚMEROS ADIMENSIONAIS</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Correlações empíricas para obter h</a:t>
            </a:r>
            <a:endParaRPr lang="pt-PT" sz="3200" noProof="0" dirty="0"/>
          </a:p>
        </p:txBody>
      </p:sp>
      <p:sp>
        <p:nvSpPr>
          <p:cNvPr id="5" name="Text 2"/>
          <p:cNvSpPr/>
          <p:nvPr/>
        </p:nvSpPr>
        <p:spPr>
          <a:xfrm>
            <a:off x="640080" y="1828800"/>
            <a:ext cx="10881360" cy="457200"/>
          </a:xfrm>
          <a:prstGeom prst="rect">
            <a:avLst/>
          </a:prstGeom>
          <a:noFill/>
          <a:ln/>
        </p:spPr>
        <p:txBody>
          <a:bodyPr wrap="square" rtlCol="0" anchor="ctr"/>
          <a:lstStyle/>
          <a:p>
            <a:pPr marL="0" indent="0">
              <a:buNone/>
            </a:pPr>
            <a:r>
              <a:rPr lang="pt-PT" sz="1400" noProof="0" dirty="0">
                <a:solidFill>
                  <a:srgbClr val="000000"/>
                </a:solidFill>
                <a:latin typeface="Calibri" pitchFamily="34" charset="0"/>
                <a:ea typeface="Calibri" pitchFamily="34" charset="-122"/>
                <a:cs typeface="Calibri" pitchFamily="34" charset="-120"/>
              </a:rPr>
              <a:t>Uma vez calculado Nu por uma correlação empírica, isola-se h:  </a:t>
            </a:r>
            <a:r>
              <a:rPr lang="pt-PT" sz="1400" b="1" noProof="0" dirty="0">
                <a:solidFill>
                  <a:srgbClr val="065A82"/>
                </a:solidFill>
                <a:latin typeface="Calibri" pitchFamily="34" charset="0"/>
                <a:ea typeface="Calibri" pitchFamily="34" charset="-122"/>
                <a:cs typeface="Calibri" pitchFamily="34" charset="-120"/>
              </a:rPr>
              <a:t>h = Nu · k / L</a:t>
            </a:r>
            <a:endParaRPr lang="pt-PT" sz="1400" noProof="0" dirty="0"/>
          </a:p>
        </p:txBody>
      </p:sp>
      <p:sp>
        <p:nvSpPr>
          <p:cNvPr id="6" name="Shape 3"/>
          <p:cNvSpPr/>
          <p:nvPr/>
        </p:nvSpPr>
        <p:spPr>
          <a:xfrm>
            <a:off x="640080" y="2423160"/>
            <a:ext cx="10881360" cy="1965960"/>
          </a:xfrm>
          <a:prstGeom prst="roundRect">
            <a:avLst>
              <a:gd name="adj" fmla="val 4651"/>
            </a:avLst>
          </a:prstGeom>
          <a:solidFill>
            <a:srgbClr val="065A82"/>
          </a:solidFill>
          <a:ln/>
        </p:spPr>
        <p:txBody>
          <a:bodyPr/>
          <a:lstStyle/>
          <a:p>
            <a:endParaRPr lang="pt-PT" noProof="0" dirty="0"/>
          </a:p>
        </p:txBody>
      </p:sp>
      <p:sp>
        <p:nvSpPr>
          <p:cNvPr id="7" name="Text 4"/>
          <p:cNvSpPr/>
          <p:nvPr/>
        </p:nvSpPr>
        <p:spPr>
          <a:xfrm>
            <a:off x="914400" y="2606040"/>
            <a:ext cx="10332720" cy="365760"/>
          </a:xfrm>
          <a:prstGeom prst="rect">
            <a:avLst/>
          </a:prstGeom>
          <a:noFill/>
          <a:ln/>
        </p:spPr>
        <p:txBody>
          <a:bodyPr wrap="square" rtlCol="0" anchor="ctr"/>
          <a:lstStyle/>
          <a:p>
            <a:pPr marL="0" indent="0">
              <a:buNone/>
            </a:pPr>
            <a:r>
              <a:rPr lang="pt-PT" sz="1300" b="1" noProof="0" dirty="0">
                <a:solidFill>
                  <a:srgbClr val="0FA3B1"/>
                </a:solidFill>
                <a:latin typeface="Calibri" pitchFamily="34" charset="0"/>
                <a:ea typeface="Calibri" pitchFamily="34" charset="-122"/>
                <a:cs typeface="Calibri" pitchFamily="34" charset="-120"/>
              </a:rPr>
              <a:t>Exemplo — escoamento laminar externo sobre placa plana</a:t>
            </a:r>
            <a:endParaRPr lang="pt-PT" sz="1300" noProof="0" dirty="0"/>
          </a:p>
        </p:txBody>
      </p:sp>
      <p:sp>
        <p:nvSpPr>
          <p:cNvPr id="8" name="Text 5"/>
          <p:cNvSpPr/>
          <p:nvPr/>
        </p:nvSpPr>
        <p:spPr>
          <a:xfrm>
            <a:off x="914400" y="2971800"/>
            <a:ext cx="10332720" cy="685800"/>
          </a:xfrm>
          <a:prstGeom prst="rect">
            <a:avLst/>
          </a:prstGeom>
          <a:noFill/>
          <a:ln/>
        </p:spPr>
        <p:txBody>
          <a:bodyPr wrap="square" rtlCol="0" anchor="ctr"/>
          <a:lstStyle/>
          <a:p>
            <a:pPr marL="0" indent="0">
              <a:buNone/>
            </a:pPr>
            <a:r>
              <a:rPr lang="pt-PT" sz="2600" b="1" noProof="0" dirty="0">
                <a:solidFill>
                  <a:srgbClr val="FFFFFF"/>
                </a:solidFill>
                <a:latin typeface="Cambria" pitchFamily="34" charset="0"/>
                <a:ea typeface="Cambria" pitchFamily="34" charset="-122"/>
                <a:cs typeface="Cambria" pitchFamily="34" charset="-120"/>
              </a:rPr>
              <a:t>Nu = 0,664 · Re^0,5 · </a:t>
            </a:r>
            <a:r>
              <a:rPr lang="pt-PT" sz="2600" b="1" noProof="0" dirty="0" err="1">
                <a:solidFill>
                  <a:srgbClr val="FFFFFF"/>
                </a:solidFill>
                <a:latin typeface="Cambria" pitchFamily="34" charset="0"/>
                <a:ea typeface="Cambria" pitchFamily="34" charset="-122"/>
                <a:cs typeface="Cambria" pitchFamily="34" charset="-120"/>
              </a:rPr>
              <a:t>Pr</a:t>
            </a:r>
            <a:r>
              <a:rPr lang="pt-PT" sz="2600" b="1" noProof="0" dirty="0">
                <a:solidFill>
                  <a:srgbClr val="FFFFFF"/>
                </a:solidFill>
                <a:latin typeface="Cambria" pitchFamily="34" charset="0"/>
                <a:ea typeface="Cambria" pitchFamily="34" charset="-122"/>
                <a:cs typeface="Cambria" pitchFamily="34" charset="-120"/>
              </a:rPr>
              <a:t>^(1/3)</a:t>
            </a:r>
            <a:endParaRPr lang="pt-PT" sz="2600" noProof="0" dirty="0"/>
          </a:p>
        </p:txBody>
      </p:sp>
      <p:sp>
        <p:nvSpPr>
          <p:cNvPr id="9" name="Text 6"/>
          <p:cNvSpPr/>
          <p:nvPr/>
        </p:nvSpPr>
        <p:spPr>
          <a:xfrm>
            <a:off x="914400" y="3749040"/>
            <a:ext cx="10332720" cy="548640"/>
          </a:xfrm>
          <a:prstGeom prst="rect">
            <a:avLst/>
          </a:prstGeom>
          <a:noFill/>
          <a:ln/>
        </p:spPr>
        <p:txBody>
          <a:bodyPr wrap="square" rtlCol="0" anchor="ctr"/>
          <a:lstStyle/>
          <a:p>
            <a:pPr marL="0" indent="0">
              <a:buNone/>
            </a:pPr>
            <a:r>
              <a:rPr lang="pt-PT" sz="1150" i="1" noProof="0" dirty="0">
                <a:solidFill>
                  <a:srgbClr val="CFE3EC"/>
                </a:solidFill>
                <a:latin typeface="Calibri" pitchFamily="34" charset="0"/>
                <a:ea typeface="Calibri" pitchFamily="34" charset="-122"/>
                <a:cs typeface="Calibri" pitchFamily="34" charset="-120"/>
              </a:rPr>
              <a:t>Válida para </a:t>
            </a:r>
            <a:r>
              <a:rPr lang="pt-PT" sz="1150" i="1" noProof="0" dirty="0" err="1">
                <a:solidFill>
                  <a:srgbClr val="CFE3EC"/>
                </a:solidFill>
                <a:latin typeface="Calibri" pitchFamily="34" charset="0"/>
                <a:ea typeface="Calibri" pitchFamily="34" charset="-122"/>
                <a:cs typeface="Calibri" pitchFamily="34" charset="-120"/>
              </a:rPr>
              <a:t>Re</a:t>
            </a:r>
            <a:r>
              <a:rPr lang="pt-PT" sz="1150" i="1" noProof="0" dirty="0">
                <a:solidFill>
                  <a:srgbClr val="CFE3EC"/>
                </a:solidFill>
                <a:latin typeface="Calibri" pitchFamily="34" charset="0"/>
                <a:ea typeface="Calibri" pitchFamily="34" charset="-122"/>
                <a:cs typeface="Calibri" pitchFamily="34" charset="-120"/>
              </a:rPr>
              <a:t> &lt; 5×10⁵ e </a:t>
            </a:r>
            <a:r>
              <a:rPr lang="pt-PT" sz="1150" i="1" noProof="0" dirty="0" err="1">
                <a:solidFill>
                  <a:srgbClr val="CFE3EC"/>
                </a:solidFill>
                <a:latin typeface="Calibri" pitchFamily="34" charset="0"/>
                <a:ea typeface="Calibri" pitchFamily="34" charset="-122"/>
                <a:cs typeface="Calibri" pitchFamily="34" charset="-120"/>
              </a:rPr>
              <a:t>Pr</a:t>
            </a:r>
            <a:r>
              <a:rPr lang="pt-PT" sz="1150" i="1" noProof="0" dirty="0">
                <a:solidFill>
                  <a:srgbClr val="CFE3EC"/>
                </a:solidFill>
                <a:latin typeface="Calibri" pitchFamily="34" charset="0"/>
                <a:ea typeface="Calibri" pitchFamily="34" charset="-122"/>
                <a:cs typeface="Calibri" pitchFamily="34" charset="-120"/>
              </a:rPr>
              <a:t> &gt; 0,6 (</a:t>
            </a:r>
            <a:r>
              <a:rPr lang="pt-PT" sz="1150" i="1" noProof="0" dirty="0" err="1">
                <a:solidFill>
                  <a:srgbClr val="CFE3EC"/>
                </a:solidFill>
                <a:latin typeface="Calibri" pitchFamily="34" charset="0"/>
                <a:ea typeface="Calibri" pitchFamily="34" charset="-122"/>
                <a:cs typeface="Calibri" pitchFamily="34" charset="-120"/>
              </a:rPr>
              <a:t>Incropera</a:t>
            </a:r>
            <a:r>
              <a:rPr lang="pt-PT" sz="1150" i="1" noProof="0" dirty="0">
                <a:solidFill>
                  <a:srgbClr val="CFE3EC"/>
                </a:solidFill>
                <a:latin typeface="Calibri" pitchFamily="34" charset="0"/>
                <a:ea typeface="Calibri" pitchFamily="34" charset="-122"/>
                <a:cs typeface="Calibri" pitchFamily="34" charset="-120"/>
              </a:rPr>
              <a:t>, cap. de convecção externa).</a:t>
            </a:r>
            <a:endParaRPr lang="pt-PT" sz="1150" noProof="0" dirty="0"/>
          </a:p>
        </p:txBody>
      </p:sp>
      <p:sp>
        <p:nvSpPr>
          <p:cNvPr id="10" name="Text 7"/>
          <p:cNvSpPr/>
          <p:nvPr/>
        </p:nvSpPr>
        <p:spPr>
          <a:xfrm>
            <a:off x="640080" y="4617720"/>
            <a:ext cx="10881360" cy="1051560"/>
          </a:xfrm>
          <a:prstGeom prst="rect">
            <a:avLst/>
          </a:prstGeom>
          <a:noFill/>
          <a:ln/>
        </p:spPr>
        <p:txBody>
          <a:bodyPr wrap="square" rtlCol="0" anchor="ctr"/>
          <a:lstStyle/>
          <a:p>
            <a:pPr marL="0" indent="0">
              <a:lnSpc>
                <a:spcPts val="1700"/>
              </a:lnSpc>
              <a:buNone/>
            </a:pPr>
            <a:r>
              <a:rPr lang="pt-PT" sz="1200" noProof="0" dirty="0">
                <a:solidFill>
                  <a:srgbClr val="182A32"/>
                </a:solidFill>
                <a:latin typeface="Calibri" pitchFamily="34" charset="0"/>
                <a:ea typeface="Calibri" pitchFamily="34" charset="-122"/>
                <a:cs typeface="Calibri" pitchFamily="34" charset="-120"/>
              </a:rPr>
              <a:t>Cada geometria e regime (cilindro, esfera, tubo, natural/forçada) tem sua própria correlação — consultadas em tabelas dos livros-texto (</a:t>
            </a:r>
            <a:r>
              <a:rPr lang="pt-PT" sz="1200" noProof="0" dirty="0" err="1">
                <a:solidFill>
                  <a:srgbClr val="182A32"/>
                </a:solidFill>
                <a:latin typeface="Calibri" pitchFamily="34" charset="0"/>
                <a:ea typeface="Calibri" pitchFamily="34" charset="-122"/>
                <a:cs typeface="Calibri" pitchFamily="34" charset="-120"/>
              </a:rPr>
              <a:t>Incropera</a:t>
            </a:r>
            <a:r>
              <a:rPr lang="pt-PT" sz="1200" noProof="0" dirty="0">
                <a:solidFill>
                  <a:srgbClr val="182A32"/>
                </a:solidFill>
                <a:latin typeface="Calibri" pitchFamily="34" charset="0"/>
                <a:ea typeface="Calibri" pitchFamily="34" charset="-122"/>
                <a:cs typeface="Calibri" pitchFamily="34" charset="-120"/>
              </a:rPr>
              <a:t>; </a:t>
            </a:r>
            <a:r>
              <a:rPr lang="pt-PT" sz="1200" noProof="0" dirty="0" err="1">
                <a:solidFill>
                  <a:srgbClr val="182A32"/>
                </a:solidFill>
                <a:latin typeface="Calibri" pitchFamily="34" charset="0"/>
                <a:ea typeface="Calibri" pitchFamily="34" charset="-122"/>
                <a:cs typeface="Calibri" pitchFamily="34" charset="-120"/>
              </a:rPr>
              <a:t>Çengel</a:t>
            </a:r>
            <a:r>
              <a:rPr lang="pt-PT" sz="1200" noProof="0" dirty="0">
                <a:solidFill>
                  <a:srgbClr val="182A32"/>
                </a:solidFill>
                <a:latin typeface="Calibri" pitchFamily="34" charset="0"/>
                <a:ea typeface="Calibri" pitchFamily="34" charset="-122"/>
                <a:cs typeface="Calibri" pitchFamily="34" charset="-120"/>
              </a:rPr>
              <a:t>). O importante não é decorar, e sim saber identificar qual correlação se aplica a cada situação.</a:t>
            </a:r>
            <a:endParaRPr lang="pt-PT" sz="1200" noProof="0" dirty="0"/>
          </a:p>
        </p:txBody>
      </p:sp>
      <p:sp>
        <p:nvSpPr>
          <p:cNvPr id="11" name="Text 8"/>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12" name="Text 9"/>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5 · Adimensionais</a:t>
            </a:r>
            <a:endParaRPr lang="pt-PT" sz="950" noProof="0" dirty="0"/>
          </a:p>
        </p:txBody>
      </p:sp>
      <p:sp>
        <p:nvSpPr>
          <p:cNvPr id="13" name="Text 10"/>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20</a:t>
            </a:r>
            <a:endParaRPr lang="pt-PT" sz="950" noProof="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APLICAÇÃO DIRETA</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r>
              <a:rPr lang="pt-PT" sz="3200" b="1" noProof="0" dirty="0">
                <a:solidFill>
                  <a:srgbClr val="0B2545"/>
                </a:solidFill>
                <a:latin typeface="Cambria" pitchFamily="34" charset="0"/>
                <a:ea typeface="Cambria" pitchFamily="34" charset="-122"/>
                <a:cs typeface="Cambria" pitchFamily="34" charset="-120"/>
              </a:rPr>
              <a:t>Exemplo 1.2 (</a:t>
            </a:r>
            <a:r>
              <a:rPr lang="pt-PT" sz="3200" dirty="0">
                <a:solidFill>
                  <a:srgbClr val="182A32"/>
                </a:solidFill>
                <a:latin typeface="Calibri" pitchFamily="34" charset="0"/>
                <a:ea typeface="Calibri" pitchFamily="34" charset="-122"/>
                <a:cs typeface="Calibri" pitchFamily="34" charset="-120"/>
              </a:rPr>
              <a:t>INCROPERA, F. P. Fundamentos de transferência de calor e de massa. 8. ed. Rio de Janeiro: LTC, 2019.</a:t>
            </a:r>
            <a:r>
              <a:rPr lang="pt-PT" sz="3200" b="1" noProof="0" dirty="0">
                <a:solidFill>
                  <a:srgbClr val="0B2545"/>
                </a:solidFill>
                <a:latin typeface="Cambria" pitchFamily="34" charset="0"/>
                <a:ea typeface="Cambria" pitchFamily="34" charset="-122"/>
                <a:cs typeface="Cambria" pitchFamily="34" charset="-120"/>
              </a:rPr>
              <a:t>)</a:t>
            </a:r>
            <a:endParaRPr lang="pt-PT" sz="3200" noProof="0" dirty="0"/>
          </a:p>
        </p:txBody>
      </p:sp>
      <p:sp>
        <p:nvSpPr>
          <p:cNvPr id="5" name="Shape 2"/>
          <p:cNvSpPr/>
          <p:nvPr/>
        </p:nvSpPr>
        <p:spPr>
          <a:xfrm>
            <a:off x="640080" y="1627632"/>
            <a:ext cx="10881360" cy="1435608"/>
          </a:xfrm>
          <a:prstGeom prst="roundRect">
            <a:avLst>
              <a:gd name="adj" fmla="val 6957"/>
            </a:avLst>
          </a:prstGeom>
          <a:solidFill>
            <a:srgbClr val="EEF4F6"/>
          </a:solidFill>
          <a:ln/>
        </p:spPr>
        <p:txBody>
          <a:bodyPr/>
          <a:lstStyle/>
          <a:p>
            <a:endParaRPr lang="pt-PT" noProof="0" dirty="0"/>
          </a:p>
        </p:txBody>
      </p:sp>
      <p:sp>
        <p:nvSpPr>
          <p:cNvPr id="6" name="Text 3"/>
          <p:cNvSpPr/>
          <p:nvPr/>
        </p:nvSpPr>
        <p:spPr>
          <a:xfrm>
            <a:off x="914400" y="1874520"/>
            <a:ext cx="10332720" cy="868680"/>
          </a:xfrm>
          <a:prstGeom prst="rect">
            <a:avLst/>
          </a:prstGeom>
          <a:noFill/>
          <a:ln/>
        </p:spPr>
        <p:txBody>
          <a:bodyPr wrap="square" rtlCol="0" anchor="ctr"/>
          <a:lstStyle/>
          <a:p>
            <a:r>
              <a:rPr lang="en-US" dirty="0"/>
              <a:t>Uma </a:t>
            </a:r>
            <a:r>
              <a:rPr lang="en-US" dirty="0" err="1"/>
              <a:t>tubulação</a:t>
            </a:r>
            <a:r>
              <a:rPr lang="en-US" dirty="0"/>
              <a:t> de vapor </a:t>
            </a:r>
            <a:r>
              <a:rPr lang="en-US" dirty="0" err="1"/>
              <a:t>d’água</a:t>
            </a:r>
            <a:r>
              <a:rPr lang="en-US" dirty="0"/>
              <a:t> </a:t>
            </a:r>
            <a:r>
              <a:rPr lang="en-US" dirty="0" err="1"/>
              <a:t>sem</a:t>
            </a:r>
            <a:r>
              <a:rPr lang="en-US" dirty="0"/>
              <a:t> </a:t>
            </a:r>
            <a:r>
              <a:rPr lang="en-US" dirty="0" err="1"/>
              <a:t>isolamento</a:t>
            </a:r>
            <a:r>
              <a:rPr lang="en-US" dirty="0"/>
              <a:t> </a:t>
            </a:r>
            <a:r>
              <a:rPr lang="en-US" dirty="0" err="1"/>
              <a:t>térmico</a:t>
            </a:r>
            <a:r>
              <a:rPr lang="en-US" dirty="0"/>
              <a:t> </a:t>
            </a:r>
            <a:r>
              <a:rPr lang="en-US" dirty="0" err="1"/>
              <a:t>atravessa</a:t>
            </a:r>
            <a:r>
              <a:rPr lang="en-US" dirty="0"/>
              <a:t> </a:t>
            </a:r>
            <a:r>
              <a:rPr lang="en-US" dirty="0" err="1"/>
              <a:t>uma</a:t>
            </a:r>
            <a:r>
              <a:rPr lang="en-US" dirty="0"/>
              <a:t> sala </a:t>
            </a:r>
            <a:r>
              <a:rPr lang="en-US" dirty="0" err="1"/>
              <a:t>na</a:t>
            </a:r>
            <a:r>
              <a:rPr lang="en-US" dirty="0"/>
              <a:t> qual o </a:t>
            </a:r>
            <a:r>
              <a:rPr lang="en-US" dirty="0" err="1"/>
              <a:t>ar</a:t>
            </a:r>
            <a:r>
              <a:rPr lang="en-US" dirty="0"/>
              <a:t> e as </a:t>
            </a:r>
            <a:r>
              <a:rPr lang="en-US" dirty="0" err="1"/>
              <a:t>paredes</a:t>
            </a:r>
            <a:r>
              <a:rPr lang="en-US" dirty="0"/>
              <a:t> se </a:t>
            </a:r>
            <a:r>
              <a:rPr lang="en-US" dirty="0" err="1"/>
              <a:t>encontram</a:t>
            </a:r>
            <a:r>
              <a:rPr lang="en-US" dirty="0"/>
              <a:t> a 25 °𝐶. O </a:t>
            </a:r>
            <a:r>
              <a:rPr lang="en-US" dirty="0" err="1"/>
              <a:t>diâmetro</a:t>
            </a:r>
            <a:r>
              <a:rPr lang="en-US" dirty="0"/>
              <a:t> </a:t>
            </a:r>
            <a:r>
              <a:rPr lang="en-US" dirty="0" err="1"/>
              <a:t>externo</a:t>
            </a:r>
            <a:r>
              <a:rPr lang="en-US" dirty="0"/>
              <a:t> do </a:t>
            </a:r>
            <a:r>
              <a:rPr lang="en-US" dirty="0" err="1"/>
              <a:t>tubo</a:t>
            </a:r>
            <a:r>
              <a:rPr lang="en-US" dirty="0"/>
              <a:t> é de 70 𝑚𝑚 e a </a:t>
            </a:r>
            <a:r>
              <a:rPr lang="en-US" dirty="0" err="1"/>
              <a:t>temperatura</a:t>
            </a:r>
            <a:r>
              <a:rPr lang="en-US" dirty="0"/>
              <a:t> de </a:t>
            </a:r>
            <a:r>
              <a:rPr lang="en-US" dirty="0" err="1"/>
              <a:t>sua</a:t>
            </a:r>
            <a:r>
              <a:rPr lang="en-US" dirty="0"/>
              <a:t> </a:t>
            </a:r>
            <a:r>
              <a:rPr lang="en-US" dirty="0" err="1"/>
              <a:t>superfície</a:t>
            </a:r>
            <a:r>
              <a:rPr lang="en-US" dirty="0"/>
              <a:t> é de 200 °𝐶. </a:t>
            </a:r>
            <a:r>
              <a:rPr lang="en-US" dirty="0" err="1"/>
              <a:t>Sendo</a:t>
            </a:r>
            <a:r>
              <a:rPr lang="en-US" dirty="0"/>
              <a:t> o </a:t>
            </a:r>
            <a:r>
              <a:rPr lang="en-US" dirty="0" err="1"/>
              <a:t>coeficiente</a:t>
            </a:r>
            <a:r>
              <a:rPr lang="en-US" dirty="0"/>
              <a:t> </a:t>
            </a:r>
            <a:r>
              <a:rPr lang="en-US" dirty="0" err="1"/>
              <a:t>associado</a:t>
            </a:r>
            <a:r>
              <a:rPr lang="en-US" dirty="0"/>
              <a:t> à </a:t>
            </a:r>
            <a:r>
              <a:rPr lang="en-US" dirty="0" err="1"/>
              <a:t>transferência</a:t>
            </a:r>
            <a:r>
              <a:rPr lang="en-US" dirty="0"/>
              <a:t> de </a:t>
            </a:r>
            <a:r>
              <a:rPr lang="en-US" dirty="0" err="1"/>
              <a:t>calor</a:t>
            </a:r>
            <a:r>
              <a:rPr lang="en-US" dirty="0"/>
              <a:t> </a:t>
            </a:r>
            <a:r>
              <a:rPr lang="en-US" dirty="0" err="1"/>
              <a:t>por</a:t>
            </a:r>
            <a:r>
              <a:rPr lang="en-US" dirty="0"/>
              <a:t> </a:t>
            </a:r>
            <a:r>
              <a:rPr lang="en-US" dirty="0" err="1"/>
              <a:t>convecção</a:t>
            </a:r>
            <a:r>
              <a:rPr lang="en-US" dirty="0"/>
              <a:t> natural da </a:t>
            </a:r>
            <a:r>
              <a:rPr lang="en-US" dirty="0" err="1"/>
              <a:t>superfície</a:t>
            </a:r>
            <a:r>
              <a:rPr lang="en-US" dirty="0"/>
              <a:t> para o </a:t>
            </a:r>
            <a:r>
              <a:rPr lang="en-US" dirty="0" err="1"/>
              <a:t>ar</a:t>
            </a:r>
            <a:r>
              <a:rPr lang="en-US" dirty="0"/>
              <a:t> de 15 𝑊/𝑚2 𝐾, qual é a taxa de </a:t>
            </a:r>
            <a:r>
              <a:rPr lang="en-US" dirty="0" err="1"/>
              <a:t>calor</a:t>
            </a:r>
            <a:r>
              <a:rPr lang="en-US" dirty="0"/>
              <a:t> </a:t>
            </a:r>
            <a:r>
              <a:rPr lang="en-US" dirty="0" err="1"/>
              <a:t>perdida</a:t>
            </a:r>
            <a:r>
              <a:rPr lang="en-US" dirty="0"/>
              <a:t> </a:t>
            </a:r>
            <a:r>
              <a:rPr lang="en-US" dirty="0" err="1"/>
              <a:t>por</a:t>
            </a:r>
            <a:r>
              <a:rPr lang="en-US" dirty="0"/>
              <a:t> </a:t>
            </a:r>
            <a:r>
              <a:rPr lang="en-US" dirty="0" err="1"/>
              <a:t>convecção</a:t>
            </a:r>
            <a:r>
              <a:rPr lang="en-US" dirty="0"/>
              <a:t> </a:t>
            </a:r>
            <a:r>
              <a:rPr lang="en-US" dirty="0" err="1"/>
              <a:t>por</a:t>
            </a:r>
            <a:r>
              <a:rPr lang="en-US" dirty="0"/>
              <a:t> </a:t>
            </a:r>
            <a:r>
              <a:rPr lang="en-US" dirty="0" err="1"/>
              <a:t>unidade</a:t>
            </a:r>
            <a:r>
              <a:rPr lang="en-US" dirty="0"/>
              <a:t> de </a:t>
            </a:r>
            <a:r>
              <a:rPr lang="en-US" dirty="0" err="1"/>
              <a:t>comprimento</a:t>
            </a:r>
            <a:r>
              <a:rPr lang="en-US" dirty="0"/>
              <a:t> do </a:t>
            </a:r>
            <a:r>
              <a:rPr lang="en-US" dirty="0" err="1"/>
              <a:t>tubo</a:t>
            </a:r>
            <a:r>
              <a:rPr lang="en-US" dirty="0"/>
              <a:t>? (</a:t>
            </a:r>
            <a:r>
              <a:rPr lang="en-US" dirty="0" err="1"/>
              <a:t>Considerações</a:t>
            </a:r>
            <a:r>
              <a:rPr lang="en-US" dirty="0"/>
              <a:t>: </a:t>
            </a:r>
            <a:r>
              <a:rPr lang="en-US" dirty="0" err="1"/>
              <a:t>Condições</a:t>
            </a:r>
            <a:r>
              <a:rPr lang="en-US" dirty="0"/>
              <a:t> de regime </a:t>
            </a:r>
            <a:r>
              <a:rPr lang="en-US" dirty="0" err="1"/>
              <a:t>estacionário</a:t>
            </a:r>
            <a:r>
              <a:rPr lang="en-US" dirty="0"/>
              <a:t>)</a:t>
            </a:r>
            <a:endParaRPr lang="en-US" sz="1200" dirty="0"/>
          </a:p>
        </p:txBody>
      </p:sp>
      <p:sp>
        <p:nvSpPr>
          <p:cNvPr id="20" name="Text 17"/>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5 · Adimensionais</a:t>
            </a:r>
            <a:endParaRPr lang="pt-PT" sz="950" noProof="0" dirty="0"/>
          </a:p>
        </p:txBody>
      </p:sp>
      <p:sp>
        <p:nvSpPr>
          <p:cNvPr id="22" name="Text 19"/>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21</a:t>
            </a:r>
            <a:endParaRPr lang="pt-PT" sz="950" noProof="0" dirty="0"/>
          </a:p>
        </p:txBody>
      </p:sp>
      <p:pic>
        <p:nvPicPr>
          <p:cNvPr id="23" name="Picture 22" descr="Diagram of a long tube with a diagram and diagrams&#10;&#10;AI-generated content may be incorrect.">
            <a:extLst>
              <a:ext uri="{FF2B5EF4-FFF2-40B4-BE49-F238E27FC236}">
                <a16:creationId xmlns:a16="http://schemas.microsoft.com/office/drawing/2014/main" id="{A737BD75-BE74-CA7D-A436-AE96D02ABC91}"/>
              </a:ext>
            </a:extLst>
          </p:cNvPr>
          <p:cNvPicPr>
            <a:picLocks noChangeAspect="1"/>
          </p:cNvPicPr>
          <p:nvPr/>
        </p:nvPicPr>
        <p:blipFill>
          <a:blip r:embed="rId3"/>
          <a:stretch>
            <a:fillRect/>
          </a:stretch>
        </p:blipFill>
        <p:spPr>
          <a:xfrm>
            <a:off x="3393440" y="3090558"/>
            <a:ext cx="5141639" cy="3399431"/>
          </a:xfrm>
          <a:prstGeom prst="rect">
            <a:avLst/>
          </a:prstGeom>
        </p:spPr>
      </p:pic>
      <p:sp>
        <p:nvSpPr>
          <p:cNvPr id="24" name="Rectangle 23">
            <a:extLst>
              <a:ext uri="{FF2B5EF4-FFF2-40B4-BE49-F238E27FC236}">
                <a16:creationId xmlns:a16="http://schemas.microsoft.com/office/drawing/2014/main" id="{DC717806-B6A4-8758-C7DD-A676B1700A77}"/>
              </a:ext>
            </a:extLst>
          </p:cNvPr>
          <p:cNvSpPr/>
          <p:nvPr/>
        </p:nvSpPr>
        <p:spPr>
          <a:xfrm>
            <a:off x="6677247" y="4968168"/>
            <a:ext cx="637954" cy="1921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F203BFD-9D1B-CF34-A3BA-F1DAAADA34F4}"/>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5FF5D652-3611-284B-5F3B-0BD908CAF34F}"/>
              </a:ext>
            </a:extLst>
          </p:cNvPr>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APLICAÇÃO DIRETA</a:t>
            </a:r>
            <a:endParaRPr lang="pt-PT" sz="1300" noProof="0" dirty="0"/>
          </a:p>
        </p:txBody>
      </p:sp>
      <p:sp>
        <p:nvSpPr>
          <p:cNvPr id="4" name="Text 1">
            <a:extLst>
              <a:ext uri="{FF2B5EF4-FFF2-40B4-BE49-F238E27FC236}">
                <a16:creationId xmlns:a16="http://schemas.microsoft.com/office/drawing/2014/main" id="{E6090DEA-18DB-6380-2F33-EA9D8C100272}"/>
              </a:ext>
            </a:extLst>
          </p:cNvPr>
          <p:cNvSpPr/>
          <p:nvPr/>
        </p:nvSpPr>
        <p:spPr>
          <a:xfrm>
            <a:off x="640080" y="713232"/>
            <a:ext cx="10881360" cy="822960"/>
          </a:xfrm>
          <a:prstGeom prst="rect">
            <a:avLst/>
          </a:prstGeom>
          <a:noFill/>
          <a:ln/>
        </p:spPr>
        <p:txBody>
          <a:bodyPr wrap="square" rtlCol="0" anchor="ctr"/>
          <a:lstStyle/>
          <a:p>
            <a:r>
              <a:rPr lang="pt-PT" sz="3200" b="1" noProof="0" dirty="0">
                <a:solidFill>
                  <a:srgbClr val="0B2545"/>
                </a:solidFill>
                <a:latin typeface="Cambria" pitchFamily="34" charset="0"/>
                <a:ea typeface="Cambria" pitchFamily="34" charset="-122"/>
                <a:cs typeface="Cambria" pitchFamily="34" charset="-120"/>
              </a:rPr>
              <a:t>Exemplo 1.2 (</a:t>
            </a:r>
            <a:r>
              <a:rPr lang="pt-PT" sz="3200" dirty="0">
                <a:solidFill>
                  <a:srgbClr val="182A32"/>
                </a:solidFill>
                <a:latin typeface="Calibri" pitchFamily="34" charset="0"/>
                <a:ea typeface="Calibri" pitchFamily="34" charset="-122"/>
                <a:cs typeface="Calibri" pitchFamily="34" charset="-120"/>
              </a:rPr>
              <a:t>INCROPERA, F. P. Fundamentos de transferência de calor e de massa. 8. ed. Rio de Janeiro: LTC, 2019.</a:t>
            </a:r>
            <a:r>
              <a:rPr lang="pt-PT" sz="3200" b="1" noProof="0" dirty="0">
                <a:solidFill>
                  <a:srgbClr val="0B2545"/>
                </a:solidFill>
                <a:latin typeface="Cambria" pitchFamily="34" charset="0"/>
                <a:ea typeface="Cambria" pitchFamily="34" charset="-122"/>
                <a:cs typeface="Cambria" pitchFamily="34" charset="-120"/>
              </a:rPr>
              <a:t>)</a:t>
            </a:r>
            <a:endParaRPr lang="pt-PT" sz="3200" noProof="0" dirty="0"/>
          </a:p>
        </p:txBody>
      </p:sp>
      <p:sp>
        <p:nvSpPr>
          <p:cNvPr id="5" name="Shape 2">
            <a:extLst>
              <a:ext uri="{FF2B5EF4-FFF2-40B4-BE49-F238E27FC236}">
                <a16:creationId xmlns:a16="http://schemas.microsoft.com/office/drawing/2014/main" id="{9AF57AA4-9C1A-F891-8443-7810E2F197E6}"/>
              </a:ext>
            </a:extLst>
          </p:cNvPr>
          <p:cNvSpPr/>
          <p:nvPr/>
        </p:nvSpPr>
        <p:spPr>
          <a:xfrm>
            <a:off x="640080" y="1627632"/>
            <a:ext cx="10881360" cy="1435608"/>
          </a:xfrm>
          <a:prstGeom prst="roundRect">
            <a:avLst>
              <a:gd name="adj" fmla="val 6957"/>
            </a:avLst>
          </a:prstGeom>
          <a:solidFill>
            <a:srgbClr val="EEF4F6"/>
          </a:solidFill>
          <a:ln/>
        </p:spPr>
        <p:txBody>
          <a:bodyPr/>
          <a:lstStyle/>
          <a:p>
            <a:endParaRPr lang="pt-PT" noProof="0" dirty="0"/>
          </a:p>
        </p:txBody>
      </p:sp>
      <p:sp>
        <p:nvSpPr>
          <p:cNvPr id="6" name="Text 3">
            <a:extLst>
              <a:ext uri="{FF2B5EF4-FFF2-40B4-BE49-F238E27FC236}">
                <a16:creationId xmlns:a16="http://schemas.microsoft.com/office/drawing/2014/main" id="{FB2E265C-5399-8FA8-C7B6-586CF601D9FB}"/>
              </a:ext>
            </a:extLst>
          </p:cNvPr>
          <p:cNvSpPr/>
          <p:nvPr/>
        </p:nvSpPr>
        <p:spPr>
          <a:xfrm>
            <a:off x="914400" y="1874520"/>
            <a:ext cx="10332720" cy="868680"/>
          </a:xfrm>
          <a:prstGeom prst="rect">
            <a:avLst/>
          </a:prstGeom>
          <a:noFill/>
          <a:ln/>
        </p:spPr>
        <p:txBody>
          <a:bodyPr wrap="square" rtlCol="0" anchor="ctr"/>
          <a:lstStyle/>
          <a:p>
            <a:r>
              <a:rPr lang="en-US" dirty="0"/>
              <a:t>Uma </a:t>
            </a:r>
            <a:r>
              <a:rPr lang="en-US" dirty="0" err="1"/>
              <a:t>tubulação</a:t>
            </a:r>
            <a:r>
              <a:rPr lang="en-US" dirty="0"/>
              <a:t> de vapor </a:t>
            </a:r>
            <a:r>
              <a:rPr lang="en-US" dirty="0" err="1"/>
              <a:t>d’água</a:t>
            </a:r>
            <a:r>
              <a:rPr lang="en-US" dirty="0"/>
              <a:t> </a:t>
            </a:r>
            <a:r>
              <a:rPr lang="en-US" dirty="0" err="1"/>
              <a:t>sem</a:t>
            </a:r>
            <a:r>
              <a:rPr lang="en-US" dirty="0"/>
              <a:t> </a:t>
            </a:r>
            <a:r>
              <a:rPr lang="en-US" dirty="0" err="1"/>
              <a:t>isolamento</a:t>
            </a:r>
            <a:r>
              <a:rPr lang="en-US" dirty="0"/>
              <a:t> </a:t>
            </a:r>
            <a:r>
              <a:rPr lang="en-US" dirty="0" err="1"/>
              <a:t>térmico</a:t>
            </a:r>
            <a:r>
              <a:rPr lang="en-US" dirty="0"/>
              <a:t> </a:t>
            </a:r>
            <a:r>
              <a:rPr lang="en-US" dirty="0" err="1"/>
              <a:t>atravessa</a:t>
            </a:r>
            <a:r>
              <a:rPr lang="en-US" dirty="0"/>
              <a:t> </a:t>
            </a:r>
            <a:r>
              <a:rPr lang="en-US" dirty="0" err="1"/>
              <a:t>uma</a:t>
            </a:r>
            <a:r>
              <a:rPr lang="en-US" dirty="0"/>
              <a:t> sala </a:t>
            </a:r>
            <a:r>
              <a:rPr lang="en-US" dirty="0" err="1"/>
              <a:t>na</a:t>
            </a:r>
            <a:r>
              <a:rPr lang="en-US" dirty="0"/>
              <a:t> qual o </a:t>
            </a:r>
            <a:r>
              <a:rPr lang="en-US" dirty="0" err="1"/>
              <a:t>ar</a:t>
            </a:r>
            <a:r>
              <a:rPr lang="en-US" dirty="0"/>
              <a:t> e as </a:t>
            </a:r>
            <a:r>
              <a:rPr lang="en-US" dirty="0" err="1"/>
              <a:t>paredes</a:t>
            </a:r>
            <a:r>
              <a:rPr lang="en-US" dirty="0"/>
              <a:t> se </a:t>
            </a:r>
            <a:r>
              <a:rPr lang="en-US" dirty="0" err="1"/>
              <a:t>encontram</a:t>
            </a:r>
            <a:r>
              <a:rPr lang="en-US" dirty="0"/>
              <a:t> a 25 °𝐶. O </a:t>
            </a:r>
            <a:r>
              <a:rPr lang="en-US" dirty="0" err="1"/>
              <a:t>diâmetro</a:t>
            </a:r>
            <a:r>
              <a:rPr lang="en-US" dirty="0"/>
              <a:t> </a:t>
            </a:r>
            <a:r>
              <a:rPr lang="en-US" dirty="0" err="1"/>
              <a:t>externo</a:t>
            </a:r>
            <a:r>
              <a:rPr lang="en-US" dirty="0"/>
              <a:t> do </a:t>
            </a:r>
            <a:r>
              <a:rPr lang="en-US" dirty="0" err="1"/>
              <a:t>tubo</a:t>
            </a:r>
            <a:r>
              <a:rPr lang="en-US" dirty="0"/>
              <a:t> é de 70 𝑚𝑚 e a </a:t>
            </a:r>
            <a:r>
              <a:rPr lang="en-US" dirty="0" err="1"/>
              <a:t>temperatura</a:t>
            </a:r>
            <a:r>
              <a:rPr lang="en-US" dirty="0"/>
              <a:t> de </a:t>
            </a:r>
            <a:r>
              <a:rPr lang="en-US" dirty="0" err="1"/>
              <a:t>sua</a:t>
            </a:r>
            <a:r>
              <a:rPr lang="en-US" dirty="0"/>
              <a:t> </a:t>
            </a:r>
            <a:r>
              <a:rPr lang="en-US" dirty="0" err="1"/>
              <a:t>superfície</a:t>
            </a:r>
            <a:r>
              <a:rPr lang="en-US" dirty="0"/>
              <a:t> é de 200 °𝐶. </a:t>
            </a:r>
            <a:r>
              <a:rPr lang="en-US" dirty="0" err="1"/>
              <a:t>Sendo</a:t>
            </a:r>
            <a:r>
              <a:rPr lang="en-US" dirty="0"/>
              <a:t> o </a:t>
            </a:r>
            <a:r>
              <a:rPr lang="en-US" dirty="0" err="1"/>
              <a:t>coeficiente</a:t>
            </a:r>
            <a:r>
              <a:rPr lang="en-US" dirty="0"/>
              <a:t> </a:t>
            </a:r>
            <a:r>
              <a:rPr lang="en-US" dirty="0" err="1"/>
              <a:t>associado</a:t>
            </a:r>
            <a:r>
              <a:rPr lang="en-US" dirty="0"/>
              <a:t> à </a:t>
            </a:r>
            <a:r>
              <a:rPr lang="en-US" dirty="0" err="1"/>
              <a:t>transferência</a:t>
            </a:r>
            <a:r>
              <a:rPr lang="en-US" dirty="0"/>
              <a:t> de </a:t>
            </a:r>
            <a:r>
              <a:rPr lang="en-US" dirty="0" err="1"/>
              <a:t>calor</a:t>
            </a:r>
            <a:r>
              <a:rPr lang="en-US" dirty="0"/>
              <a:t> </a:t>
            </a:r>
            <a:r>
              <a:rPr lang="en-US" dirty="0" err="1"/>
              <a:t>por</a:t>
            </a:r>
            <a:r>
              <a:rPr lang="en-US" dirty="0"/>
              <a:t> </a:t>
            </a:r>
            <a:r>
              <a:rPr lang="en-US" dirty="0" err="1"/>
              <a:t>convecção</a:t>
            </a:r>
            <a:r>
              <a:rPr lang="en-US" dirty="0"/>
              <a:t> natural da </a:t>
            </a:r>
            <a:r>
              <a:rPr lang="en-US" dirty="0" err="1"/>
              <a:t>superfície</a:t>
            </a:r>
            <a:r>
              <a:rPr lang="en-US" dirty="0"/>
              <a:t> para o </a:t>
            </a:r>
            <a:r>
              <a:rPr lang="en-US" dirty="0" err="1"/>
              <a:t>ar</a:t>
            </a:r>
            <a:r>
              <a:rPr lang="en-US" dirty="0"/>
              <a:t> de 15 𝑊/𝑚2 𝐾, qual é a taxa de </a:t>
            </a:r>
            <a:r>
              <a:rPr lang="en-US" dirty="0" err="1"/>
              <a:t>calor</a:t>
            </a:r>
            <a:r>
              <a:rPr lang="en-US" dirty="0"/>
              <a:t> </a:t>
            </a:r>
            <a:r>
              <a:rPr lang="en-US" dirty="0" err="1"/>
              <a:t>perdida</a:t>
            </a:r>
            <a:r>
              <a:rPr lang="en-US" dirty="0"/>
              <a:t> </a:t>
            </a:r>
            <a:r>
              <a:rPr lang="en-US" dirty="0" err="1"/>
              <a:t>por</a:t>
            </a:r>
            <a:r>
              <a:rPr lang="en-US" dirty="0"/>
              <a:t> </a:t>
            </a:r>
            <a:r>
              <a:rPr lang="en-US" dirty="0" err="1"/>
              <a:t>convecção</a:t>
            </a:r>
            <a:r>
              <a:rPr lang="en-US" dirty="0"/>
              <a:t> </a:t>
            </a:r>
            <a:r>
              <a:rPr lang="en-US" dirty="0" err="1"/>
              <a:t>por</a:t>
            </a:r>
            <a:r>
              <a:rPr lang="en-US" dirty="0"/>
              <a:t> </a:t>
            </a:r>
            <a:r>
              <a:rPr lang="en-US" dirty="0" err="1"/>
              <a:t>unidade</a:t>
            </a:r>
            <a:r>
              <a:rPr lang="en-US" dirty="0"/>
              <a:t> de </a:t>
            </a:r>
            <a:r>
              <a:rPr lang="en-US" dirty="0" err="1"/>
              <a:t>comprimento</a:t>
            </a:r>
            <a:r>
              <a:rPr lang="en-US" dirty="0"/>
              <a:t> do </a:t>
            </a:r>
            <a:r>
              <a:rPr lang="en-US" dirty="0" err="1"/>
              <a:t>tubo</a:t>
            </a:r>
            <a:r>
              <a:rPr lang="en-US" dirty="0"/>
              <a:t>? (</a:t>
            </a:r>
            <a:r>
              <a:rPr lang="en-US" dirty="0" err="1"/>
              <a:t>Considerações</a:t>
            </a:r>
            <a:r>
              <a:rPr lang="en-US" dirty="0"/>
              <a:t>: </a:t>
            </a:r>
            <a:r>
              <a:rPr lang="en-US" dirty="0" err="1"/>
              <a:t>Condições</a:t>
            </a:r>
            <a:r>
              <a:rPr lang="en-US" dirty="0"/>
              <a:t> de regime </a:t>
            </a:r>
            <a:r>
              <a:rPr lang="en-US" dirty="0" err="1"/>
              <a:t>estacionário</a:t>
            </a:r>
            <a:r>
              <a:rPr lang="en-US" dirty="0"/>
              <a:t>)</a:t>
            </a:r>
            <a:endParaRPr lang="en-US" sz="1200" dirty="0"/>
          </a:p>
        </p:txBody>
      </p:sp>
      <p:sp>
        <p:nvSpPr>
          <p:cNvPr id="20" name="Text 17">
            <a:extLst>
              <a:ext uri="{FF2B5EF4-FFF2-40B4-BE49-F238E27FC236}">
                <a16:creationId xmlns:a16="http://schemas.microsoft.com/office/drawing/2014/main" id="{4D213842-6E68-5D6E-4045-DFE1E585763F}"/>
              </a:ext>
            </a:extLst>
          </p:cNvPr>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1" name="Text 18">
            <a:extLst>
              <a:ext uri="{FF2B5EF4-FFF2-40B4-BE49-F238E27FC236}">
                <a16:creationId xmlns:a16="http://schemas.microsoft.com/office/drawing/2014/main" id="{173EDB5D-36D8-7EBB-0E37-D20841ABDE76}"/>
              </a:ext>
            </a:extLst>
          </p:cNvPr>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5 · Adimensionais</a:t>
            </a:r>
            <a:endParaRPr lang="pt-PT" sz="950" noProof="0" dirty="0"/>
          </a:p>
        </p:txBody>
      </p:sp>
      <p:sp>
        <p:nvSpPr>
          <p:cNvPr id="22" name="Text 19">
            <a:extLst>
              <a:ext uri="{FF2B5EF4-FFF2-40B4-BE49-F238E27FC236}">
                <a16:creationId xmlns:a16="http://schemas.microsoft.com/office/drawing/2014/main" id="{CA90AC17-9A56-C7C1-2C55-0513A6CC1C33}"/>
              </a:ext>
            </a:extLst>
          </p:cNvPr>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21</a:t>
            </a:r>
            <a:endParaRPr lang="pt-PT" sz="950" noProof="0" dirty="0"/>
          </a:p>
        </p:txBody>
      </p:sp>
      <p:pic>
        <p:nvPicPr>
          <p:cNvPr id="23" name="Picture 22" descr="Diagram of a long tube with a diagram and diagrams&#10;&#10;AI-generated content may be incorrect.">
            <a:extLst>
              <a:ext uri="{FF2B5EF4-FFF2-40B4-BE49-F238E27FC236}">
                <a16:creationId xmlns:a16="http://schemas.microsoft.com/office/drawing/2014/main" id="{5DE57F37-FA58-33D0-A1C5-3FFD26D0E121}"/>
              </a:ext>
            </a:extLst>
          </p:cNvPr>
          <p:cNvPicPr>
            <a:picLocks noChangeAspect="1"/>
          </p:cNvPicPr>
          <p:nvPr/>
        </p:nvPicPr>
        <p:blipFill>
          <a:blip r:embed="rId3"/>
          <a:stretch>
            <a:fillRect/>
          </a:stretch>
        </p:blipFill>
        <p:spPr>
          <a:xfrm>
            <a:off x="640080" y="3040001"/>
            <a:ext cx="5141639" cy="3399431"/>
          </a:xfrm>
          <a:prstGeom prst="rect">
            <a:avLst/>
          </a:prstGeom>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CCDAF9F-3421-8460-CA81-48F452CD53E8}"/>
                  </a:ext>
                </a:extLst>
              </p:cNvPr>
              <p:cNvSpPr txBox="1"/>
              <p:nvPr/>
            </p:nvSpPr>
            <p:spPr>
              <a:xfrm>
                <a:off x="6439704" y="3239170"/>
                <a:ext cx="4828415" cy="3509102"/>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𝑄</m:t>
                      </m:r>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i="1">
                              <a:latin typeface="Cambria Math" panose="02040503050406030204" pitchFamily="18" charset="0"/>
                            </a:rPr>
                            <m:t>h</m:t>
                          </m:r>
                          <m:r>
                            <a:rPr lang="pt-BR" i="1">
                              <a:latin typeface="Cambria Math" panose="02040503050406030204" pitchFamily="18" charset="0"/>
                            </a:rPr>
                            <m:t>.</m:t>
                          </m:r>
                          <m:r>
                            <a:rPr lang="pt-BR" i="1">
                              <a:latin typeface="Cambria Math" panose="02040503050406030204" pitchFamily="18" charset="0"/>
                            </a:rPr>
                            <m:t>𝐴</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𝑇</m:t>
                              </m:r>
                            </m:e>
                            <m:sub>
                              <m:r>
                                <a:rPr lang="pt-BR" i="1">
                                  <a:latin typeface="Cambria Math" panose="02040503050406030204" pitchFamily="18" charset="0"/>
                                </a:rPr>
                                <m:t>𝑠</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𝑇</m:t>
                              </m:r>
                            </m:e>
                            <m:sub>
                              <m:r>
                                <a:rPr lang="pt-BR" i="1">
                                  <a:latin typeface="Cambria Math" panose="02040503050406030204" pitchFamily="18" charset="0"/>
                                  <a:ea typeface="Cambria Math" panose="02040503050406030204" pitchFamily="18" charset="0"/>
                                </a:rPr>
                                <m:t>∞</m:t>
                              </m:r>
                            </m:sub>
                          </m:sSub>
                          <m:r>
                            <a:rPr lang="pt-BR" i="1">
                              <a:latin typeface="Cambria Math" panose="02040503050406030204" pitchFamily="18" charset="0"/>
                            </a:rPr>
                            <m:t>)</m:t>
                          </m:r>
                        </m:num>
                        <m:den>
                          <m:r>
                            <a:rPr lang="pt-BR" b="0" i="1" smtClean="0">
                              <a:latin typeface="Cambria Math" panose="02040503050406030204" pitchFamily="18" charset="0"/>
                            </a:rPr>
                            <m:t>𝐿</m:t>
                          </m:r>
                        </m:den>
                      </m:f>
                    </m:oMath>
                  </m:oMathPara>
                </a14:m>
                <a:endParaRPr lang="pt-BR" b="0" dirty="0"/>
              </a:p>
              <a:p>
                <a:endParaRPr lang="en-BR" dirty="0"/>
              </a:p>
              <a:p>
                <a14:m>
                  <m:oMathPara xmlns:m="http://schemas.openxmlformats.org/officeDocument/2006/math">
                    <m:oMathParaPr>
                      <m:jc m:val="centerGroup"/>
                    </m:oMathParaPr>
                    <m:oMath xmlns:m="http://schemas.openxmlformats.org/officeDocument/2006/math">
                      <m:r>
                        <a:rPr lang="pt-BR" i="1">
                          <a:latin typeface="Cambria Math" panose="02040503050406030204" pitchFamily="18" charset="0"/>
                        </a:rPr>
                        <m:t>𝑄</m:t>
                      </m:r>
                      <m:r>
                        <a:rPr lang="pt-BR" i="1">
                          <a:latin typeface="Cambria Math" panose="02040503050406030204" pitchFamily="18" charset="0"/>
                        </a:rPr>
                        <m:t>=</m:t>
                      </m:r>
                      <m:f>
                        <m:fPr>
                          <m:ctrlPr>
                            <a:rPr lang="pt-BR" i="1">
                              <a:latin typeface="Cambria Math" panose="02040503050406030204" pitchFamily="18" charset="0"/>
                            </a:rPr>
                          </m:ctrlPr>
                        </m:fPr>
                        <m:num>
                          <m:r>
                            <a:rPr lang="pt-BR" b="0" i="1" smtClean="0">
                              <a:latin typeface="Cambria Math" panose="02040503050406030204" pitchFamily="18" charset="0"/>
                            </a:rPr>
                            <m:t>h</m:t>
                          </m:r>
                          <m:r>
                            <a:rPr lang="pt-BR" i="1">
                              <a:latin typeface="Cambria Math" panose="02040503050406030204" pitchFamily="18" charset="0"/>
                            </a:rPr>
                            <m:t>.</m:t>
                          </m:r>
                          <m:r>
                            <a:rPr lang="pt-BR" b="0" i="1" smtClean="0">
                              <a:latin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𝜋</m:t>
                          </m:r>
                          <m:r>
                            <a:rPr lang="pt-BR" b="0" i="1" smtClean="0">
                              <a:latin typeface="Cambria Math" panose="02040503050406030204" pitchFamily="18" charset="0"/>
                              <a:ea typeface="Cambria Math" panose="02040503050406030204" pitchFamily="18" charset="0"/>
                            </a:rPr>
                            <m:t>𝐷𝐿</m:t>
                          </m:r>
                          <m:r>
                            <a:rPr lang="pt-BR" b="0" i="1" smtClean="0">
                              <a:latin typeface="Cambria Math" panose="02040503050406030204" pitchFamily="18" charset="0"/>
                            </a:rPr>
                            <m:t>)</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𝑇</m:t>
                              </m:r>
                            </m:e>
                            <m:sub>
                              <m:r>
                                <a:rPr lang="pt-BR" i="1">
                                  <a:latin typeface="Cambria Math" panose="02040503050406030204" pitchFamily="18" charset="0"/>
                                </a:rPr>
                                <m:t>𝑠</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𝑇</m:t>
                              </m:r>
                            </m:e>
                            <m:sub>
                              <m:r>
                                <a:rPr lang="pt-BR" i="1">
                                  <a:latin typeface="Cambria Math" panose="02040503050406030204" pitchFamily="18" charset="0"/>
                                  <a:ea typeface="Cambria Math" panose="02040503050406030204" pitchFamily="18" charset="0"/>
                                </a:rPr>
                                <m:t>∞</m:t>
                              </m:r>
                            </m:sub>
                          </m:sSub>
                          <m:r>
                            <a:rPr lang="pt-BR" i="1">
                              <a:latin typeface="Cambria Math" panose="02040503050406030204" pitchFamily="18" charset="0"/>
                            </a:rPr>
                            <m:t>)</m:t>
                          </m:r>
                        </m:num>
                        <m:den>
                          <m:r>
                            <a:rPr lang="pt-BR" i="1">
                              <a:latin typeface="Cambria Math" panose="02040503050406030204" pitchFamily="18" charset="0"/>
                            </a:rPr>
                            <m:t>𝐿</m:t>
                          </m:r>
                        </m:den>
                      </m:f>
                    </m:oMath>
                  </m:oMathPara>
                </a14:m>
                <a:endParaRPr lang="pt-BR" dirty="0"/>
              </a:p>
              <a:p>
                <a:endParaRPr lang="pt-BR" dirty="0"/>
              </a:p>
              <a:p>
                <a14:m>
                  <m:oMathPara xmlns:m="http://schemas.openxmlformats.org/officeDocument/2006/math">
                    <m:oMathParaPr>
                      <m:jc m:val="centerGroup"/>
                    </m:oMathParaPr>
                    <m:oMath xmlns:m="http://schemas.openxmlformats.org/officeDocument/2006/math">
                      <m:r>
                        <a:rPr lang="pt-BR" i="1">
                          <a:latin typeface="Cambria Math" panose="02040503050406030204" pitchFamily="18" charset="0"/>
                        </a:rPr>
                        <m:t>𝑄</m:t>
                      </m:r>
                      <m:r>
                        <a:rPr lang="pt-BR" i="1">
                          <a:latin typeface="Cambria Math" panose="02040503050406030204" pitchFamily="18" charset="0"/>
                        </a:rPr>
                        <m:t>=15 </m:t>
                      </m:r>
                      <m:f>
                        <m:fPr>
                          <m:ctrlPr>
                            <a:rPr lang="pt-BR" b="0" i="1" smtClean="0">
                              <a:latin typeface="Cambria Math" panose="02040503050406030204" pitchFamily="18" charset="0"/>
                            </a:rPr>
                          </m:ctrlPr>
                        </m:fPr>
                        <m:num>
                          <m:r>
                            <a:rPr lang="pt-BR" b="0" i="1" smtClean="0">
                              <a:latin typeface="Cambria Math" panose="02040503050406030204" pitchFamily="18" charset="0"/>
                            </a:rPr>
                            <m:t>𝑊</m:t>
                          </m:r>
                        </m:num>
                        <m:den>
                          <m:sSup>
                            <m:sSupPr>
                              <m:ctrlPr>
                                <a:rPr lang="pt-BR" b="0" i="1" smtClean="0">
                                  <a:latin typeface="Cambria Math" panose="02040503050406030204" pitchFamily="18" charset="0"/>
                                </a:rPr>
                              </m:ctrlPr>
                            </m:sSupPr>
                            <m:e>
                              <m:r>
                                <a:rPr lang="pt-BR" b="0" i="1" smtClean="0">
                                  <a:latin typeface="Cambria Math" panose="02040503050406030204" pitchFamily="18" charset="0"/>
                                </a:rPr>
                                <m:t>𝑚</m:t>
                              </m:r>
                            </m:e>
                            <m:sup>
                              <m:r>
                                <a:rPr lang="pt-BR" b="0" i="1" smtClean="0">
                                  <a:latin typeface="Cambria Math" panose="02040503050406030204" pitchFamily="18" charset="0"/>
                                </a:rPr>
                                <m:t>2</m:t>
                              </m:r>
                            </m:sup>
                          </m:sSup>
                          <m:r>
                            <a:rPr lang="pt-BR" b="0" i="1" smtClean="0">
                              <a:latin typeface="Cambria Math" panose="02040503050406030204" pitchFamily="18" charset="0"/>
                            </a:rPr>
                            <m:t>.</m:t>
                          </m:r>
                          <m:r>
                            <a:rPr lang="pt-BR" b="0" i="1" smtClean="0">
                              <a:latin typeface="Cambria Math" panose="02040503050406030204" pitchFamily="18" charset="0"/>
                            </a:rPr>
                            <m:t>𝐾</m:t>
                          </m:r>
                        </m:den>
                      </m:f>
                      <m:r>
                        <a:rPr lang="pt-BR" b="0" i="1" smtClean="0">
                          <a:latin typeface="Cambria Math" panose="02040503050406030204" pitchFamily="18" charset="0"/>
                        </a:rPr>
                        <m:t> . 3,14 . 0,07 </m:t>
                      </m:r>
                      <m:r>
                        <a:rPr lang="pt-BR" b="0" i="1" smtClean="0">
                          <a:latin typeface="Cambria Math" panose="02040503050406030204" pitchFamily="18" charset="0"/>
                        </a:rPr>
                        <m:t>𝑚</m:t>
                      </m:r>
                      <m:r>
                        <a:rPr lang="pt-BR" b="0" i="1" smtClean="0">
                          <a:latin typeface="Cambria Math" panose="02040503050406030204" pitchFamily="18" charset="0"/>
                        </a:rPr>
                        <m:t> . </m:t>
                      </m:r>
                      <m:d>
                        <m:dPr>
                          <m:ctrlPr>
                            <a:rPr lang="pt-BR" b="0" i="1" smtClean="0">
                              <a:latin typeface="Cambria Math" panose="02040503050406030204" pitchFamily="18" charset="0"/>
                            </a:rPr>
                          </m:ctrlPr>
                        </m:dPr>
                        <m:e>
                          <m:r>
                            <a:rPr lang="pt-BR" b="0" i="1" smtClean="0">
                              <a:latin typeface="Cambria Math" panose="02040503050406030204" pitchFamily="18" charset="0"/>
                            </a:rPr>
                            <m:t>200−25 </m:t>
                          </m:r>
                          <m:r>
                            <a:rPr lang="pt-BR" b="0" i="1" smtClean="0">
                              <a:latin typeface="Cambria Math" panose="02040503050406030204" pitchFamily="18" charset="0"/>
                              <a:ea typeface="Cambria Math" panose="02040503050406030204" pitchFamily="18" charset="0"/>
                            </a:rPr>
                            <m:t>℃</m:t>
                          </m:r>
                        </m:e>
                      </m:d>
                    </m:oMath>
                  </m:oMathPara>
                </a14:m>
                <a:endParaRPr lang="pt-BR" b="0" dirty="0"/>
              </a:p>
              <a:p>
                <a:endParaRPr lang="pt-BR" b="0" dirty="0"/>
              </a:p>
              <a:p>
                <a14:m>
                  <m:oMathPara xmlns:m="http://schemas.openxmlformats.org/officeDocument/2006/math">
                    <m:oMathParaPr>
                      <m:jc m:val="centerGroup"/>
                    </m:oMathParaPr>
                    <m:oMath xmlns:m="http://schemas.openxmlformats.org/officeDocument/2006/math">
                      <m:r>
                        <a:rPr lang="pt-BR" i="1">
                          <a:latin typeface="Cambria Math" panose="02040503050406030204" pitchFamily="18" charset="0"/>
                        </a:rPr>
                        <m:t>𝑄</m:t>
                      </m:r>
                      <m:r>
                        <a:rPr lang="pt-BR" i="1">
                          <a:latin typeface="Cambria Math" panose="02040503050406030204" pitchFamily="18" charset="0"/>
                        </a:rPr>
                        <m:t>=577 </m:t>
                      </m:r>
                      <m:r>
                        <a:rPr lang="pt-BR" b="0" i="1" smtClean="0">
                          <a:latin typeface="Cambria Math" panose="02040503050406030204" pitchFamily="18" charset="0"/>
                        </a:rPr>
                        <m:t>𝑊</m:t>
                      </m:r>
                      <m:r>
                        <a:rPr lang="pt-BR" b="0" i="1" smtClean="0">
                          <a:latin typeface="Cambria Math" panose="02040503050406030204" pitchFamily="18" charset="0"/>
                        </a:rPr>
                        <m:t>/</m:t>
                      </m:r>
                      <m:r>
                        <a:rPr lang="pt-BR" b="0" i="1" smtClean="0">
                          <a:latin typeface="Cambria Math" panose="02040503050406030204" pitchFamily="18" charset="0"/>
                        </a:rPr>
                        <m:t>𝑚</m:t>
                      </m:r>
                    </m:oMath>
                  </m:oMathPara>
                </a14:m>
                <a:endParaRPr lang="pt-BR" b="0" dirty="0"/>
              </a:p>
              <a:p>
                <a:endParaRPr lang="pt-BR" dirty="0"/>
              </a:p>
              <a:p>
                <a:endParaRPr lang="pt-BR" dirty="0"/>
              </a:p>
              <a:p>
                <a:endParaRPr lang="en-BR" dirty="0"/>
              </a:p>
            </p:txBody>
          </p:sp>
        </mc:Choice>
        <mc:Fallback>
          <p:sp>
            <p:nvSpPr>
              <p:cNvPr id="2" name="TextBox 1">
                <a:extLst>
                  <a:ext uri="{FF2B5EF4-FFF2-40B4-BE49-F238E27FC236}">
                    <a16:creationId xmlns:a16="http://schemas.microsoft.com/office/drawing/2014/main" id="{3CCDAF9F-3421-8460-CA81-48F452CD53E8}"/>
                  </a:ext>
                </a:extLst>
              </p:cNvPr>
              <p:cNvSpPr txBox="1">
                <a:spLocks noRot="1" noChangeAspect="1" noMove="1" noResize="1" noEditPoints="1" noAdjustHandles="1" noChangeArrowheads="1" noChangeShapeType="1" noTextEdit="1"/>
              </p:cNvSpPr>
              <p:nvPr/>
            </p:nvSpPr>
            <p:spPr>
              <a:xfrm>
                <a:off x="6439704" y="3239170"/>
                <a:ext cx="4828415" cy="3509102"/>
              </a:xfrm>
              <a:prstGeom prst="rect">
                <a:avLst/>
              </a:prstGeom>
              <a:blipFill>
                <a:blip r:embed="rId4"/>
                <a:stretch>
                  <a:fillRect t="-719"/>
                </a:stretch>
              </a:blipFill>
            </p:spPr>
            <p:txBody>
              <a:bodyPr/>
              <a:lstStyle/>
              <a:p>
                <a:r>
                  <a:rPr lang="en-BR">
                    <a:noFill/>
                  </a:rPr>
                  <a:t> </a:t>
                </a:r>
              </a:p>
            </p:txBody>
          </p:sp>
        </mc:Fallback>
      </mc:AlternateContent>
      <p:sp>
        <p:nvSpPr>
          <p:cNvPr id="7" name="Rectangle 6">
            <a:extLst>
              <a:ext uri="{FF2B5EF4-FFF2-40B4-BE49-F238E27FC236}">
                <a16:creationId xmlns:a16="http://schemas.microsoft.com/office/drawing/2014/main" id="{9031A001-7636-191B-E0A3-811BD0FF20B1}"/>
              </a:ext>
            </a:extLst>
          </p:cNvPr>
          <p:cNvSpPr/>
          <p:nvPr/>
        </p:nvSpPr>
        <p:spPr>
          <a:xfrm>
            <a:off x="3926959" y="4918552"/>
            <a:ext cx="637954" cy="1921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28913506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1">
    <p:bg>
      <p:bgPr>
        <a:solidFill>
          <a:srgbClr val="0B2545"/>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0FA3B1"/>
                </a:solidFill>
                <a:latin typeface="Calibri" pitchFamily="34" charset="0"/>
                <a:ea typeface="Calibri" pitchFamily="34" charset="-122"/>
                <a:cs typeface="Calibri" pitchFamily="34" charset="-120"/>
              </a:rPr>
              <a:t>ESTUDO DE CASO</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FFFFFF"/>
                </a:solidFill>
                <a:latin typeface="Cambria" pitchFamily="34" charset="0"/>
                <a:ea typeface="Cambria" pitchFamily="34" charset="-122"/>
                <a:cs typeface="Cambria" pitchFamily="34" charset="-120"/>
              </a:rPr>
              <a:t>Poluição térmica em um corpo hídrico</a:t>
            </a:r>
            <a:endParaRPr lang="pt-PT" sz="3200" noProof="0" dirty="0"/>
          </a:p>
        </p:txBody>
      </p:sp>
      <p:sp>
        <p:nvSpPr>
          <p:cNvPr id="5" name="Text 2"/>
          <p:cNvSpPr/>
          <p:nvPr/>
        </p:nvSpPr>
        <p:spPr>
          <a:xfrm>
            <a:off x="685800" y="1563624"/>
            <a:ext cx="10515600" cy="1005840"/>
          </a:xfrm>
          <a:prstGeom prst="rect">
            <a:avLst/>
          </a:prstGeom>
          <a:noFill/>
          <a:ln/>
        </p:spPr>
        <p:txBody>
          <a:bodyPr wrap="square" rtlCol="0" anchor="ctr"/>
          <a:lstStyle/>
          <a:p>
            <a:pPr marL="0" indent="0">
              <a:lnSpc>
                <a:spcPts val="2000"/>
              </a:lnSpc>
              <a:buNone/>
            </a:pPr>
            <a:r>
              <a:rPr lang="pt-PT" sz="1400" noProof="0" dirty="0">
                <a:solidFill>
                  <a:srgbClr val="CFE3EC"/>
                </a:solidFill>
                <a:latin typeface="Calibri" pitchFamily="34" charset="0"/>
                <a:ea typeface="Calibri" pitchFamily="34" charset="-122"/>
                <a:cs typeface="Calibri" pitchFamily="34" charset="-120"/>
              </a:rPr>
              <a:t>Uma indústria lança seu efluente de resfriamento em um trecho de rio. A superfície da água fica a uma temperatura mais alta que o ar ambiente, e o calor em excesso se dissipa por convecção na interface água–ar.</a:t>
            </a:r>
            <a:endParaRPr lang="pt-PT" sz="1400" noProof="0" dirty="0"/>
          </a:p>
        </p:txBody>
      </p:sp>
      <p:sp>
        <p:nvSpPr>
          <p:cNvPr id="6" name="Shape 3"/>
          <p:cNvSpPr/>
          <p:nvPr/>
        </p:nvSpPr>
        <p:spPr>
          <a:xfrm>
            <a:off x="718346" y="2596896"/>
            <a:ext cx="10515600" cy="2697480"/>
          </a:xfrm>
          <a:prstGeom prst="roundRect">
            <a:avLst>
              <a:gd name="adj" fmla="val 5405"/>
            </a:avLst>
          </a:prstGeom>
          <a:solidFill>
            <a:srgbClr val="0F2E4E"/>
          </a:solidFill>
          <a:ln w="12700">
            <a:solidFill>
              <a:srgbClr val="0FA3B1"/>
            </a:solidFill>
            <a:prstDash val="solid"/>
          </a:ln>
        </p:spPr>
        <p:txBody>
          <a:bodyPr/>
          <a:lstStyle/>
          <a:p>
            <a:endParaRPr lang="pt-PT" noProof="0" dirty="0"/>
          </a:p>
        </p:txBody>
      </p:sp>
      <p:sp>
        <p:nvSpPr>
          <p:cNvPr id="7" name="Text 4"/>
          <p:cNvSpPr/>
          <p:nvPr/>
        </p:nvSpPr>
        <p:spPr>
          <a:xfrm>
            <a:off x="1051560" y="2701820"/>
            <a:ext cx="10058400" cy="320040"/>
          </a:xfrm>
          <a:prstGeom prst="rect">
            <a:avLst/>
          </a:prstGeom>
          <a:noFill/>
          <a:ln/>
        </p:spPr>
        <p:txBody>
          <a:bodyPr wrap="square" rtlCol="0" anchor="ctr"/>
          <a:lstStyle/>
          <a:p>
            <a:pPr marL="0" indent="0">
              <a:buNone/>
            </a:pPr>
            <a:r>
              <a:rPr lang="pt-PT" sz="1200" b="1" kern="0" spc="150" noProof="0" dirty="0">
                <a:solidFill>
                  <a:srgbClr val="0FA3B1"/>
                </a:solidFill>
                <a:latin typeface="Calibri" pitchFamily="34" charset="0"/>
                <a:ea typeface="Calibri" pitchFamily="34" charset="-122"/>
                <a:cs typeface="Calibri" pitchFamily="34" charset="-120"/>
              </a:rPr>
              <a:t>PERGUNTA DO ESTUDO DE CASO</a:t>
            </a:r>
            <a:endParaRPr lang="pt-PT" sz="1200" noProof="0" dirty="0"/>
          </a:p>
        </p:txBody>
      </p:sp>
      <p:sp>
        <p:nvSpPr>
          <p:cNvPr id="8" name="Text 5"/>
          <p:cNvSpPr/>
          <p:nvPr/>
        </p:nvSpPr>
        <p:spPr>
          <a:xfrm>
            <a:off x="1097280" y="3017985"/>
            <a:ext cx="10058400" cy="2276391"/>
          </a:xfrm>
          <a:prstGeom prst="rect">
            <a:avLst/>
          </a:prstGeom>
          <a:noFill/>
          <a:ln/>
        </p:spPr>
        <p:txBody>
          <a:bodyPr wrap="square" rtlCol="0" anchor="ctr"/>
          <a:lstStyle/>
          <a:p>
            <a:pPr marL="0" indent="0">
              <a:lnSpc>
                <a:spcPts val="2000"/>
              </a:lnSpc>
              <a:buNone/>
            </a:pPr>
            <a:r>
              <a:rPr lang="pt-PT" sz="1500" b="1" noProof="0" dirty="0">
                <a:solidFill>
                  <a:srgbClr val="FFFFFF"/>
                </a:solidFill>
                <a:latin typeface="Calibri" pitchFamily="34" charset="0"/>
                <a:ea typeface="Calibri" pitchFamily="34" charset="-122"/>
                <a:cs typeface="Calibri" pitchFamily="34" charset="-120"/>
              </a:rPr>
              <a:t>Qual a taxa de calor dissipada por convecção na superfície do rio — em um dia calmo (convecção natural) e em um dia com vento (convecção forçada)? Qual situação resfria mais rápido o corpo hídrico?</a:t>
            </a:r>
          </a:p>
          <a:p>
            <a:pPr marL="0" indent="0">
              <a:lnSpc>
                <a:spcPts val="2000"/>
              </a:lnSpc>
              <a:buNone/>
            </a:pPr>
            <a:endParaRPr lang="pt-PT" sz="1500" b="1" dirty="0">
              <a:solidFill>
                <a:srgbClr val="FFFFFF"/>
              </a:solidFill>
              <a:latin typeface="Calibri" pitchFamily="34" charset="0"/>
              <a:ea typeface="Calibri" pitchFamily="34" charset="-122"/>
              <a:cs typeface="Calibri" pitchFamily="34" charset="-120"/>
            </a:endParaRPr>
          </a:p>
          <a:p>
            <a:pPr>
              <a:lnSpc>
                <a:spcPts val="2000"/>
              </a:lnSpc>
            </a:pPr>
            <a:r>
              <a:rPr lang="en-US" sz="1500" b="1" dirty="0">
                <a:solidFill>
                  <a:srgbClr val="FFFFFF"/>
                </a:solidFill>
                <a:latin typeface="Calibri" pitchFamily="34" charset="0"/>
                <a:cs typeface="Calibri" pitchFamily="34" charset="-120"/>
              </a:rPr>
              <a:t>Para fins </a:t>
            </a:r>
            <a:r>
              <a:rPr lang="en-US" sz="1500" b="1" dirty="0" err="1">
                <a:solidFill>
                  <a:srgbClr val="FFFFFF"/>
                </a:solidFill>
                <a:latin typeface="Calibri" pitchFamily="34" charset="0"/>
                <a:cs typeface="Calibri" pitchFamily="34" charset="-120"/>
              </a:rPr>
              <a:t>didáticos</a:t>
            </a:r>
            <a:r>
              <a:rPr lang="en-US" sz="1500" b="1" dirty="0">
                <a:solidFill>
                  <a:srgbClr val="FFFFFF"/>
                </a:solidFill>
                <a:latin typeface="Calibri" pitchFamily="34" charset="0"/>
                <a:cs typeface="Calibri" pitchFamily="34" charset="-120"/>
              </a:rPr>
              <a:t>, </a:t>
            </a:r>
            <a:r>
              <a:rPr lang="en-US" sz="1500" b="1" dirty="0" err="1">
                <a:solidFill>
                  <a:srgbClr val="FFFFFF"/>
                </a:solidFill>
                <a:latin typeface="Calibri" pitchFamily="34" charset="0"/>
                <a:cs typeface="Calibri" pitchFamily="34" charset="-120"/>
              </a:rPr>
              <a:t>adotam</a:t>
            </a:r>
            <a:r>
              <a:rPr lang="en-US" sz="1500" b="1" dirty="0">
                <a:solidFill>
                  <a:srgbClr val="FFFFFF"/>
                </a:solidFill>
                <a:latin typeface="Calibri" pitchFamily="34" charset="0"/>
                <a:cs typeface="Calibri" pitchFamily="34" charset="-120"/>
              </a:rPr>
              <a:t>-se h=20 W/m</a:t>
            </a:r>
            <a:r>
              <a:rPr lang="en-US" sz="1500" b="1" baseline="30000" dirty="0">
                <a:solidFill>
                  <a:srgbClr val="FFFFFF"/>
                </a:solidFill>
                <a:latin typeface="Calibri" pitchFamily="34" charset="0"/>
                <a:cs typeface="Calibri" pitchFamily="34" charset="-120"/>
              </a:rPr>
              <a:t>2</a:t>
            </a:r>
            <a:r>
              <a:rPr lang="en-US" sz="1500" b="1" dirty="0">
                <a:solidFill>
                  <a:srgbClr val="FFFFFF"/>
                </a:solidFill>
                <a:latin typeface="Calibri" pitchFamily="34" charset="0"/>
                <a:cs typeface="Calibri" pitchFamily="34" charset="-120"/>
              </a:rPr>
              <a:t>K para a </a:t>
            </a:r>
            <a:r>
              <a:rPr lang="en-US" sz="1500" b="1" dirty="0" err="1">
                <a:solidFill>
                  <a:srgbClr val="FFFFFF"/>
                </a:solidFill>
                <a:latin typeface="Calibri" pitchFamily="34" charset="0"/>
                <a:cs typeface="Calibri" pitchFamily="34" charset="-120"/>
              </a:rPr>
              <a:t>condição</a:t>
            </a:r>
            <a:r>
              <a:rPr lang="en-US" sz="1500" b="1" dirty="0">
                <a:solidFill>
                  <a:srgbClr val="FFFFFF"/>
                </a:solidFill>
                <a:latin typeface="Calibri" pitchFamily="34" charset="0"/>
                <a:cs typeface="Calibri" pitchFamily="34" charset="-120"/>
              </a:rPr>
              <a:t> de </a:t>
            </a:r>
            <a:r>
              <a:rPr lang="en-US" sz="1500" b="1" dirty="0" err="1">
                <a:solidFill>
                  <a:srgbClr val="FFFFFF"/>
                </a:solidFill>
                <a:latin typeface="Calibri" pitchFamily="34" charset="0"/>
                <a:cs typeface="Calibri" pitchFamily="34" charset="-120"/>
              </a:rPr>
              <a:t>ar</a:t>
            </a:r>
            <a:r>
              <a:rPr lang="en-US" sz="1500" b="1" dirty="0">
                <a:solidFill>
                  <a:srgbClr val="FFFFFF"/>
                </a:solidFill>
                <a:latin typeface="Calibri" pitchFamily="34" charset="0"/>
                <a:cs typeface="Calibri" pitchFamily="34" charset="-120"/>
              </a:rPr>
              <a:t> </a:t>
            </a:r>
            <a:r>
              <a:rPr lang="en-US" sz="1500" b="1" dirty="0" err="1">
                <a:solidFill>
                  <a:srgbClr val="FFFFFF"/>
                </a:solidFill>
                <a:latin typeface="Calibri" pitchFamily="34" charset="0"/>
                <a:cs typeface="Calibri" pitchFamily="34" charset="-120"/>
              </a:rPr>
              <a:t>praticamente</a:t>
            </a:r>
            <a:r>
              <a:rPr lang="en-US" sz="1500" b="1" dirty="0">
                <a:solidFill>
                  <a:srgbClr val="FFFFFF"/>
                </a:solidFill>
                <a:latin typeface="Calibri" pitchFamily="34" charset="0"/>
                <a:cs typeface="Calibri" pitchFamily="34" charset="-120"/>
              </a:rPr>
              <a:t> </a:t>
            </a:r>
            <a:r>
              <a:rPr lang="en-US" sz="1500" b="1" dirty="0" err="1">
                <a:solidFill>
                  <a:srgbClr val="FFFFFF"/>
                </a:solidFill>
                <a:latin typeface="Calibri" pitchFamily="34" charset="0"/>
                <a:cs typeface="Calibri" pitchFamily="34" charset="-120"/>
              </a:rPr>
              <a:t>parado</a:t>
            </a:r>
            <a:r>
              <a:rPr lang="en-US" sz="1500" b="1" dirty="0">
                <a:solidFill>
                  <a:srgbClr val="FFFFFF"/>
                </a:solidFill>
                <a:latin typeface="Calibri" pitchFamily="34" charset="0"/>
                <a:cs typeface="Calibri" pitchFamily="34" charset="-120"/>
              </a:rPr>
              <a:t> e h=80 W/m</a:t>
            </a:r>
            <a:r>
              <a:rPr lang="en-US" sz="1500" b="1" baseline="30000" dirty="0">
                <a:solidFill>
                  <a:srgbClr val="FFFFFF"/>
                </a:solidFill>
                <a:latin typeface="Calibri" pitchFamily="34" charset="0"/>
                <a:cs typeface="Calibri" pitchFamily="34" charset="-120"/>
              </a:rPr>
              <a:t>2</a:t>
            </a:r>
            <a:r>
              <a:rPr lang="en-US" sz="1500" b="1" dirty="0">
                <a:solidFill>
                  <a:srgbClr val="FFFFFF"/>
                </a:solidFill>
                <a:latin typeface="Calibri" pitchFamily="34" charset="0"/>
                <a:cs typeface="Calibri" pitchFamily="34" charset="-120"/>
              </a:rPr>
              <a:t>K para a </a:t>
            </a:r>
            <a:r>
              <a:rPr lang="en-US" sz="1500" b="1" dirty="0" err="1">
                <a:solidFill>
                  <a:srgbClr val="FFFFFF"/>
                </a:solidFill>
                <a:latin typeface="Calibri" pitchFamily="34" charset="0"/>
                <a:cs typeface="Calibri" pitchFamily="34" charset="-120"/>
              </a:rPr>
              <a:t>condição</a:t>
            </a:r>
            <a:r>
              <a:rPr lang="en-US" sz="1500" b="1" dirty="0">
                <a:solidFill>
                  <a:srgbClr val="FFFFFF"/>
                </a:solidFill>
                <a:latin typeface="Calibri" pitchFamily="34" charset="0"/>
                <a:cs typeface="Calibri" pitchFamily="34" charset="-120"/>
              </a:rPr>
              <a:t> com </a:t>
            </a:r>
            <a:r>
              <a:rPr lang="en-US" sz="1500" b="1" dirty="0" err="1">
                <a:solidFill>
                  <a:srgbClr val="FFFFFF"/>
                </a:solidFill>
                <a:latin typeface="Calibri" pitchFamily="34" charset="0"/>
                <a:cs typeface="Calibri" pitchFamily="34" charset="-120"/>
              </a:rPr>
              <a:t>vento</a:t>
            </a:r>
            <a:r>
              <a:rPr lang="en-US" sz="1500" b="1" dirty="0">
                <a:solidFill>
                  <a:srgbClr val="FFFFFF"/>
                </a:solidFill>
                <a:latin typeface="Calibri" pitchFamily="34" charset="0"/>
                <a:cs typeface="Calibri" pitchFamily="34" charset="-120"/>
              </a:rPr>
              <a:t>.</a:t>
            </a:r>
            <a:endParaRPr lang="pt-PT" sz="1500" b="1" dirty="0">
              <a:solidFill>
                <a:srgbClr val="FFFFFF"/>
              </a:solidFill>
              <a:latin typeface="Calibri" pitchFamily="34" charset="0"/>
              <a:cs typeface="Calibri" pitchFamily="34" charset="-120"/>
            </a:endParaRPr>
          </a:p>
          <a:p>
            <a:pPr marL="0" indent="0">
              <a:lnSpc>
                <a:spcPts val="2000"/>
              </a:lnSpc>
              <a:buNone/>
            </a:pPr>
            <a:endParaRPr lang="pt-PT" sz="1500" b="1" dirty="0">
              <a:solidFill>
                <a:srgbClr val="FFFFFF"/>
              </a:solidFill>
              <a:latin typeface="Calibri" pitchFamily="34" charset="0"/>
              <a:cs typeface="Calibri" pitchFamily="34" charset="-120"/>
            </a:endParaRPr>
          </a:p>
          <a:p>
            <a:pPr marL="0" indent="0">
              <a:lnSpc>
                <a:spcPts val="2000"/>
              </a:lnSpc>
              <a:buNone/>
            </a:pPr>
            <a:endParaRPr lang="pt-PT" sz="1500" noProof="0" dirty="0"/>
          </a:p>
        </p:txBody>
      </p:sp>
      <p:sp>
        <p:nvSpPr>
          <p:cNvPr id="9" name="Text 6"/>
          <p:cNvSpPr/>
          <p:nvPr/>
        </p:nvSpPr>
        <p:spPr>
          <a:xfrm>
            <a:off x="822960" y="5500116"/>
            <a:ext cx="10515600" cy="365760"/>
          </a:xfrm>
          <a:prstGeom prst="rect">
            <a:avLst/>
          </a:prstGeom>
          <a:noFill/>
          <a:ln/>
        </p:spPr>
        <p:txBody>
          <a:bodyPr wrap="square" rtlCol="0" anchor="ctr"/>
          <a:lstStyle/>
          <a:p>
            <a:pPr marL="0" indent="0">
              <a:buNone/>
            </a:pPr>
            <a:r>
              <a:rPr lang="pt-PT" sz="1100" i="1" noProof="0" dirty="0">
                <a:solidFill>
                  <a:srgbClr val="0FA3B1"/>
                </a:solidFill>
                <a:latin typeface="Calibri" pitchFamily="34" charset="0"/>
                <a:ea typeface="Calibri" pitchFamily="34" charset="-122"/>
                <a:cs typeface="Calibri" pitchFamily="34" charset="-120"/>
              </a:rPr>
              <a:t>Relevância ambiental: OD, metabolismo aquático, CONAMA 357/2005 — discutido após o cálculo.</a:t>
            </a:r>
            <a:endParaRPr lang="pt-PT" sz="1100" noProof="0" dirty="0"/>
          </a:p>
        </p:txBody>
      </p:sp>
      <p:sp>
        <p:nvSpPr>
          <p:cNvPr id="10" name="Text 7"/>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11" name="Text 8"/>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6 · Estudo de caso</a:t>
            </a:r>
            <a:endParaRPr lang="pt-PT" sz="950" noProof="0" dirty="0"/>
          </a:p>
        </p:txBody>
      </p:sp>
      <p:sp>
        <p:nvSpPr>
          <p:cNvPr id="12" name="Text 9"/>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22</a:t>
            </a:r>
            <a:endParaRPr lang="pt-PT" sz="950" noProof="0" dirty="0"/>
          </a:p>
        </p:txBody>
      </p:sp>
      <p:sp>
        <p:nvSpPr>
          <p:cNvPr id="2" name="Text 2">
            <a:extLst>
              <a:ext uri="{FF2B5EF4-FFF2-40B4-BE49-F238E27FC236}">
                <a16:creationId xmlns:a16="http://schemas.microsoft.com/office/drawing/2014/main" id="{3093DADB-3990-3038-710B-72E18E6C69E3}"/>
              </a:ext>
            </a:extLst>
          </p:cNvPr>
          <p:cNvSpPr/>
          <p:nvPr/>
        </p:nvSpPr>
        <p:spPr>
          <a:xfrm>
            <a:off x="1051560" y="4738878"/>
            <a:ext cx="10881360" cy="457200"/>
          </a:xfrm>
          <a:prstGeom prst="rect">
            <a:avLst/>
          </a:prstGeom>
          <a:noFill/>
          <a:ln/>
        </p:spPr>
        <p:txBody>
          <a:bodyPr wrap="square" rtlCol="0" anchor="ctr"/>
          <a:lstStyle/>
          <a:p>
            <a:pPr marL="0" indent="0">
              <a:buNone/>
            </a:pPr>
            <a:r>
              <a:rPr lang="pt-PT" sz="1400" noProof="0" dirty="0">
                <a:solidFill>
                  <a:schemeClr val="bg1"/>
                </a:solidFill>
                <a:latin typeface="Calibri" pitchFamily="34" charset="0"/>
                <a:ea typeface="Calibri" pitchFamily="34" charset="-122"/>
                <a:cs typeface="Calibri" pitchFamily="34" charset="-120"/>
              </a:rPr>
              <a:t>Dados: trecho de rio com área de superfície A = 5.000 m², temperatura da água </a:t>
            </a:r>
            <a:r>
              <a:rPr lang="pt-PT" sz="1400" noProof="0" dirty="0" err="1">
                <a:solidFill>
                  <a:schemeClr val="bg1"/>
                </a:solidFill>
                <a:latin typeface="Calibri" pitchFamily="34" charset="0"/>
                <a:ea typeface="Calibri" pitchFamily="34" charset="-122"/>
                <a:cs typeface="Calibri" pitchFamily="34" charset="-120"/>
              </a:rPr>
              <a:t>Ts</a:t>
            </a:r>
            <a:r>
              <a:rPr lang="pt-PT" sz="1400" noProof="0" dirty="0">
                <a:solidFill>
                  <a:schemeClr val="bg1"/>
                </a:solidFill>
                <a:latin typeface="Calibri" pitchFamily="34" charset="0"/>
                <a:ea typeface="Calibri" pitchFamily="34" charset="-122"/>
                <a:cs typeface="Calibri" pitchFamily="34" charset="-120"/>
              </a:rPr>
              <a:t> = 32 °C, temperatura do ar T∞ = 24 °C (ΔT = 8 °C).</a:t>
            </a:r>
            <a:endParaRPr lang="pt-PT" sz="1400" noProof="0" dirty="0">
              <a:solidFill>
                <a:schemeClr val="bg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ESTUDO DE CASO</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Resolvendo o estudo de caso</a:t>
            </a:r>
            <a:endParaRPr lang="pt-PT" sz="3200" noProof="0" dirty="0"/>
          </a:p>
        </p:txBody>
      </p:sp>
      <p:sp>
        <p:nvSpPr>
          <p:cNvPr id="5" name="Text 2"/>
          <p:cNvSpPr/>
          <p:nvPr/>
        </p:nvSpPr>
        <p:spPr>
          <a:xfrm>
            <a:off x="640080" y="1783080"/>
            <a:ext cx="10881360" cy="457200"/>
          </a:xfrm>
          <a:prstGeom prst="rect">
            <a:avLst/>
          </a:prstGeom>
          <a:noFill/>
          <a:ln/>
        </p:spPr>
        <p:txBody>
          <a:bodyPr wrap="square" rtlCol="0" anchor="ctr"/>
          <a:lstStyle/>
          <a:p>
            <a:pPr marL="0" indent="0">
              <a:buNone/>
            </a:pPr>
            <a:r>
              <a:rPr lang="pt-PT" sz="1250" noProof="0" dirty="0">
                <a:solidFill>
                  <a:srgbClr val="182A32"/>
                </a:solidFill>
                <a:latin typeface="Calibri" pitchFamily="34" charset="0"/>
                <a:ea typeface="Calibri" pitchFamily="34" charset="-122"/>
                <a:cs typeface="Calibri" pitchFamily="34" charset="-120"/>
              </a:rPr>
              <a:t>Dados: trecho de rio com área de superfície A = 5.000 m², temperatura da água </a:t>
            </a:r>
            <a:r>
              <a:rPr lang="pt-PT" sz="1250" noProof="0" dirty="0" err="1">
                <a:solidFill>
                  <a:srgbClr val="182A32"/>
                </a:solidFill>
                <a:latin typeface="Calibri" pitchFamily="34" charset="0"/>
                <a:ea typeface="Calibri" pitchFamily="34" charset="-122"/>
                <a:cs typeface="Calibri" pitchFamily="34" charset="-120"/>
              </a:rPr>
              <a:t>Ts</a:t>
            </a:r>
            <a:r>
              <a:rPr lang="pt-PT" sz="1250" noProof="0" dirty="0">
                <a:solidFill>
                  <a:srgbClr val="182A32"/>
                </a:solidFill>
                <a:latin typeface="Calibri" pitchFamily="34" charset="0"/>
                <a:ea typeface="Calibri" pitchFamily="34" charset="-122"/>
                <a:cs typeface="Calibri" pitchFamily="34" charset="-120"/>
              </a:rPr>
              <a:t> = 32 °C, temperatura do ar T∞ = 24 °C (ΔT = 8 °C).</a:t>
            </a:r>
            <a:endParaRPr lang="pt-PT" sz="1250" noProof="0" dirty="0"/>
          </a:p>
        </p:txBody>
      </p:sp>
      <p:sp>
        <p:nvSpPr>
          <p:cNvPr id="6" name="Shape 3"/>
          <p:cNvSpPr/>
          <p:nvPr/>
        </p:nvSpPr>
        <p:spPr>
          <a:xfrm>
            <a:off x="640080" y="2423160"/>
            <a:ext cx="5303520" cy="3246120"/>
          </a:xfrm>
          <a:prstGeom prst="roundRect">
            <a:avLst>
              <a:gd name="adj" fmla="val 2597"/>
            </a:avLst>
          </a:prstGeom>
          <a:solidFill>
            <a:srgbClr val="EEF4F6"/>
          </a:solidFill>
          <a:ln/>
        </p:spPr>
        <p:txBody>
          <a:bodyPr/>
          <a:lstStyle/>
          <a:p>
            <a:endParaRPr lang="pt-PT" noProof="0" dirty="0"/>
          </a:p>
        </p:txBody>
      </p:sp>
      <p:sp>
        <p:nvSpPr>
          <p:cNvPr id="7" name="Text 4"/>
          <p:cNvSpPr/>
          <p:nvPr/>
        </p:nvSpPr>
        <p:spPr>
          <a:xfrm>
            <a:off x="914400" y="2651760"/>
            <a:ext cx="4754880" cy="457200"/>
          </a:xfrm>
          <a:prstGeom prst="rect">
            <a:avLst/>
          </a:prstGeom>
          <a:noFill/>
          <a:ln/>
        </p:spPr>
        <p:txBody>
          <a:bodyPr wrap="square" rtlCol="0" anchor="ctr"/>
          <a:lstStyle/>
          <a:p>
            <a:pPr marL="0" indent="0">
              <a:buNone/>
            </a:pPr>
            <a:r>
              <a:rPr lang="pt-PT" sz="1350" b="1" noProof="0" dirty="0">
                <a:solidFill>
                  <a:srgbClr val="1C7293"/>
                </a:solidFill>
                <a:latin typeface="Calibri" pitchFamily="34" charset="0"/>
                <a:ea typeface="Calibri" pitchFamily="34" charset="-122"/>
                <a:cs typeface="Calibri" pitchFamily="34" charset="-120"/>
              </a:rPr>
              <a:t>Dia calmo — convecção natural</a:t>
            </a:r>
            <a:endParaRPr lang="pt-PT" sz="1350" noProof="0" dirty="0"/>
          </a:p>
        </p:txBody>
      </p:sp>
      <p:sp>
        <p:nvSpPr>
          <p:cNvPr id="8" name="Text 5"/>
          <p:cNvSpPr/>
          <p:nvPr/>
        </p:nvSpPr>
        <p:spPr>
          <a:xfrm>
            <a:off x="914400" y="3200400"/>
            <a:ext cx="4754880" cy="365760"/>
          </a:xfrm>
          <a:prstGeom prst="rect">
            <a:avLst/>
          </a:prstGeom>
          <a:noFill/>
          <a:ln/>
        </p:spPr>
        <p:txBody>
          <a:bodyPr wrap="square" rtlCol="0" anchor="ctr"/>
          <a:lstStyle/>
          <a:p>
            <a:pPr marL="0" indent="0">
              <a:buNone/>
            </a:pPr>
            <a:r>
              <a:rPr lang="pt-PT" sz="1500" b="1" noProof="0" dirty="0">
                <a:solidFill>
                  <a:srgbClr val="1C7293"/>
                </a:solidFill>
                <a:latin typeface="Cambria" pitchFamily="34" charset="0"/>
                <a:ea typeface="Cambria" pitchFamily="34" charset="-122"/>
                <a:cs typeface="Cambria" pitchFamily="34" charset="-120"/>
              </a:rPr>
              <a:t>h ≈ 20 W/m²·K</a:t>
            </a:r>
            <a:endParaRPr lang="pt-PT" sz="1500" noProof="0" dirty="0"/>
          </a:p>
        </p:txBody>
      </p:sp>
      <p:sp>
        <p:nvSpPr>
          <p:cNvPr id="9" name="Text 6"/>
          <p:cNvSpPr/>
          <p:nvPr/>
        </p:nvSpPr>
        <p:spPr>
          <a:xfrm>
            <a:off x="914400" y="3703320"/>
            <a:ext cx="4754880" cy="365760"/>
          </a:xfrm>
          <a:prstGeom prst="rect">
            <a:avLst/>
          </a:prstGeom>
          <a:noFill/>
          <a:ln/>
        </p:spPr>
        <p:txBody>
          <a:bodyPr wrap="square" rtlCol="0" anchor="ctr"/>
          <a:lstStyle/>
          <a:p>
            <a:pPr marL="0" indent="0">
              <a:buNone/>
            </a:pPr>
            <a:r>
              <a:rPr lang="pt-PT" sz="1300" dirty="0">
                <a:solidFill>
                  <a:srgbClr val="182A32"/>
                </a:solidFill>
                <a:latin typeface="Calibri" pitchFamily="34" charset="0"/>
                <a:ea typeface="Calibri" pitchFamily="34" charset="-122"/>
                <a:cs typeface="Calibri" pitchFamily="34" charset="-120"/>
              </a:rPr>
              <a:t>q”</a:t>
            </a:r>
            <a:r>
              <a:rPr lang="pt-PT" sz="1300" noProof="0" dirty="0">
                <a:solidFill>
                  <a:srgbClr val="182A32"/>
                </a:solidFill>
                <a:latin typeface="Calibri" pitchFamily="34" charset="0"/>
                <a:ea typeface="Calibri" pitchFamily="34" charset="-122"/>
                <a:cs typeface="Calibri" pitchFamily="34" charset="-120"/>
              </a:rPr>
              <a:t> = 20 × 5.000 × 8</a:t>
            </a:r>
            <a:endParaRPr lang="pt-PT" sz="1300" noProof="0" dirty="0"/>
          </a:p>
        </p:txBody>
      </p:sp>
      <p:sp>
        <p:nvSpPr>
          <p:cNvPr id="10" name="Shape 7"/>
          <p:cNvSpPr/>
          <p:nvPr/>
        </p:nvSpPr>
        <p:spPr>
          <a:xfrm>
            <a:off x="914400" y="4206240"/>
            <a:ext cx="4754880" cy="777240"/>
          </a:xfrm>
          <a:prstGeom prst="roundRect">
            <a:avLst>
              <a:gd name="adj" fmla="val 9412"/>
            </a:avLst>
          </a:prstGeom>
          <a:solidFill>
            <a:srgbClr val="1C7293"/>
          </a:solidFill>
          <a:ln/>
        </p:spPr>
        <p:txBody>
          <a:bodyPr/>
          <a:lstStyle/>
          <a:p>
            <a:endParaRPr lang="pt-PT" noProof="0" dirty="0"/>
          </a:p>
        </p:txBody>
      </p:sp>
      <p:sp>
        <p:nvSpPr>
          <p:cNvPr id="11" name="Text 8"/>
          <p:cNvSpPr/>
          <p:nvPr/>
        </p:nvSpPr>
        <p:spPr>
          <a:xfrm>
            <a:off x="914400" y="4206240"/>
            <a:ext cx="4754880" cy="777240"/>
          </a:xfrm>
          <a:prstGeom prst="rect">
            <a:avLst/>
          </a:prstGeom>
          <a:noFill/>
          <a:ln/>
        </p:spPr>
        <p:txBody>
          <a:bodyPr wrap="square" rtlCol="0" anchor="ctr"/>
          <a:lstStyle/>
          <a:p>
            <a:pPr marL="0" indent="0" algn="ctr">
              <a:buNone/>
            </a:pPr>
            <a:r>
              <a:rPr lang="pt-PT" sz="1600" b="1" dirty="0">
                <a:solidFill>
                  <a:srgbClr val="FFFFFF"/>
                </a:solidFill>
                <a:latin typeface="Cambria" pitchFamily="34" charset="0"/>
                <a:ea typeface="Cambria" pitchFamily="34" charset="-122"/>
                <a:cs typeface="Cambria" pitchFamily="34" charset="-120"/>
              </a:rPr>
              <a:t>q”</a:t>
            </a:r>
            <a:r>
              <a:rPr lang="pt-PT" sz="1600" b="1" noProof="0" dirty="0">
                <a:solidFill>
                  <a:srgbClr val="FFFFFF"/>
                </a:solidFill>
                <a:latin typeface="Cambria" pitchFamily="34" charset="0"/>
                <a:ea typeface="Cambria" pitchFamily="34" charset="-122"/>
                <a:cs typeface="Cambria" pitchFamily="34" charset="-120"/>
              </a:rPr>
              <a:t> = 800.000 W ≈ 0,8 MW</a:t>
            </a:r>
            <a:endParaRPr lang="pt-PT" sz="1600" noProof="0" dirty="0"/>
          </a:p>
        </p:txBody>
      </p:sp>
      <p:sp>
        <p:nvSpPr>
          <p:cNvPr id="12" name="Shape 9"/>
          <p:cNvSpPr/>
          <p:nvPr/>
        </p:nvSpPr>
        <p:spPr>
          <a:xfrm>
            <a:off x="6263640" y="2423160"/>
            <a:ext cx="5303520" cy="3246120"/>
          </a:xfrm>
          <a:prstGeom prst="roundRect">
            <a:avLst>
              <a:gd name="adj" fmla="val 2597"/>
            </a:avLst>
          </a:prstGeom>
          <a:solidFill>
            <a:srgbClr val="EEF4F6"/>
          </a:solidFill>
          <a:ln/>
        </p:spPr>
        <p:txBody>
          <a:bodyPr/>
          <a:lstStyle/>
          <a:p>
            <a:endParaRPr lang="pt-PT" noProof="0" dirty="0"/>
          </a:p>
        </p:txBody>
      </p:sp>
      <p:sp>
        <p:nvSpPr>
          <p:cNvPr id="13" name="Text 10"/>
          <p:cNvSpPr/>
          <p:nvPr/>
        </p:nvSpPr>
        <p:spPr>
          <a:xfrm>
            <a:off x="6537960" y="2651760"/>
            <a:ext cx="4754880" cy="457200"/>
          </a:xfrm>
          <a:prstGeom prst="rect">
            <a:avLst/>
          </a:prstGeom>
          <a:noFill/>
          <a:ln/>
        </p:spPr>
        <p:txBody>
          <a:bodyPr wrap="square" rtlCol="0" anchor="ctr"/>
          <a:lstStyle/>
          <a:p>
            <a:pPr marL="0" indent="0">
              <a:buNone/>
            </a:pPr>
            <a:r>
              <a:rPr lang="pt-PT" sz="1350" b="1" noProof="0" dirty="0">
                <a:solidFill>
                  <a:srgbClr val="065A82"/>
                </a:solidFill>
                <a:latin typeface="Calibri" pitchFamily="34" charset="0"/>
                <a:ea typeface="Calibri" pitchFamily="34" charset="-122"/>
                <a:cs typeface="Calibri" pitchFamily="34" charset="-120"/>
              </a:rPr>
              <a:t>Dia com vento — convecção forçada</a:t>
            </a:r>
            <a:endParaRPr lang="pt-PT" sz="1350" noProof="0" dirty="0"/>
          </a:p>
        </p:txBody>
      </p:sp>
      <p:sp>
        <p:nvSpPr>
          <p:cNvPr id="14" name="Text 11"/>
          <p:cNvSpPr/>
          <p:nvPr/>
        </p:nvSpPr>
        <p:spPr>
          <a:xfrm>
            <a:off x="6537960" y="3200400"/>
            <a:ext cx="4754880" cy="365760"/>
          </a:xfrm>
          <a:prstGeom prst="rect">
            <a:avLst/>
          </a:prstGeom>
          <a:noFill/>
          <a:ln/>
        </p:spPr>
        <p:txBody>
          <a:bodyPr wrap="square" rtlCol="0" anchor="ctr"/>
          <a:lstStyle/>
          <a:p>
            <a:pPr marL="0" indent="0">
              <a:buNone/>
            </a:pPr>
            <a:r>
              <a:rPr lang="pt-PT" sz="1500" b="1" noProof="0" dirty="0">
                <a:solidFill>
                  <a:srgbClr val="065A82"/>
                </a:solidFill>
                <a:latin typeface="Cambria" pitchFamily="34" charset="0"/>
                <a:ea typeface="Cambria" pitchFamily="34" charset="-122"/>
                <a:cs typeface="Cambria" pitchFamily="34" charset="-120"/>
              </a:rPr>
              <a:t>h ≈ 80 W/m²·K</a:t>
            </a:r>
            <a:endParaRPr lang="pt-PT" sz="1500" noProof="0" dirty="0"/>
          </a:p>
        </p:txBody>
      </p:sp>
      <p:sp>
        <p:nvSpPr>
          <p:cNvPr id="15" name="Text 12"/>
          <p:cNvSpPr/>
          <p:nvPr/>
        </p:nvSpPr>
        <p:spPr>
          <a:xfrm>
            <a:off x="6537960" y="3703320"/>
            <a:ext cx="4754880" cy="365760"/>
          </a:xfrm>
          <a:prstGeom prst="rect">
            <a:avLst/>
          </a:prstGeom>
          <a:noFill/>
          <a:ln/>
        </p:spPr>
        <p:txBody>
          <a:bodyPr wrap="square" rtlCol="0" anchor="ctr"/>
          <a:lstStyle/>
          <a:p>
            <a:pPr marL="0" indent="0">
              <a:buNone/>
            </a:pPr>
            <a:r>
              <a:rPr lang="pt-PT" sz="1300" dirty="0">
                <a:solidFill>
                  <a:srgbClr val="182A32"/>
                </a:solidFill>
                <a:latin typeface="Calibri" pitchFamily="34" charset="0"/>
                <a:ea typeface="Calibri" pitchFamily="34" charset="-122"/>
                <a:cs typeface="Calibri" pitchFamily="34" charset="-120"/>
              </a:rPr>
              <a:t>q”</a:t>
            </a:r>
            <a:r>
              <a:rPr lang="pt-PT" sz="1300" noProof="0" dirty="0">
                <a:solidFill>
                  <a:srgbClr val="182A32"/>
                </a:solidFill>
                <a:latin typeface="Calibri" pitchFamily="34" charset="0"/>
                <a:ea typeface="Calibri" pitchFamily="34" charset="-122"/>
                <a:cs typeface="Calibri" pitchFamily="34" charset="-120"/>
              </a:rPr>
              <a:t> = 80 × 5.000 × 8</a:t>
            </a:r>
            <a:endParaRPr lang="pt-PT" sz="1300" noProof="0" dirty="0"/>
          </a:p>
        </p:txBody>
      </p:sp>
      <p:sp>
        <p:nvSpPr>
          <p:cNvPr id="16" name="Shape 13"/>
          <p:cNvSpPr/>
          <p:nvPr/>
        </p:nvSpPr>
        <p:spPr>
          <a:xfrm>
            <a:off x="6537960" y="4206240"/>
            <a:ext cx="4754880" cy="777240"/>
          </a:xfrm>
          <a:prstGeom prst="roundRect">
            <a:avLst>
              <a:gd name="adj" fmla="val 9412"/>
            </a:avLst>
          </a:prstGeom>
          <a:solidFill>
            <a:srgbClr val="065A82"/>
          </a:solidFill>
          <a:ln/>
        </p:spPr>
        <p:txBody>
          <a:bodyPr/>
          <a:lstStyle/>
          <a:p>
            <a:endParaRPr lang="pt-PT" noProof="0" dirty="0"/>
          </a:p>
        </p:txBody>
      </p:sp>
      <p:sp>
        <p:nvSpPr>
          <p:cNvPr id="17" name="Text 14"/>
          <p:cNvSpPr/>
          <p:nvPr/>
        </p:nvSpPr>
        <p:spPr>
          <a:xfrm>
            <a:off x="6537960" y="4206240"/>
            <a:ext cx="4754880" cy="777240"/>
          </a:xfrm>
          <a:prstGeom prst="rect">
            <a:avLst/>
          </a:prstGeom>
          <a:noFill/>
          <a:ln/>
        </p:spPr>
        <p:txBody>
          <a:bodyPr wrap="square" rtlCol="0" anchor="ctr"/>
          <a:lstStyle/>
          <a:p>
            <a:pPr marL="0" indent="0" algn="ctr">
              <a:buNone/>
            </a:pPr>
            <a:r>
              <a:rPr lang="pt-PT" sz="1600" b="1" dirty="0">
                <a:solidFill>
                  <a:srgbClr val="FFFFFF"/>
                </a:solidFill>
                <a:latin typeface="Cambria" pitchFamily="34" charset="0"/>
                <a:ea typeface="Cambria" pitchFamily="34" charset="-122"/>
                <a:cs typeface="Cambria" pitchFamily="34" charset="-120"/>
              </a:rPr>
              <a:t>q”</a:t>
            </a:r>
            <a:r>
              <a:rPr lang="pt-PT" sz="1600" b="1" noProof="0" dirty="0">
                <a:solidFill>
                  <a:srgbClr val="FFFFFF"/>
                </a:solidFill>
                <a:latin typeface="Cambria" pitchFamily="34" charset="0"/>
                <a:ea typeface="Cambria" pitchFamily="34" charset="-122"/>
                <a:cs typeface="Cambria" pitchFamily="34" charset="-120"/>
              </a:rPr>
              <a:t> = 3.200.000 W ≈ 3,2 MW</a:t>
            </a:r>
            <a:endParaRPr lang="pt-PT" sz="1600" noProof="0" dirty="0"/>
          </a:p>
        </p:txBody>
      </p:sp>
      <p:sp>
        <p:nvSpPr>
          <p:cNvPr id="18" name="Text 15"/>
          <p:cNvSpPr/>
          <p:nvPr/>
        </p:nvSpPr>
        <p:spPr>
          <a:xfrm>
            <a:off x="640080" y="5769864"/>
            <a:ext cx="10881360" cy="365760"/>
          </a:xfrm>
          <a:prstGeom prst="rect">
            <a:avLst/>
          </a:prstGeom>
          <a:noFill/>
          <a:ln/>
        </p:spPr>
        <p:txBody>
          <a:bodyPr wrap="square" rtlCol="0" anchor="ctr"/>
          <a:lstStyle/>
          <a:p>
            <a:pPr>
              <a:lnSpc>
                <a:spcPct val="150000"/>
              </a:lnSpc>
            </a:pPr>
            <a:r>
              <a:rPr lang="en-US" sz="1200" b="1" dirty="0"/>
              <a:t>Neste </a:t>
            </a:r>
            <a:r>
              <a:rPr lang="en-US" sz="1200" b="1" dirty="0" err="1"/>
              <a:t>exemplo</a:t>
            </a:r>
            <a:r>
              <a:rPr lang="en-US" sz="1200" b="1" dirty="0"/>
              <a:t>, o valor </a:t>
            </a:r>
            <a:r>
              <a:rPr lang="en-US" sz="1200" b="1" dirty="0" err="1"/>
              <a:t>adotado</a:t>
            </a:r>
            <a:r>
              <a:rPr lang="en-US" sz="1200" b="1" dirty="0"/>
              <a:t> de h </a:t>
            </a:r>
            <a:r>
              <a:rPr lang="en-US" sz="1200" b="1" dirty="0" err="1"/>
              <a:t>na</a:t>
            </a:r>
            <a:r>
              <a:rPr lang="en-US" sz="1200" b="1" dirty="0"/>
              <a:t> </a:t>
            </a:r>
            <a:r>
              <a:rPr lang="en-US" sz="1200" b="1" dirty="0" err="1"/>
              <a:t>condição</a:t>
            </a:r>
            <a:r>
              <a:rPr lang="en-US" sz="1200" b="1" dirty="0"/>
              <a:t> com </a:t>
            </a:r>
            <a:r>
              <a:rPr lang="en-US" sz="1200" b="1" dirty="0" err="1"/>
              <a:t>vento</a:t>
            </a:r>
            <a:r>
              <a:rPr lang="en-US" sz="1200" b="1" dirty="0"/>
              <a:t> </a:t>
            </a:r>
            <a:r>
              <a:rPr lang="en-US" sz="1200" b="1" dirty="0" err="1"/>
              <a:t>é</a:t>
            </a:r>
            <a:r>
              <a:rPr lang="en-US" sz="1200" b="1" dirty="0"/>
              <a:t> </a:t>
            </a:r>
            <a:r>
              <a:rPr lang="en-US" sz="1200" b="1" dirty="0" err="1"/>
              <a:t>quatro</a:t>
            </a:r>
            <a:r>
              <a:rPr lang="en-US" sz="1200" b="1" dirty="0"/>
              <a:t> </a:t>
            </a:r>
            <a:r>
              <a:rPr lang="en-US" sz="1200" b="1" dirty="0" err="1"/>
              <a:t>vezes</a:t>
            </a:r>
            <a:r>
              <a:rPr lang="en-US" sz="1200" b="1" dirty="0"/>
              <a:t> </a:t>
            </a:r>
            <a:r>
              <a:rPr lang="en-US" sz="1200" b="1" dirty="0" err="1"/>
              <a:t>maior</a:t>
            </a:r>
            <a:r>
              <a:rPr lang="en-US" sz="1200" b="1" dirty="0"/>
              <a:t>; </a:t>
            </a:r>
            <a:r>
              <a:rPr lang="en-US" sz="1200" b="1" dirty="0" err="1"/>
              <a:t>mantendo</a:t>
            </a:r>
            <a:r>
              <a:rPr lang="en-US" sz="1200" b="1" dirty="0"/>
              <a:t> A e </a:t>
            </a:r>
            <a:r>
              <a:rPr lang="el-GR" sz="1200" b="1" dirty="0"/>
              <a:t>Δ</a:t>
            </a:r>
            <a:r>
              <a:rPr lang="en-US" sz="1200" b="1" dirty="0"/>
              <a:t>T </a:t>
            </a:r>
            <a:r>
              <a:rPr lang="en-US" sz="1200" b="1" dirty="0" err="1"/>
              <a:t>constantes</a:t>
            </a:r>
            <a:r>
              <a:rPr lang="en-US" sz="1200" b="1" dirty="0"/>
              <a:t>, a taxa </a:t>
            </a:r>
            <a:r>
              <a:rPr lang="en-US" sz="1200" b="1" dirty="0" err="1"/>
              <a:t>convectiva</a:t>
            </a:r>
            <a:r>
              <a:rPr lang="en-US" sz="1200" b="1" dirty="0"/>
              <a:t> </a:t>
            </a:r>
            <a:r>
              <a:rPr lang="en-US" sz="1200" b="1" dirty="0" err="1"/>
              <a:t>também</a:t>
            </a:r>
            <a:r>
              <a:rPr lang="en-US" sz="1200" b="1" dirty="0"/>
              <a:t> </a:t>
            </a:r>
            <a:r>
              <a:rPr lang="en-US" sz="1200" b="1" dirty="0" err="1"/>
              <a:t>aumenta</a:t>
            </a:r>
            <a:r>
              <a:rPr lang="en-US" sz="1200" b="1" dirty="0"/>
              <a:t> </a:t>
            </a:r>
            <a:r>
              <a:rPr lang="en-US" sz="1200" b="1" dirty="0" err="1"/>
              <a:t>quatro</a:t>
            </a:r>
            <a:r>
              <a:rPr lang="en-US" sz="1200" b="1" dirty="0"/>
              <a:t> </a:t>
            </a:r>
            <a:r>
              <a:rPr lang="en-US" sz="1200" b="1" dirty="0" err="1"/>
              <a:t>vezes</a:t>
            </a:r>
            <a:r>
              <a:rPr lang="en-US" sz="1200" b="1" dirty="0"/>
              <a:t>.</a:t>
            </a:r>
            <a:endParaRPr lang="en-US" sz="1200" dirty="0"/>
          </a:p>
          <a:p>
            <a:pPr>
              <a:lnSpc>
                <a:spcPct val="150000"/>
              </a:lnSpc>
            </a:pPr>
            <a:r>
              <a:rPr lang="en-US" sz="1200" dirty="0"/>
              <a:t>Sob as </a:t>
            </a:r>
            <a:r>
              <a:rPr lang="en-US" sz="1200" dirty="0" err="1"/>
              <a:t>mesmas</a:t>
            </a:r>
            <a:r>
              <a:rPr lang="en-US" sz="1200" dirty="0"/>
              <a:t> </a:t>
            </a:r>
            <a:r>
              <a:rPr lang="en-US" sz="1200" dirty="0" err="1"/>
              <a:t>condições</a:t>
            </a:r>
            <a:r>
              <a:rPr lang="en-US" sz="1200" dirty="0"/>
              <a:t> de </a:t>
            </a:r>
            <a:r>
              <a:rPr lang="en-US" sz="1200" dirty="0" err="1"/>
              <a:t>temperatura</a:t>
            </a:r>
            <a:r>
              <a:rPr lang="en-US" sz="1200" dirty="0"/>
              <a:t> e </a:t>
            </a:r>
            <a:r>
              <a:rPr lang="en-US" sz="1200" dirty="0" err="1"/>
              <a:t>área</a:t>
            </a:r>
            <a:r>
              <a:rPr lang="en-US" sz="1200" dirty="0"/>
              <a:t>, a </a:t>
            </a:r>
            <a:r>
              <a:rPr lang="en-US" sz="1200" dirty="0" err="1"/>
              <a:t>presença</a:t>
            </a:r>
            <a:r>
              <a:rPr lang="en-US" sz="1200" dirty="0"/>
              <a:t> de </a:t>
            </a:r>
            <a:r>
              <a:rPr lang="en-US" sz="1200" dirty="0" err="1"/>
              <a:t>vento</a:t>
            </a:r>
            <a:r>
              <a:rPr lang="en-US" sz="1200" dirty="0"/>
              <a:t> </a:t>
            </a:r>
            <a:r>
              <a:rPr lang="en-US" sz="1200" dirty="0" err="1"/>
              <a:t>aumenta</a:t>
            </a:r>
            <a:r>
              <a:rPr lang="en-US" sz="1200" dirty="0"/>
              <a:t> a taxa de </a:t>
            </a:r>
            <a:r>
              <a:rPr lang="en-US" sz="1200" dirty="0" err="1"/>
              <a:t>remoção</a:t>
            </a:r>
            <a:r>
              <a:rPr lang="en-US" sz="1200" dirty="0"/>
              <a:t> de </a:t>
            </a:r>
            <a:r>
              <a:rPr lang="en-US" sz="1200" dirty="0" err="1"/>
              <a:t>calor</a:t>
            </a:r>
            <a:r>
              <a:rPr lang="en-US" sz="1200" dirty="0"/>
              <a:t> </a:t>
            </a:r>
            <a:r>
              <a:rPr lang="en-US" sz="1200" dirty="0" err="1"/>
              <a:t>por</a:t>
            </a:r>
            <a:r>
              <a:rPr lang="en-US" sz="1200" dirty="0"/>
              <a:t> </a:t>
            </a:r>
            <a:r>
              <a:rPr lang="en-US" sz="1200" dirty="0" err="1"/>
              <a:t>convecção</a:t>
            </a:r>
            <a:r>
              <a:rPr lang="en-US" sz="1200" dirty="0"/>
              <a:t>, </a:t>
            </a:r>
            <a:r>
              <a:rPr lang="en-US" sz="1200" dirty="0" err="1"/>
              <a:t>favorecendo</a:t>
            </a:r>
            <a:r>
              <a:rPr lang="en-US" sz="1200" dirty="0"/>
              <a:t> um </a:t>
            </a:r>
            <a:r>
              <a:rPr lang="en-US" sz="1200" dirty="0" err="1"/>
              <a:t>resfriamento</a:t>
            </a:r>
            <a:r>
              <a:rPr lang="en-US" sz="1200" dirty="0"/>
              <a:t> </a:t>
            </a:r>
            <a:r>
              <a:rPr lang="en-US" sz="1200" dirty="0" err="1"/>
              <a:t>mais</a:t>
            </a:r>
            <a:r>
              <a:rPr lang="en-US" sz="1200" dirty="0"/>
              <a:t> </a:t>
            </a:r>
            <a:r>
              <a:rPr lang="en-US" sz="1200" dirty="0" err="1"/>
              <a:t>rápido</a:t>
            </a:r>
            <a:r>
              <a:rPr lang="en-US" sz="1200" dirty="0"/>
              <a:t>.</a:t>
            </a:r>
            <a:endParaRPr lang="pt-PT" sz="1150" noProof="0" dirty="0"/>
          </a:p>
        </p:txBody>
      </p:sp>
      <p:sp>
        <p:nvSpPr>
          <p:cNvPr id="19" name="Text 16"/>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0" name="Text 17"/>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6 · Estudo de caso</a:t>
            </a:r>
            <a:endParaRPr lang="pt-PT" sz="950" noProof="0" dirty="0"/>
          </a:p>
        </p:txBody>
      </p:sp>
      <p:sp>
        <p:nvSpPr>
          <p:cNvPr id="21" name="Text 18"/>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23</a:t>
            </a:r>
            <a:endParaRPr lang="pt-PT" sz="950" noProof="0" dirty="0"/>
          </a:p>
        </p:txBody>
      </p:sp>
      <p:sp>
        <p:nvSpPr>
          <p:cNvPr id="2" name="Text 3">
            <a:extLst>
              <a:ext uri="{FF2B5EF4-FFF2-40B4-BE49-F238E27FC236}">
                <a16:creationId xmlns:a16="http://schemas.microsoft.com/office/drawing/2014/main" id="{DC168BB7-6EDF-F6AE-2A4C-9115F2E2D63B}"/>
              </a:ext>
            </a:extLst>
          </p:cNvPr>
          <p:cNvSpPr/>
          <p:nvPr/>
        </p:nvSpPr>
        <p:spPr>
          <a:xfrm>
            <a:off x="6435108" y="459176"/>
            <a:ext cx="5074920" cy="1331072"/>
          </a:xfrm>
          <a:prstGeom prst="rect">
            <a:avLst/>
          </a:prstGeom>
          <a:noFill/>
          <a:ln/>
        </p:spPr>
        <p:txBody>
          <a:bodyPr wrap="square" rtlCol="0" anchor="ctr"/>
          <a:lstStyle/>
          <a:p>
            <a:pPr marL="0" indent="0" algn="ctr">
              <a:lnSpc>
                <a:spcPts val="4000"/>
              </a:lnSpc>
              <a:buNone/>
            </a:pPr>
            <a:r>
              <a:rPr lang="pt-PT" sz="3400" b="1" noProof="0" dirty="0">
                <a:latin typeface="Cambria" pitchFamily="34" charset="0"/>
                <a:ea typeface="Cambria" pitchFamily="34" charset="-122"/>
                <a:cs typeface="Cambria" pitchFamily="34" charset="-120"/>
              </a:rPr>
              <a:t>q" = h · (</a:t>
            </a:r>
            <a:r>
              <a:rPr lang="pt-PT" sz="3400" b="1" noProof="0" dirty="0" err="1">
                <a:latin typeface="Cambria" pitchFamily="34" charset="0"/>
                <a:ea typeface="Cambria" pitchFamily="34" charset="-122"/>
                <a:cs typeface="Cambria" pitchFamily="34" charset="-120"/>
              </a:rPr>
              <a:t>Ts</a:t>
            </a:r>
            <a:r>
              <a:rPr lang="pt-PT" sz="3400" b="1" noProof="0" dirty="0">
                <a:latin typeface="Cambria" pitchFamily="34" charset="0"/>
                <a:ea typeface="Cambria" pitchFamily="34" charset="-122"/>
                <a:cs typeface="Cambria" pitchFamily="34" charset="-120"/>
              </a:rPr>
              <a:t> − T∞)</a:t>
            </a:r>
            <a:endParaRPr lang="pt-PT" sz="3400" noProof="0" dirty="0"/>
          </a:p>
          <a:p>
            <a:pPr marL="0" indent="0" algn="ctr">
              <a:lnSpc>
                <a:spcPts val="4000"/>
              </a:lnSpc>
              <a:buNone/>
            </a:pPr>
            <a:r>
              <a:rPr lang="pt-PT" sz="2400" noProof="0" dirty="0">
                <a:latin typeface="Cambria" pitchFamily="34" charset="0"/>
                <a:ea typeface="Cambria" pitchFamily="34" charset="-122"/>
                <a:cs typeface="Cambria" pitchFamily="34" charset="-120"/>
              </a:rPr>
              <a:t>Q = h · A · (</a:t>
            </a:r>
            <a:r>
              <a:rPr lang="pt-PT" sz="2400" noProof="0" dirty="0" err="1">
                <a:latin typeface="Cambria" pitchFamily="34" charset="0"/>
                <a:ea typeface="Cambria" pitchFamily="34" charset="-122"/>
                <a:cs typeface="Cambria" pitchFamily="34" charset="-120"/>
              </a:rPr>
              <a:t>Ts</a:t>
            </a:r>
            <a:r>
              <a:rPr lang="pt-PT" sz="2400" noProof="0" dirty="0">
                <a:latin typeface="Cambria" pitchFamily="34" charset="0"/>
                <a:ea typeface="Cambria" pitchFamily="34" charset="-122"/>
                <a:cs typeface="Cambria" pitchFamily="34" charset="-120"/>
              </a:rPr>
              <a:t> − T∞)</a:t>
            </a:r>
            <a:endParaRPr lang="pt-PT" sz="3400" noProof="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ESTUDO DE CASO</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Da física à gestão ambiental</a:t>
            </a:r>
            <a:endParaRPr lang="pt-PT" sz="3200" noProof="0" dirty="0"/>
          </a:p>
        </p:txBody>
      </p:sp>
      <p:sp>
        <p:nvSpPr>
          <p:cNvPr id="5" name="Shape 2"/>
          <p:cNvSpPr/>
          <p:nvPr/>
        </p:nvSpPr>
        <p:spPr>
          <a:xfrm>
            <a:off x="640080" y="1874520"/>
            <a:ext cx="5303520" cy="1828800"/>
          </a:xfrm>
          <a:prstGeom prst="roundRect">
            <a:avLst>
              <a:gd name="adj" fmla="val 4500"/>
            </a:avLst>
          </a:prstGeom>
          <a:solidFill>
            <a:srgbClr val="EEF4F6"/>
          </a:solidFill>
          <a:ln/>
        </p:spPr>
        <p:txBody>
          <a:bodyPr/>
          <a:lstStyle/>
          <a:p>
            <a:endParaRPr lang="pt-PT" noProof="0" dirty="0"/>
          </a:p>
        </p:txBody>
      </p:sp>
      <p:sp>
        <p:nvSpPr>
          <p:cNvPr id="6" name="Text 3"/>
          <p:cNvSpPr/>
          <p:nvPr/>
        </p:nvSpPr>
        <p:spPr>
          <a:xfrm>
            <a:off x="914400" y="2057400"/>
            <a:ext cx="4754880" cy="457200"/>
          </a:xfrm>
          <a:prstGeom prst="rect">
            <a:avLst/>
          </a:prstGeom>
          <a:noFill/>
          <a:ln/>
        </p:spPr>
        <p:txBody>
          <a:bodyPr wrap="square" rtlCol="0" anchor="ctr"/>
          <a:lstStyle/>
          <a:p>
            <a:pPr marL="0" indent="0">
              <a:buNone/>
            </a:pPr>
            <a:r>
              <a:rPr lang="pt-PT" sz="1350" b="1" noProof="0" dirty="0">
                <a:solidFill>
                  <a:srgbClr val="065A82"/>
                </a:solidFill>
                <a:latin typeface="Calibri" pitchFamily="34" charset="0"/>
                <a:ea typeface="Calibri" pitchFamily="34" charset="-122"/>
                <a:cs typeface="Calibri" pitchFamily="34" charset="-120"/>
              </a:rPr>
              <a:t>Oxigênio dissolvido (OD)</a:t>
            </a:r>
            <a:endParaRPr lang="pt-PT" sz="1350" noProof="0" dirty="0"/>
          </a:p>
        </p:txBody>
      </p:sp>
      <p:sp>
        <p:nvSpPr>
          <p:cNvPr id="7" name="Text 4"/>
          <p:cNvSpPr/>
          <p:nvPr/>
        </p:nvSpPr>
        <p:spPr>
          <a:xfrm>
            <a:off x="914400" y="2532888"/>
            <a:ext cx="4754880" cy="1051560"/>
          </a:xfrm>
          <a:prstGeom prst="rect">
            <a:avLst/>
          </a:prstGeom>
          <a:noFill/>
          <a:ln/>
        </p:spPr>
        <p:txBody>
          <a:bodyPr wrap="square" rtlCol="0" anchor="ctr"/>
          <a:lstStyle/>
          <a:p>
            <a:pPr marL="0" indent="0">
              <a:lnSpc>
                <a:spcPts val="1500"/>
              </a:lnSpc>
              <a:buNone/>
            </a:pPr>
            <a:r>
              <a:rPr lang="pt-PT" sz="1200" noProof="0" dirty="0">
                <a:solidFill>
                  <a:srgbClr val="182A32"/>
                </a:solidFill>
                <a:latin typeface="Calibri" pitchFamily="34" charset="0"/>
                <a:ea typeface="Calibri" pitchFamily="34" charset="-122"/>
                <a:cs typeface="Calibri" pitchFamily="34" charset="-120"/>
              </a:rPr>
              <a:t>Águas mais quentes dissolvem menos oxigênio, o que pode comprometer a vida aquática.</a:t>
            </a:r>
            <a:endParaRPr lang="pt-PT" sz="1200" noProof="0" dirty="0"/>
          </a:p>
        </p:txBody>
      </p:sp>
      <p:sp>
        <p:nvSpPr>
          <p:cNvPr id="8" name="Shape 5"/>
          <p:cNvSpPr/>
          <p:nvPr/>
        </p:nvSpPr>
        <p:spPr>
          <a:xfrm>
            <a:off x="6263640" y="1874520"/>
            <a:ext cx="5303520" cy="1828800"/>
          </a:xfrm>
          <a:prstGeom prst="roundRect">
            <a:avLst>
              <a:gd name="adj" fmla="val 4500"/>
            </a:avLst>
          </a:prstGeom>
          <a:solidFill>
            <a:srgbClr val="EEF4F6"/>
          </a:solidFill>
          <a:ln/>
        </p:spPr>
        <p:txBody>
          <a:bodyPr/>
          <a:lstStyle/>
          <a:p>
            <a:endParaRPr lang="pt-PT" noProof="0" dirty="0"/>
          </a:p>
        </p:txBody>
      </p:sp>
      <p:sp>
        <p:nvSpPr>
          <p:cNvPr id="9" name="Text 6"/>
          <p:cNvSpPr/>
          <p:nvPr/>
        </p:nvSpPr>
        <p:spPr>
          <a:xfrm>
            <a:off x="6537960" y="2057400"/>
            <a:ext cx="4754880" cy="457200"/>
          </a:xfrm>
          <a:prstGeom prst="rect">
            <a:avLst/>
          </a:prstGeom>
          <a:noFill/>
          <a:ln/>
        </p:spPr>
        <p:txBody>
          <a:bodyPr wrap="square" rtlCol="0" anchor="ctr"/>
          <a:lstStyle/>
          <a:p>
            <a:pPr marL="0" indent="0">
              <a:buNone/>
            </a:pPr>
            <a:r>
              <a:rPr lang="pt-PT" sz="1350" b="1" noProof="0" dirty="0">
                <a:solidFill>
                  <a:srgbClr val="065A82"/>
                </a:solidFill>
                <a:latin typeface="Calibri" pitchFamily="34" charset="0"/>
                <a:ea typeface="Calibri" pitchFamily="34" charset="-122"/>
                <a:cs typeface="Calibri" pitchFamily="34" charset="-120"/>
              </a:rPr>
              <a:t>Metabolismo da biota</a:t>
            </a:r>
            <a:endParaRPr lang="pt-PT" sz="1350" noProof="0" dirty="0"/>
          </a:p>
        </p:txBody>
      </p:sp>
      <p:sp>
        <p:nvSpPr>
          <p:cNvPr id="10" name="Text 7"/>
          <p:cNvSpPr/>
          <p:nvPr/>
        </p:nvSpPr>
        <p:spPr>
          <a:xfrm>
            <a:off x="6537960" y="2532888"/>
            <a:ext cx="4754880" cy="1051560"/>
          </a:xfrm>
          <a:prstGeom prst="rect">
            <a:avLst/>
          </a:prstGeom>
          <a:noFill/>
          <a:ln/>
        </p:spPr>
        <p:txBody>
          <a:bodyPr wrap="square" rtlCol="0" anchor="ctr"/>
          <a:lstStyle/>
          <a:p>
            <a:pPr marL="0" indent="0">
              <a:lnSpc>
                <a:spcPts val="1500"/>
              </a:lnSpc>
              <a:buNone/>
            </a:pPr>
            <a:r>
              <a:rPr lang="pt-PT" sz="1200" noProof="0" dirty="0">
                <a:solidFill>
                  <a:srgbClr val="182A32"/>
                </a:solidFill>
                <a:latin typeface="Calibri" pitchFamily="34" charset="0"/>
                <a:ea typeface="Calibri" pitchFamily="34" charset="-122"/>
                <a:cs typeface="Calibri" pitchFamily="34" charset="-120"/>
              </a:rPr>
              <a:t>O aumento de temperatura acelera o metabolismo de peixes e microrganismos, elevando a demanda por OD.</a:t>
            </a:r>
            <a:endParaRPr lang="pt-PT" sz="1200" noProof="0" dirty="0"/>
          </a:p>
        </p:txBody>
      </p:sp>
      <p:sp>
        <p:nvSpPr>
          <p:cNvPr id="11" name="Shape 8"/>
          <p:cNvSpPr/>
          <p:nvPr/>
        </p:nvSpPr>
        <p:spPr>
          <a:xfrm>
            <a:off x="640080" y="3886200"/>
            <a:ext cx="5303520" cy="1828800"/>
          </a:xfrm>
          <a:prstGeom prst="roundRect">
            <a:avLst>
              <a:gd name="adj" fmla="val 4500"/>
            </a:avLst>
          </a:prstGeom>
          <a:solidFill>
            <a:srgbClr val="EEF4F6"/>
          </a:solidFill>
          <a:ln/>
        </p:spPr>
        <p:txBody>
          <a:bodyPr/>
          <a:lstStyle/>
          <a:p>
            <a:endParaRPr lang="pt-PT" noProof="0" dirty="0"/>
          </a:p>
        </p:txBody>
      </p:sp>
      <p:sp>
        <p:nvSpPr>
          <p:cNvPr id="12" name="Text 9"/>
          <p:cNvSpPr/>
          <p:nvPr/>
        </p:nvSpPr>
        <p:spPr>
          <a:xfrm>
            <a:off x="914400" y="4069080"/>
            <a:ext cx="4754880" cy="457200"/>
          </a:xfrm>
          <a:prstGeom prst="rect">
            <a:avLst/>
          </a:prstGeom>
          <a:noFill/>
          <a:ln/>
        </p:spPr>
        <p:txBody>
          <a:bodyPr wrap="square" rtlCol="0" anchor="ctr"/>
          <a:lstStyle/>
          <a:p>
            <a:pPr marL="0" indent="0">
              <a:buNone/>
            </a:pPr>
            <a:r>
              <a:rPr lang="pt-PT" sz="1350" b="1" noProof="0" dirty="0">
                <a:solidFill>
                  <a:srgbClr val="065A82"/>
                </a:solidFill>
                <a:latin typeface="Calibri" pitchFamily="34" charset="0"/>
                <a:ea typeface="Calibri" pitchFamily="34" charset="-122"/>
                <a:cs typeface="Calibri" pitchFamily="34" charset="-120"/>
              </a:rPr>
              <a:t>Legislação — CONAMA 430/2011</a:t>
            </a:r>
            <a:endParaRPr lang="pt-PT" sz="1350" noProof="0" dirty="0"/>
          </a:p>
        </p:txBody>
      </p:sp>
      <p:sp>
        <p:nvSpPr>
          <p:cNvPr id="13" name="Text 10"/>
          <p:cNvSpPr/>
          <p:nvPr/>
        </p:nvSpPr>
        <p:spPr>
          <a:xfrm>
            <a:off x="914400" y="4544568"/>
            <a:ext cx="4754880" cy="1051560"/>
          </a:xfrm>
          <a:prstGeom prst="rect">
            <a:avLst/>
          </a:prstGeom>
          <a:noFill/>
          <a:ln/>
        </p:spPr>
        <p:txBody>
          <a:bodyPr wrap="square" rtlCol="0" anchor="ctr"/>
          <a:lstStyle/>
          <a:p>
            <a:pPr>
              <a:lnSpc>
                <a:spcPts val="1500"/>
              </a:lnSpc>
            </a:pPr>
            <a:r>
              <a:rPr lang="en-US" sz="1200" dirty="0">
                <a:solidFill>
                  <a:srgbClr val="182A32"/>
                </a:solidFill>
                <a:latin typeface="Calibri" pitchFamily="34" charset="0"/>
                <a:cs typeface="Calibri" pitchFamily="34" charset="-120"/>
              </a:rPr>
              <a:t>Define as </a:t>
            </a:r>
            <a:r>
              <a:rPr lang="en-US" sz="1200" dirty="0" err="1">
                <a:solidFill>
                  <a:srgbClr val="182A32"/>
                </a:solidFill>
                <a:latin typeface="Calibri" pitchFamily="34" charset="0"/>
                <a:cs typeface="Calibri" pitchFamily="34" charset="-120"/>
              </a:rPr>
              <a:t>regras</a:t>
            </a:r>
            <a:r>
              <a:rPr lang="en-US" sz="1200" dirty="0">
                <a:solidFill>
                  <a:srgbClr val="182A32"/>
                </a:solidFill>
                <a:latin typeface="Calibri" pitchFamily="34" charset="0"/>
                <a:cs typeface="Calibri" pitchFamily="34" charset="-120"/>
              </a:rPr>
              <a:t>, </a:t>
            </a:r>
            <a:r>
              <a:rPr lang="en-US" sz="1200" dirty="0" err="1">
                <a:solidFill>
                  <a:srgbClr val="182A32"/>
                </a:solidFill>
                <a:latin typeface="Calibri" pitchFamily="34" charset="0"/>
                <a:cs typeface="Calibri" pitchFamily="34" charset="-120"/>
              </a:rPr>
              <a:t>limites</a:t>
            </a:r>
            <a:r>
              <a:rPr lang="en-US" sz="1200" dirty="0">
                <a:solidFill>
                  <a:srgbClr val="182A32"/>
                </a:solidFill>
                <a:latin typeface="Calibri" pitchFamily="34" charset="0"/>
                <a:cs typeface="Calibri" pitchFamily="34" charset="-120"/>
              </a:rPr>
              <a:t> e </a:t>
            </a:r>
            <a:r>
              <a:rPr lang="en-US" sz="1200" dirty="0" err="1">
                <a:solidFill>
                  <a:srgbClr val="182A32"/>
                </a:solidFill>
                <a:latin typeface="Calibri" pitchFamily="34" charset="0"/>
                <a:cs typeface="Calibri" pitchFamily="34" charset="-120"/>
              </a:rPr>
              <a:t>padrões</a:t>
            </a:r>
            <a:r>
              <a:rPr lang="en-US" sz="1200" dirty="0">
                <a:solidFill>
                  <a:srgbClr val="182A32"/>
                </a:solidFill>
                <a:latin typeface="Calibri" pitchFamily="34" charset="0"/>
                <a:cs typeface="Calibri" pitchFamily="34" charset="-120"/>
              </a:rPr>
              <a:t> </a:t>
            </a:r>
            <a:r>
              <a:rPr lang="en-US" sz="1200" dirty="0" err="1">
                <a:solidFill>
                  <a:srgbClr val="182A32"/>
                </a:solidFill>
                <a:latin typeface="Calibri" pitchFamily="34" charset="0"/>
                <a:cs typeface="Calibri" pitchFamily="34" charset="-120"/>
              </a:rPr>
              <a:t>federais</a:t>
            </a:r>
            <a:r>
              <a:rPr lang="en-US" sz="1200" dirty="0">
                <a:solidFill>
                  <a:srgbClr val="182A32"/>
                </a:solidFill>
                <a:latin typeface="Calibri" pitchFamily="34" charset="0"/>
                <a:cs typeface="Calibri" pitchFamily="34" charset="-120"/>
              </a:rPr>
              <a:t> para o </a:t>
            </a:r>
            <a:r>
              <a:rPr lang="en-US" sz="1200" dirty="0" err="1">
                <a:solidFill>
                  <a:srgbClr val="182A32"/>
                </a:solidFill>
                <a:latin typeface="Calibri" pitchFamily="34" charset="0"/>
                <a:cs typeface="Calibri" pitchFamily="34" charset="-120"/>
              </a:rPr>
              <a:t>lançamento</a:t>
            </a:r>
            <a:r>
              <a:rPr lang="en-US" sz="1200" dirty="0">
                <a:solidFill>
                  <a:srgbClr val="182A32"/>
                </a:solidFill>
                <a:latin typeface="Calibri" pitchFamily="34" charset="0"/>
                <a:cs typeface="Calibri" pitchFamily="34" charset="-120"/>
              </a:rPr>
              <a:t> de </a:t>
            </a:r>
            <a:r>
              <a:rPr lang="en-US" sz="1200" dirty="0" err="1">
                <a:solidFill>
                  <a:srgbClr val="182A32"/>
                </a:solidFill>
                <a:latin typeface="Calibri" pitchFamily="34" charset="0"/>
                <a:cs typeface="Calibri" pitchFamily="34" charset="-120"/>
              </a:rPr>
              <a:t>efluentes</a:t>
            </a:r>
            <a:r>
              <a:rPr lang="en-US" sz="1200" dirty="0">
                <a:solidFill>
                  <a:srgbClr val="182A32"/>
                </a:solidFill>
                <a:latin typeface="Calibri" pitchFamily="34" charset="0"/>
                <a:cs typeface="Calibri" pitchFamily="34" charset="-120"/>
              </a:rPr>
              <a:t> de </a:t>
            </a:r>
            <a:r>
              <a:rPr lang="en-US" sz="1200" dirty="0" err="1">
                <a:solidFill>
                  <a:srgbClr val="182A32"/>
                </a:solidFill>
                <a:latin typeface="Calibri" pitchFamily="34" charset="0"/>
                <a:cs typeface="Calibri" pitchFamily="34" charset="-120"/>
              </a:rPr>
              <a:t>qualquer</a:t>
            </a:r>
            <a:r>
              <a:rPr lang="en-US" sz="1200" dirty="0">
                <a:solidFill>
                  <a:srgbClr val="182A32"/>
                </a:solidFill>
                <a:latin typeface="Calibri" pitchFamily="34" charset="0"/>
                <a:cs typeface="Calibri" pitchFamily="34" charset="-120"/>
              </a:rPr>
              <a:t> </a:t>
            </a:r>
            <a:r>
              <a:rPr lang="en-US" sz="1200" dirty="0" err="1">
                <a:solidFill>
                  <a:srgbClr val="182A32"/>
                </a:solidFill>
                <a:latin typeface="Calibri" pitchFamily="34" charset="0"/>
                <a:cs typeface="Calibri" pitchFamily="34" charset="-120"/>
              </a:rPr>
              <a:t>fonte</a:t>
            </a:r>
            <a:r>
              <a:rPr lang="en-US" sz="1200" dirty="0">
                <a:solidFill>
                  <a:srgbClr val="182A32"/>
                </a:solidFill>
                <a:latin typeface="Calibri" pitchFamily="34" charset="0"/>
                <a:cs typeface="Calibri" pitchFamily="34" charset="-120"/>
              </a:rPr>
              <a:t> </a:t>
            </a:r>
            <a:r>
              <a:rPr lang="en-US" sz="1200" dirty="0" err="1">
                <a:solidFill>
                  <a:srgbClr val="182A32"/>
                </a:solidFill>
                <a:latin typeface="Calibri" pitchFamily="34" charset="0"/>
                <a:cs typeface="Calibri" pitchFamily="34" charset="-120"/>
              </a:rPr>
              <a:t>poluidora</a:t>
            </a:r>
            <a:r>
              <a:rPr lang="en-US" sz="1200" dirty="0">
                <a:solidFill>
                  <a:srgbClr val="182A32"/>
                </a:solidFill>
                <a:latin typeface="Calibri" pitchFamily="34" charset="0"/>
                <a:cs typeface="Calibri" pitchFamily="34" charset="-120"/>
              </a:rPr>
              <a:t> </a:t>
            </a:r>
            <a:r>
              <a:rPr lang="en-US" sz="1200" dirty="0" err="1">
                <a:solidFill>
                  <a:srgbClr val="182A32"/>
                </a:solidFill>
                <a:latin typeface="Calibri" pitchFamily="34" charset="0"/>
                <a:cs typeface="Calibri" pitchFamily="34" charset="-120"/>
              </a:rPr>
              <a:t>em</a:t>
            </a:r>
            <a:r>
              <a:rPr lang="en-US" sz="1200" dirty="0">
                <a:solidFill>
                  <a:srgbClr val="182A32"/>
                </a:solidFill>
                <a:latin typeface="Calibri" pitchFamily="34" charset="0"/>
                <a:cs typeface="Calibri" pitchFamily="34" charset="-120"/>
              </a:rPr>
              <a:t> </a:t>
            </a:r>
            <a:r>
              <a:rPr lang="en-US" sz="1200" dirty="0" err="1">
                <a:solidFill>
                  <a:srgbClr val="182A32"/>
                </a:solidFill>
                <a:latin typeface="Calibri" pitchFamily="34" charset="0"/>
                <a:cs typeface="Calibri" pitchFamily="34" charset="-120"/>
              </a:rPr>
              <a:t>corpos</a:t>
            </a:r>
            <a:r>
              <a:rPr lang="en-US" sz="1200" dirty="0">
                <a:solidFill>
                  <a:srgbClr val="182A32"/>
                </a:solidFill>
                <a:latin typeface="Calibri" pitchFamily="34" charset="0"/>
                <a:cs typeface="Calibri" pitchFamily="34" charset="-120"/>
              </a:rPr>
              <a:t> de </a:t>
            </a:r>
            <a:r>
              <a:rPr lang="en-US" sz="1200" dirty="0" err="1">
                <a:solidFill>
                  <a:srgbClr val="182A32"/>
                </a:solidFill>
                <a:latin typeface="Calibri" pitchFamily="34" charset="0"/>
                <a:cs typeface="Calibri" pitchFamily="34" charset="-120"/>
              </a:rPr>
              <a:t>água</a:t>
            </a:r>
            <a:r>
              <a:rPr lang="en-US" sz="1200" dirty="0">
                <a:solidFill>
                  <a:srgbClr val="182A32"/>
                </a:solidFill>
                <a:latin typeface="Calibri" pitchFamily="34" charset="0"/>
                <a:cs typeface="Calibri" pitchFamily="34" charset="-120"/>
              </a:rPr>
              <a:t> </a:t>
            </a:r>
            <a:r>
              <a:rPr lang="en-US" sz="1200" dirty="0" err="1">
                <a:solidFill>
                  <a:srgbClr val="182A32"/>
                </a:solidFill>
                <a:latin typeface="Calibri" pitchFamily="34" charset="0"/>
                <a:cs typeface="Calibri" pitchFamily="34" charset="-120"/>
              </a:rPr>
              <a:t>receptores</a:t>
            </a:r>
            <a:r>
              <a:rPr lang="en-US" sz="1200" dirty="0">
                <a:solidFill>
                  <a:srgbClr val="182A32"/>
                </a:solidFill>
                <a:latin typeface="Calibri" pitchFamily="34" charset="0"/>
                <a:cs typeface="Calibri" pitchFamily="34" charset="-120"/>
              </a:rPr>
              <a:t> no </a:t>
            </a:r>
            <a:r>
              <a:rPr lang="en-US" sz="1200" dirty="0" err="1">
                <a:solidFill>
                  <a:srgbClr val="182A32"/>
                </a:solidFill>
                <a:latin typeface="Calibri" pitchFamily="34" charset="0"/>
                <a:cs typeface="Calibri" pitchFamily="34" charset="-120"/>
              </a:rPr>
              <a:t>Brasil</a:t>
            </a:r>
            <a:endParaRPr lang="pt-PT" sz="1200" dirty="0">
              <a:solidFill>
                <a:srgbClr val="182A32"/>
              </a:solidFill>
              <a:latin typeface="Calibri" pitchFamily="34" charset="0"/>
              <a:cs typeface="Calibri" pitchFamily="34" charset="-120"/>
            </a:endParaRPr>
          </a:p>
        </p:txBody>
      </p:sp>
      <p:sp>
        <p:nvSpPr>
          <p:cNvPr id="14" name="Shape 11"/>
          <p:cNvSpPr/>
          <p:nvPr/>
        </p:nvSpPr>
        <p:spPr>
          <a:xfrm>
            <a:off x="6263640" y="3886200"/>
            <a:ext cx="5303520" cy="1828800"/>
          </a:xfrm>
          <a:prstGeom prst="roundRect">
            <a:avLst>
              <a:gd name="adj" fmla="val 4500"/>
            </a:avLst>
          </a:prstGeom>
          <a:solidFill>
            <a:srgbClr val="EEF4F6"/>
          </a:solidFill>
          <a:ln/>
        </p:spPr>
        <p:txBody>
          <a:bodyPr/>
          <a:lstStyle/>
          <a:p>
            <a:endParaRPr lang="pt-PT" noProof="0" dirty="0"/>
          </a:p>
        </p:txBody>
      </p:sp>
      <p:sp>
        <p:nvSpPr>
          <p:cNvPr id="15" name="Text 12"/>
          <p:cNvSpPr/>
          <p:nvPr/>
        </p:nvSpPr>
        <p:spPr>
          <a:xfrm>
            <a:off x="6537960" y="4069080"/>
            <a:ext cx="4754880" cy="457200"/>
          </a:xfrm>
          <a:prstGeom prst="rect">
            <a:avLst/>
          </a:prstGeom>
          <a:noFill/>
          <a:ln/>
        </p:spPr>
        <p:txBody>
          <a:bodyPr wrap="square" rtlCol="0" anchor="ctr"/>
          <a:lstStyle/>
          <a:p>
            <a:pPr marL="0" indent="0">
              <a:buNone/>
            </a:pPr>
            <a:r>
              <a:rPr lang="pt-PT" sz="1350" b="1" noProof="0" dirty="0">
                <a:solidFill>
                  <a:srgbClr val="065A82"/>
                </a:solidFill>
                <a:latin typeface="Calibri" pitchFamily="34" charset="0"/>
                <a:ea typeface="Calibri" pitchFamily="34" charset="-122"/>
                <a:cs typeface="Calibri" pitchFamily="34" charset="-120"/>
              </a:rPr>
              <a:t>Papel do Engenheiro Ambiental</a:t>
            </a:r>
            <a:endParaRPr lang="pt-PT" sz="1350" noProof="0" dirty="0"/>
          </a:p>
        </p:txBody>
      </p:sp>
      <p:sp>
        <p:nvSpPr>
          <p:cNvPr id="16" name="Text 13"/>
          <p:cNvSpPr/>
          <p:nvPr/>
        </p:nvSpPr>
        <p:spPr>
          <a:xfrm>
            <a:off x="6537960" y="4544568"/>
            <a:ext cx="4754880" cy="1051560"/>
          </a:xfrm>
          <a:prstGeom prst="rect">
            <a:avLst/>
          </a:prstGeom>
          <a:noFill/>
          <a:ln/>
        </p:spPr>
        <p:txBody>
          <a:bodyPr wrap="square" rtlCol="0" anchor="ctr"/>
          <a:lstStyle/>
          <a:p>
            <a:pPr marL="0" indent="0">
              <a:lnSpc>
                <a:spcPts val="1500"/>
              </a:lnSpc>
              <a:buNone/>
            </a:pPr>
            <a:r>
              <a:rPr lang="pt-PT" sz="1200" noProof="0" dirty="0">
                <a:solidFill>
                  <a:srgbClr val="182A32"/>
                </a:solidFill>
                <a:latin typeface="Calibri" pitchFamily="34" charset="0"/>
                <a:ea typeface="Calibri" pitchFamily="34" charset="-122"/>
                <a:cs typeface="Calibri" pitchFamily="34" charset="-120"/>
              </a:rPr>
              <a:t>Dimensionar torres de resfriamento e zonas de mistura para garantir a dissipação adequada antes do lançamento.</a:t>
            </a:r>
            <a:endParaRPr lang="pt-PT" sz="1200" noProof="0" dirty="0"/>
          </a:p>
        </p:txBody>
      </p:sp>
      <p:sp>
        <p:nvSpPr>
          <p:cNvPr id="17" name="Text 14"/>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18" name="Text 15"/>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Bloco 6 · Estudo de caso</a:t>
            </a:r>
            <a:endParaRPr lang="pt-PT" sz="950" noProof="0" dirty="0"/>
          </a:p>
        </p:txBody>
      </p:sp>
      <p:sp>
        <p:nvSpPr>
          <p:cNvPr id="19" name="Text 16"/>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24</a:t>
            </a:r>
            <a:endParaRPr lang="pt-PT" sz="950" noProof="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SÍNTESE</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O que vimos hoje</a:t>
            </a:r>
            <a:endParaRPr lang="pt-PT" sz="3200" noProof="0" dirty="0"/>
          </a:p>
        </p:txBody>
      </p:sp>
      <p:sp>
        <p:nvSpPr>
          <p:cNvPr id="5" name="Shape 2"/>
          <p:cNvSpPr/>
          <p:nvPr/>
        </p:nvSpPr>
        <p:spPr>
          <a:xfrm>
            <a:off x="640080" y="1874520"/>
            <a:ext cx="384048" cy="384048"/>
          </a:xfrm>
          <a:prstGeom prst="roundRect">
            <a:avLst>
              <a:gd name="adj" fmla="val 50000"/>
            </a:avLst>
          </a:prstGeom>
          <a:solidFill>
            <a:srgbClr val="065A82"/>
          </a:solidFill>
          <a:ln/>
        </p:spPr>
        <p:txBody>
          <a:bodyPr/>
          <a:lstStyle/>
          <a:p>
            <a:endParaRPr lang="pt-PT" noProof="0" dirty="0"/>
          </a:p>
        </p:txBody>
      </p:sp>
      <p:sp>
        <p:nvSpPr>
          <p:cNvPr id="6" name="Text 3"/>
          <p:cNvSpPr/>
          <p:nvPr/>
        </p:nvSpPr>
        <p:spPr>
          <a:xfrm>
            <a:off x="640080" y="1874520"/>
            <a:ext cx="384048" cy="384048"/>
          </a:xfrm>
          <a:prstGeom prst="rect">
            <a:avLst/>
          </a:prstGeom>
          <a:noFill/>
          <a:ln/>
        </p:spPr>
        <p:txBody>
          <a:bodyPr wrap="square" rtlCol="0" anchor="ctr"/>
          <a:lstStyle/>
          <a:p>
            <a:pPr marL="0" indent="0" algn="ctr">
              <a:buNone/>
            </a:pPr>
            <a:r>
              <a:rPr lang="pt-PT" sz="1300" b="1" noProof="0" dirty="0">
                <a:solidFill>
                  <a:srgbClr val="FFFFFF"/>
                </a:solidFill>
                <a:latin typeface="Calibri" pitchFamily="34" charset="0"/>
                <a:ea typeface="Calibri" pitchFamily="34" charset="-122"/>
                <a:cs typeface="Calibri" pitchFamily="34" charset="-120"/>
              </a:rPr>
              <a:t>1</a:t>
            </a:r>
            <a:endParaRPr lang="pt-PT" sz="1300" noProof="0" dirty="0"/>
          </a:p>
        </p:txBody>
      </p:sp>
      <p:sp>
        <p:nvSpPr>
          <p:cNvPr id="7" name="Text 4"/>
          <p:cNvSpPr/>
          <p:nvPr/>
        </p:nvSpPr>
        <p:spPr>
          <a:xfrm>
            <a:off x="1188720" y="1847088"/>
            <a:ext cx="10332720" cy="457200"/>
          </a:xfrm>
          <a:prstGeom prst="rect">
            <a:avLst/>
          </a:prstGeom>
          <a:noFill/>
          <a:ln/>
        </p:spPr>
        <p:txBody>
          <a:bodyPr wrap="square" rtlCol="0" anchor="ctr"/>
          <a:lstStyle/>
          <a:p>
            <a:pPr marL="0" indent="0">
              <a:buNone/>
            </a:pPr>
            <a:r>
              <a:rPr lang="pt-PT" sz="1300" noProof="0" dirty="0">
                <a:solidFill>
                  <a:srgbClr val="182A32"/>
                </a:solidFill>
                <a:latin typeface="Calibri" pitchFamily="34" charset="0"/>
                <a:ea typeface="Calibri" pitchFamily="34" charset="-122"/>
                <a:cs typeface="Calibri" pitchFamily="34" charset="-120"/>
              </a:rPr>
              <a:t>Convecção</a:t>
            </a:r>
            <a:endParaRPr lang="pt-PT" sz="1300" noProof="0" dirty="0"/>
          </a:p>
        </p:txBody>
      </p:sp>
      <p:sp>
        <p:nvSpPr>
          <p:cNvPr id="8" name="Shape 5"/>
          <p:cNvSpPr/>
          <p:nvPr/>
        </p:nvSpPr>
        <p:spPr>
          <a:xfrm>
            <a:off x="640080" y="2496312"/>
            <a:ext cx="384048" cy="384048"/>
          </a:xfrm>
          <a:prstGeom prst="roundRect">
            <a:avLst>
              <a:gd name="adj" fmla="val 50000"/>
            </a:avLst>
          </a:prstGeom>
          <a:solidFill>
            <a:srgbClr val="065A82"/>
          </a:solidFill>
          <a:ln/>
        </p:spPr>
        <p:txBody>
          <a:bodyPr/>
          <a:lstStyle/>
          <a:p>
            <a:endParaRPr lang="pt-PT" noProof="0" dirty="0"/>
          </a:p>
        </p:txBody>
      </p:sp>
      <p:sp>
        <p:nvSpPr>
          <p:cNvPr id="9" name="Text 6"/>
          <p:cNvSpPr/>
          <p:nvPr/>
        </p:nvSpPr>
        <p:spPr>
          <a:xfrm>
            <a:off x="640080" y="2496312"/>
            <a:ext cx="384048" cy="384048"/>
          </a:xfrm>
          <a:prstGeom prst="rect">
            <a:avLst/>
          </a:prstGeom>
          <a:noFill/>
          <a:ln/>
        </p:spPr>
        <p:txBody>
          <a:bodyPr wrap="square" rtlCol="0" anchor="ctr"/>
          <a:lstStyle/>
          <a:p>
            <a:pPr marL="0" indent="0" algn="ctr">
              <a:buNone/>
            </a:pPr>
            <a:r>
              <a:rPr lang="pt-PT" sz="1300" b="1" noProof="0" dirty="0">
                <a:solidFill>
                  <a:srgbClr val="FFFFFF"/>
                </a:solidFill>
                <a:latin typeface="Calibri" pitchFamily="34" charset="0"/>
                <a:ea typeface="Calibri" pitchFamily="34" charset="-122"/>
                <a:cs typeface="Calibri" pitchFamily="34" charset="-120"/>
              </a:rPr>
              <a:t>2</a:t>
            </a:r>
            <a:endParaRPr lang="pt-PT" sz="1300" noProof="0" dirty="0"/>
          </a:p>
        </p:txBody>
      </p:sp>
      <p:sp>
        <p:nvSpPr>
          <p:cNvPr id="10" name="Text 7"/>
          <p:cNvSpPr/>
          <p:nvPr/>
        </p:nvSpPr>
        <p:spPr>
          <a:xfrm>
            <a:off x="1188720" y="3071888"/>
            <a:ext cx="10332720" cy="457200"/>
          </a:xfrm>
          <a:prstGeom prst="rect">
            <a:avLst/>
          </a:prstGeom>
          <a:noFill/>
          <a:ln/>
        </p:spPr>
        <p:txBody>
          <a:bodyPr wrap="square" rtlCol="0" anchor="ctr"/>
          <a:lstStyle/>
          <a:p>
            <a:pPr marL="0" indent="0">
              <a:buNone/>
            </a:pPr>
            <a:r>
              <a:rPr lang="pt-PT" sz="1300" noProof="0" dirty="0">
                <a:solidFill>
                  <a:srgbClr val="182A32"/>
                </a:solidFill>
                <a:latin typeface="Calibri" pitchFamily="34" charset="0"/>
                <a:ea typeface="Calibri" pitchFamily="34" charset="-122"/>
                <a:cs typeface="Calibri" pitchFamily="34" charset="-120"/>
              </a:rPr>
              <a:t>Convecção natural (empuxo) x forçada (agente externo) — e exemplos ambientais de cada uma.</a:t>
            </a:r>
            <a:endParaRPr lang="pt-PT" sz="1300" noProof="0" dirty="0"/>
          </a:p>
        </p:txBody>
      </p:sp>
      <p:sp>
        <p:nvSpPr>
          <p:cNvPr id="11" name="Shape 8"/>
          <p:cNvSpPr/>
          <p:nvPr/>
        </p:nvSpPr>
        <p:spPr>
          <a:xfrm>
            <a:off x="640080" y="3118104"/>
            <a:ext cx="384048" cy="384048"/>
          </a:xfrm>
          <a:prstGeom prst="roundRect">
            <a:avLst>
              <a:gd name="adj" fmla="val 50000"/>
            </a:avLst>
          </a:prstGeom>
          <a:solidFill>
            <a:srgbClr val="065A82"/>
          </a:solidFill>
          <a:ln/>
        </p:spPr>
        <p:txBody>
          <a:bodyPr/>
          <a:lstStyle/>
          <a:p>
            <a:endParaRPr lang="pt-PT" noProof="0" dirty="0"/>
          </a:p>
        </p:txBody>
      </p:sp>
      <p:sp>
        <p:nvSpPr>
          <p:cNvPr id="12" name="Text 9"/>
          <p:cNvSpPr/>
          <p:nvPr/>
        </p:nvSpPr>
        <p:spPr>
          <a:xfrm>
            <a:off x="640080" y="3118104"/>
            <a:ext cx="384048" cy="384048"/>
          </a:xfrm>
          <a:prstGeom prst="rect">
            <a:avLst/>
          </a:prstGeom>
          <a:noFill/>
          <a:ln/>
        </p:spPr>
        <p:txBody>
          <a:bodyPr wrap="square" rtlCol="0" anchor="ctr"/>
          <a:lstStyle/>
          <a:p>
            <a:pPr marL="0" indent="0" algn="ctr">
              <a:buNone/>
            </a:pPr>
            <a:r>
              <a:rPr lang="pt-PT" sz="1300" b="1" noProof="0" dirty="0">
                <a:solidFill>
                  <a:srgbClr val="FFFFFF"/>
                </a:solidFill>
                <a:latin typeface="Calibri" pitchFamily="34" charset="0"/>
                <a:ea typeface="Calibri" pitchFamily="34" charset="-122"/>
                <a:cs typeface="Calibri" pitchFamily="34" charset="-120"/>
              </a:rPr>
              <a:t>3</a:t>
            </a:r>
            <a:endParaRPr lang="pt-PT" sz="1300" noProof="0" dirty="0"/>
          </a:p>
        </p:txBody>
      </p:sp>
      <p:sp>
        <p:nvSpPr>
          <p:cNvPr id="13" name="Text 10"/>
          <p:cNvSpPr/>
          <p:nvPr/>
        </p:nvSpPr>
        <p:spPr>
          <a:xfrm>
            <a:off x="1188720" y="2439888"/>
            <a:ext cx="10332720" cy="457200"/>
          </a:xfrm>
          <a:prstGeom prst="rect">
            <a:avLst/>
          </a:prstGeom>
          <a:noFill/>
          <a:ln/>
        </p:spPr>
        <p:txBody>
          <a:bodyPr wrap="square" rtlCol="0" anchor="ctr"/>
          <a:lstStyle/>
          <a:p>
            <a:pPr marL="0" indent="0">
              <a:buNone/>
            </a:pPr>
            <a:r>
              <a:rPr lang="pt-PT" sz="1300" noProof="0" dirty="0">
                <a:solidFill>
                  <a:srgbClr val="182A32"/>
                </a:solidFill>
                <a:latin typeface="Calibri" pitchFamily="34" charset="0"/>
                <a:ea typeface="Calibri" pitchFamily="34" charset="-122"/>
                <a:cs typeface="Calibri" pitchFamily="34" charset="-120"/>
              </a:rPr>
              <a:t>Camada limite hidrodinâmica e térmica — regiões onde ocorrem os gradientes que definem h.</a:t>
            </a:r>
            <a:endParaRPr lang="pt-PT" sz="1300" noProof="0" dirty="0"/>
          </a:p>
        </p:txBody>
      </p:sp>
      <p:sp>
        <p:nvSpPr>
          <p:cNvPr id="14" name="Shape 11"/>
          <p:cNvSpPr/>
          <p:nvPr/>
        </p:nvSpPr>
        <p:spPr>
          <a:xfrm>
            <a:off x="640080" y="3739896"/>
            <a:ext cx="384048" cy="384048"/>
          </a:xfrm>
          <a:prstGeom prst="roundRect">
            <a:avLst>
              <a:gd name="adj" fmla="val 50000"/>
            </a:avLst>
          </a:prstGeom>
          <a:solidFill>
            <a:srgbClr val="065A82"/>
          </a:solidFill>
          <a:ln/>
        </p:spPr>
        <p:txBody>
          <a:bodyPr/>
          <a:lstStyle/>
          <a:p>
            <a:endParaRPr lang="pt-PT" noProof="0" dirty="0"/>
          </a:p>
        </p:txBody>
      </p:sp>
      <p:sp>
        <p:nvSpPr>
          <p:cNvPr id="15" name="Text 12"/>
          <p:cNvSpPr/>
          <p:nvPr/>
        </p:nvSpPr>
        <p:spPr>
          <a:xfrm>
            <a:off x="640080" y="3739896"/>
            <a:ext cx="384048" cy="384048"/>
          </a:xfrm>
          <a:prstGeom prst="rect">
            <a:avLst/>
          </a:prstGeom>
          <a:noFill/>
          <a:ln/>
        </p:spPr>
        <p:txBody>
          <a:bodyPr wrap="square" rtlCol="0" anchor="ctr"/>
          <a:lstStyle/>
          <a:p>
            <a:pPr marL="0" indent="0" algn="ctr">
              <a:buNone/>
            </a:pPr>
            <a:r>
              <a:rPr lang="pt-PT" sz="1300" b="1" noProof="0" dirty="0">
                <a:solidFill>
                  <a:srgbClr val="FFFFFF"/>
                </a:solidFill>
                <a:latin typeface="Calibri" pitchFamily="34" charset="0"/>
                <a:ea typeface="Calibri" pitchFamily="34" charset="-122"/>
                <a:cs typeface="Calibri" pitchFamily="34" charset="-120"/>
              </a:rPr>
              <a:t>4</a:t>
            </a:r>
            <a:endParaRPr lang="pt-PT" sz="1300" noProof="0" dirty="0"/>
          </a:p>
        </p:txBody>
      </p:sp>
      <p:sp>
        <p:nvSpPr>
          <p:cNvPr id="16" name="Text 13"/>
          <p:cNvSpPr/>
          <p:nvPr/>
        </p:nvSpPr>
        <p:spPr>
          <a:xfrm>
            <a:off x="1188720" y="3712464"/>
            <a:ext cx="10332720" cy="457200"/>
          </a:xfrm>
          <a:prstGeom prst="rect">
            <a:avLst/>
          </a:prstGeom>
          <a:noFill/>
          <a:ln/>
        </p:spPr>
        <p:txBody>
          <a:bodyPr wrap="square" rtlCol="0" anchor="ctr"/>
          <a:lstStyle/>
          <a:p>
            <a:pPr marL="0" indent="0">
              <a:buNone/>
            </a:pPr>
            <a:r>
              <a:rPr lang="pt-PT" sz="1300" noProof="0" dirty="0">
                <a:solidFill>
                  <a:srgbClr val="182A32"/>
                </a:solidFill>
                <a:latin typeface="Calibri" pitchFamily="34" charset="0"/>
                <a:ea typeface="Calibri" pitchFamily="34" charset="-122"/>
                <a:cs typeface="Calibri" pitchFamily="34" charset="-120"/>
              </a:rPr>
              <a:t>Lei de Newton: Q = </a:t>
            </a:r>
            <a:r>
              <a:rPr lang="pt-PT" sz="1300" noProof="0" dirty="0" err="1">
                <a:solidFill>
                  <a:srgbClr val="182A32"/>
                </a:solidFill>
                <a:latin typeface="Calibri" pitchFamily="34" charset="0"/>
                <a:ea typeface="Calibri" pitchFamily="34" charset="-122"/>
                <a:cs typeface="Calibri" pitchFamily="34" charset="-120"/>
              </a:rPr>
              <a:t>h·A</a:t>
            </a:r>
            <a:r>
              <a:rPr lang="pt-PT" sz="1300" noProof="0" dirty="0">
                <a:solidFill>
                  <a:srgbClr val="182A32"/>
                </a:solidFill>
                <a:latin typeface="Calibri" pitchFamily="34" charset="0"/>
                <a:ea typeface="Calibri" pitchFamily="34" charset="-122"/>
                <a:cs typeface="Calibri" pitchFamily="34" charset="-120"/>
              </a:rPr>
              <a:t>·(</a:t>
            </a:r>
            <a:r>
              <a:rPr lang="pt-PT" sz="1300" noProof="0" dirty="0" err="1">
                <a:solidFill>
                  <a:srgbClr val="182A32"/>
                </a:solidFill>
                <a:latin typeface="Calibri" pitchFamily="34" charset="0"/>
                <a:ea typeface="Calibri" pitchFamily="34" charset="-122"/>
                <a:cs typeface="Calibri" pitchFamily="34" charset="-120"/>
              </a:rPr>
              <a:t>Ts</a:t>
            </a:r>
            <a:r>
              <a:rPr lang="pt-PT" sz="1300" noProof="0" dirty="0">
                <a:solidFill>
                  <a:srgbClr val="182A32"/>
                </a:solidFill>
                <a:latin typeface="Calibri" pitchFamily="34" charset="0"/>
                <a:ea typeface="Calibri" pitchFamily="34" charset="-122"/>
                <a:cs typeface="Calibri" pitchFamily="34" charset="-120"/>
              </a:rPr>
              <a:t> − T∞) — h não é propriedade do fluido, depende do processo.</a:t>
            </a:r>
            <a:endParaRPr lang="pt-PT" sz="1300" noProof="0" dirty="0"/>
          </a:p>
        </p:txBody>
      </p:sp>
      <p:sp>
        <p:nvSpPr>
          <p:cNvPr id="17" name="Shape 14"/>
          <p:cNvSpPr/>
          <p:nvPr/>
        </p:nvSpPr>
        <p:spPr>
          <a:xfrm>
            <a:off x="640080" y="4361688"/>
            <a:ext cx="384048" cy="384048"/>
          </a:xfrm>
          <a:prstGeom prst="roundRect">
            <a:avLst>
              <a:gd name="adj" fmla="val 50000"/>
            </a:avLst>
          </a:prstGeom>
          <a:solidFill>
            <a:srgbClr val="065A82"/>
          </a:solidFill>
          <a:ln/>
        </p:spPr>
        <p:txBody>
          <a:bodyPr/>
          <a:lstStyle/>
          <a:p>
            <a:endParaRPr lang="pt-PT" noProof="0" dirty="0"/>
          </a:p>
        </p:txBody>
      </p:sp>
      <p:sp>
        <p:nvSpPr>
          <p:cNvPr id="18" name="Text 15"/>
          <p:cNvSpPr/>
          <p:nvPr/>
        </p:nvSpPr>
        <p:spPr>
          <a:xfrm>
            <a:off x="640080" y="4361688"/>
            <a:ext cx="384048" cy="384048"/>
          </a:xfrm>
          <a:prstGeom prst="rect">
            <a:avLst/>
          </a:prstGeom>
          <a:noFill/>
          <a:ln/>
        </p:spPr>
        <p:txBody>
          <a:bodyPr wrap="square" rtlCol="0" anchor="ctr"/>
          <a:lstStyle/>
          <a:p>
            <a:pPr marL="0" indent="0" algn="ctr">
              <a:buNone/>
            </a:pPr>
            <a:r>
              <a:rPr lang="pt-PT" sz="1300" b="1" noProof="0" dirty="0">
                <a:solidFill>
                  <a:srgbClr val="FFFFFF"/>
                </a:solidFill>
                <a:latin typeface="Calibri" pitchFamily="34" charset="0"/>
                <a:ea typeface="Calibri" pitchFamily="34" charset="-122"/>
                <a:cs typeface="Calibri" pitchFamily="34" charset="-120"/>
              </a:rPr>
              <a:t>5</a:t>
            </a:r>
            <a:endParaRPr lang="pt-PT" sz="1300" noProof="0" dirty="0"/>
          </a:p>
        </p:txBody>
      </p:sp>
      <p:sp>
        <p:nvSpPr>
          <p:cNvPr id="19" name="Text 16"/>
          <p:cNvSpPr/>
          <p:nvPr/>
        </p:nvSpPr>
        <p:spPr>
          <a:xfrm>
            <a:off x="1188720" y="4334256"/>
            <a:ext cx="10332720" cy="457200"/>
          </a:xfrm>
          <a:prstGeom prst="rect">
            <a:avLst/>
          </a:prstGeom>
          <a:noFill/>
          <a:ln/>
        </p:spPr>
        <p:txBody>
          <a:bodyPr wrap="square" rtlCol="0" anchor="ctr"/>
          <a:lstStyle/>
          <a:p>
            <a:r>
              <a:rPr lang="pt-PT" sz="1300" noProof="0" dirty="0">
                <a:solidFill>
                  <a:srgbClr val="182A32"/>
                </a:solidFill>
                <a:latin typeface="Calibri" pitchFamily="34" charset="0"/>
                <a:ea typeface="Calibri" pitchFamily="34" charset="-122"/>
                <a:cs typeface="Calibri" pitchFamily="34" charset="-120"/>
              </a:rPr>
              <a:t>Nu, </a:t>
            </a:r>
            <a:r>
              <a:rPr lang="pt-PT" sz="1300" noProof="0" dirty="0" err="1">
                <a:solidFill>
                  <a:srgbClr val="182A32"/>
                </a:solidFill>
                <a:latin typeface="Calibri" pitchFamily="34" charset="0"/>
                <a:ea typeface="Calibri" pitchFamily="34" charset="-122"/>
                <a:cs typeface="Calibri" pitchFamily="34" charset="-120"/>
              </a:rPr>
              <a:t>Re</a:t>
            </a:r>
            <a:r>
              <a:rPr lang="pt-PT" sz="1300" dirty="0">
                <a:solidFill>
                  <a:srgbClr val="182A32"/>
                </a:solidFill>
                <a:latin typeface="Calibri" pitchFamily="34" charset="0"/>
                <a:ea typeface="Calibri" pitchFamily="34" charset="-122"/>
                <a:cs typeface="Calibri" pitchFamily="34" charset="-120"/>
              </a:rPr>
              <a:t>,</a:t>
            </a:r>
            <a:r>
              <a:rPr lang="pt-PT" sz="1300" noProof="0" dirty="0">
                <a:solidFill>
                  <a:srgbClr val="182A32"/>
                </a:solidFill>
                <a:latin typeface="Calibri" pitchFamily="34" charset="0"/>
                <a:ea typeface="Calibri" pitchFamily="34" charset="-122"/>
                <a:cs typeface="Calibri" pitchFamily="34" charset="-120"/>
              </a:rPr>
              <a:t> </a:t>
            </a:r>
            <a:r>
              <a:rPr lang="pt-PT" sz="1300" noProof="0" dirty="0" err="1">
                <a:solidFill>
                  <a:srgbClr val="182A32"/>
                </a:solidFill>
                <a:latin typeface="Calibri" pitchFamily="34" charset="0"/>
                <a:ea typeface="Calibri" pitchFamily="34" charset="-122"/>
                <a:cs typeface="Calibri" pitchFamily="34" charset="-120"/>
              </a:rPr>
              <a:t>Pr</a:t>
            </a:r>
            <a:r>
              <a:rPr lang="pt-PT" sz="1300" noProof="0" dirty="0">
                <a:solidFill>
                  <a:srgbClr val="182A32"/>
                </a:solidFill>
                <a:latin typeface="Calibri" pitchFamily="34" charset="0"/>
                <a:ea typeface="Calibri" pitchFamily="34" charset="-122"/>
                <a:cs typeface="Calibri" pitchFamily="34" charset="-120"/>
              </a:rPr>
              <a:t> e Gr organizam a determinação empírica de h por meio de correlações (Nu = f(</a:t>
            </a:r>
            <a:r>
              <a:rPr lang="pt-PT" sz="1300" noProof="0" dirty="0" err="1">
                <a:solidFill>
                  <a:srgbClr val="182A32"/>
                </a:solidFill>
                <a:latin typeface="Calibri" pitchFamily="34" charset="0"/>
                <a:ea typeface="Calibri" pitchFamily="34" charset="-122"/>
                <a:cs typeface="Calibri" pitchFamily="34" charset="-120"/>
              </a:rPr>
              <a:t>Re,Pr</a:t>
            </a:r>
            <a:r>
              <a:rPr lang="pt-PT" sz="1300" noProof="0" dirty="0">
                <a:solidFill>
                  <a:srgbClr val="182A32"/>
                </a:solidFill>
                <a:latin typeface="Calibri" pitchFamily="34" charset="0"/>
                <a:ea typeface="Calibri" pitchFamily="34" charset="-122"/>
                <a:cs typeface="Calibri" pitchFamily="34" charset="-120"/>
              </a:rPr>
              <a:t>) </a:t>
            </a:r>
            <a:r>
              <a:rPr lang="pt-PT" sz="1300" dirty="0">
                <a:solidFill>
                  <a:srgbClr val="182A32"/>
                </a:solidFill>
                <a:latin typeface="Calibri" pitchFamily="34" charset="0"/>
                <a:ea typeface="Calibri" pitchFamily="34" charset="-122"/>
                <a:cs typeface="Calibri" pitchFamily="34" charset="-120"/>
              </a:rPr>
              <a:t>e Nu = f(</a:t>
            </a:r>
            <a:r>
              <a:rPr lang="pt-PT" sz="1300" dirty="0" err="1">
                <a:solidFill>
                  <a:srgbClr val="182A32"/>
                </a:solidFill>
                <a:latin typeface="Calibri" pitchFamily="34" charset="0"/>
                <a:ea typeface="Calibri" pitchFamily="34" charset="-122"/>
                <a:cs typeface="Calibri" pitchFamily="34" charset="-120"/>
              </a:rPr>
              <a:t>Gr,Pr</a:t>
            </a:r>
            <a:r>
              <a:rPr lang="pt-PT" sz="1300" dirty="0">
                <a:solidFill>
                  <a:srgbClr val="182A32"/>
                </a:solidFill>
                <a:latin typeface="Calibri" pitchFamily="34" charset="0"/>
                <a:ea typeface="Calibri" pitchFamily="34" charset="-122"/>
                <a:cs typeface="Calibri" pitchFamily="34" charset="-120"/>
              </a:rPr>
              <a:t>))).</a:t>
            </a:r>
            <a:endParaRPr lang="pt-PT" sz="1300" noProof="0" dirty="0"/>
          </a:p>
        </p:txBody>
      </p:sp>
      <p:sp>
        <p:nvSpPr>
          <p:cNvPr id="20" name="Shape 17"/>
          <p:cNvSpPr/>
          <p:nvPr/>
        </p:nvSpPr>
        <p:spPr>
          <a:xfrm>
            <a:off x="640080" y="4983480"/>
            <a:ext cx="384048" cy="384048"/>
          </a:xfrm>
          <a:prstGeom prst="roundRect">
            <a:avLst>
              <a:gd name="adj" fmla="val 50000"/>
            </a:avLst>
          </a:prstGeom>
          <a:solidFill>
            <a:srgbClr val="065A82"/>
          </a:solidFill>
          <a:ln/>
        </p:spPr>
        <p:txBody>
          <a:bodyPr/>
          <a:lstStyle/>
          <a:p>
            <a:endParaRPr lang="pt-PT" noProof="0" dirty="0"/>
          </a:p>
        </p:txBody>
      </p:sp>
      <p:sp>
        <p:nvSpPr>
          <p:cNvPr id="21" name="Text 18"/>
          <p:cNvSpPr/>
          <p:nvPr/>
        </p:nvSpPr>
        <p:spPr>
          <a:xfrm>
            <a:off x="640080" y="4983480"/>
            <a:ext cx="384048" cy="384048"/>
          </a:xfrm>
          <a:prstGeom prst="rect">
            <a:avLst/>
          </a:prstGeom>
          <a:noFill/>
          <a:ln/>
        </p:spPr>
        <p:txBody>
          <a:bodyPr wrap="square" rtlCol="0" anchor="ctr"/>
          <a:lstStyle/>
          <a:p>
            <a:pPr marL="0" indent="0" algn="ctr">
              <a:buNone/>
            </a:pPr>
            <a:r>
              <a:rPr lang="pt-PT" sz="1300" b="1" noProof="0" dirty="0">
                <a:solidFill>
                  <a:srgbClr val="FFFFFF"/>
                </a:solidFill>
                <a:latin typeface="Calibri" pitchFamily="34" charset="0"/>
                <a:ea typeface="Calibri" pitchFamily="34" charset="-122"/>
                <a:cs typeface="Calibri" pitchFamily="34" charset="-120"/>
              </a:rPr>
              <a:t>6</a:t>
            </a:r>
            <a:endParaRPr lang="pt-PT" sz="1300" noProof="0" dirty="0"/>
          </a:p>
        </p:txBody>
      </p:sp>
      <p:sp>
        <p:nvSpPr>
          <p:cNvPr id="22" name="Text 19"/>
          <p:cNvSpPr/>
          <p:nvPr/>
        </p:nvSpPr>
        <p:spPr>
          <a:xfrm>
            <a:off x="1188720" y="4956048"/>
            <a:ext cx="10332720" cy="457200"/>
          </a:xfrm>
          <a:prstGeom prst="rect">
            <a:avLst/>
          </a:prstGeom>
          <a:noFill/>
          <a:ln/>
        </p:spPr>
        <p:txBody>
          <a:bodyPr wrap="square" rtlCol="0" anchor="ctr"/>
          <a:lstStyle/>
          <a:p>
            <a:pPr marL="0" indent="0">
              <a:buNone/>
            </a:pPr>
            <a:r>
              <a:rPr lang="pt-PT" sz="1300" noProof="0" dirty="0">
                <a:solidFill>
                  <a:srgbClr val="182A32"/>
                </a:solidFill>
                <a:latin typeface="Calibri" pitchFamily="34" charset="0"/>
                <a:ea typeface="Calibri" pitchFamily="34" charset="-122"/>
                <a:cs typeface="Calibri" pitchFamily="34" charset="-120"/>
              </a:rPr>
              <a:t>Aplicação prática: dissipação de calor em corpos hídricos e implicações da poluição térmica.</a:t>
            </a:r>
            <a:endParaRPr lang="pt-PT" sz="1300" noProof="0" dirty="0"/>
          </a:p>
        </p:txBody>
      </p:sp>
      <p:sp>
        <p:nvSpPr>
          <p:cNvPr id="23" name="Text 20"/>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24" name="Text 21"/>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Fechamento</a:t>
            </a:r>
            <a:endParaRPr lang="pt-PT" sz="950" noProof="0" dirty="0"/>
          </a:p>
        </p:txBody>
      </p:sp>
      <p:sp>
        <p:nvSpPr>
          <p:cNvPr id="25" name="Text 22"/>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25</a:t>
            </a:r>
            <a:endParaRPr lang="pt-PT" sz="950" noProof="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CONEXÕES</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O que vem a seguir no programa</a:t>
            </a:r>
            <a:endParaRPr lang="pt-PT" sz="3200" noProof="0" dirty="0"/>
          </a:p>
        </p:txBody>
      </p:sp>
      <p:sp>
        <p:nvSpPr>
          <p:cNvPr id="5" name="Shape 2"/>
          <p:cNvSpPr/>
          <p:nvPr/>
        </p:nvSpPr>
        <p:spPr>
          <a:xfrm>
            <a:off x="640080" y="1920240"/>
            <a:ext cx="3429000" cy="3291840"/>
          </a:xfrm>
          <a:prstGeom prst="roundRect">
            <a:avLst>
              <a:gd name="adj" fmla="val 2778"/>
            </a:avLst>
          </a:prstGeom>
          <a:solidFill>
            <a:srgbClr val="EEF4F6"/>
          </a:solidFill>
          <a:ln/>
        </p:spPr>
        <p:txBody>
          <a:bodyPr/>
          <a:lstStyle/>
          <a:p>
            <a:endParaRPr lang="pt-PT" noProof="0" dirty="0"/>
          </a:p>
        </p:txBody>
      </p:sp>
      <p:sp>
        <p:nvSpPr>
          <p:cNvPr id="6" name="Text 3"/>
          <p:cNvSpPr/>
          <p:nvPr/>
        </p:nvSpPr>
        <p:spPr>
          <a:xfrm>
            <a:off x="896112" y="2148840"/>
            <a:ext cx="2926080" cy="548640"/>
          </a:xfrm>
          <a:prstGeom prst="rect">
            <a:avLst/>
          </a:prstGeom>
          <a:noFill/>
          <a:ln/>
        </p:spPr>
        <p:txBody>
          <a:bodyPr wrap="square" rtlCol="0" anchor="ctr"/>
          <a:lstStyle/>
          <a:p>
            <a:pPr marL="0" indent="0">
              <a:buNone/>
            </a:pPr>
            <a:r>
              <a:rPr lang="pt-PT" sz="1700" b="1" noProof="0" dirty="0">
                <a:solidFill>
                  <a:srgbClr val="065A82"/>
                </a:solidFill>
                <a:latin typeface="Cambria" pitchFamily="34" charset="0"/>
                <a:ea typeface="Cambria" pitchFamily="34" charset="-122"/>
                <a:cs typeface="Cambria" pitchFamily="34" charset="-120"/>
              </a:rPr>
              <a:t>Radiação</a:t>
            </a:r>
            <a:endParaRPr lang="pt-PT" sz="1700" noProof="0" dirty="0"/>
          </a:p>
        </p:txBody>
      </p:sp>
      <p:sp>
        <p:nvSpPr>
          <p:cNvPr id="7" name="Text 4"/>
          <p:cNvSpPr/>
          <p:nvPr/>
        </p:nvSpPr>
        <p:spPr>
          <a:xfrm>
            <a:off x="896112" y="2788920"/>
            <a:ext cx="2926080" cy="2194560"/>
          </a:xfrm>
          <a:prstGeom prst="rect">
            <a:avLst/>
          </a:prstGeom>
          <a:noFill/>
          <a:ln/>
        </p:spPr>
        <p:txBody>
          <a:bodyPr wrap="square" rtlCol="0" anchor="ctr"/>
          <a:lstStyle/>
          <a:p>
            <a:pPr marL="0" indent="0">
              <a:lnSpc>
                <a:spcPts val="1700"/>
              </a:lnSpc>
              <a:buNone/>
            </a:pPr>
            <a:r>
              <a:rPr lang="pt-PT" sz="1200" noProof="0" dirty="0">
                <a:solidFill>
                  <a:srgbClr val="182A32"/>
                </a:solidFill>
                <a:latin typeface="Calibri" pitchFamily="34" charset="0"/>
                <a:ea typeface="Calibri" pitchFamily="34" charset="-122"/>
                <a:cs typeface="Calibri" pitchFamily="34" charset="-120"/>
              </a:rPr>
              <a:t>Lei de Stefan-</a:t>
            </a:r>
            <a:r>
              <a:rPr lang="pt-PT" sz="1200" noProof="0" dirty="0" err="1">
                <a:solidFill>
                  <a:srgbClr val="182A32"/>
                </a:solidFill>
                <a:latin typeface="Calibri" pitchFamily="34" charset="0"/>
                <a:ea typeface="Calibri" pitchFamily="34" charset="-122"/>
                <a:cs typeface="Calibri" pitchFamily="34" charset="-120"/>
              </a:rPr>
              <a:t>Boltzmann</a:t>
            </a:r>
            <a:r>
              <a:rPr lang="pt-PT" sz="1200" noProof="0" dirty="0">
                <a:solidFill>
                  <a:srgbClr val="182A32"/>
                </a:solidFill>
                <a:latin typeface="Calibri" pitchFamily="34" charset="0"/>
                <a:ea typeface="Calibri" pitchFamily="34" charset="-122"/>
                <a:cs typeface="Calibri" pitchFamily="34" charset="-120"/>
              </a:rPr>
              <a:t> — mesma lógica de fluxo proporcional a uma diferença, mas com T⁴.</a:t>
            </a:r>
            <a:endParaRPr lang="pt-PT" sz="1200" noProof="0" dirty="0"/>
          </a:p>
        </p:txBody>
      </p:sp>
      <p:sp>
        <p:nvSpPr>
          <p:cNvPr id="8" name="Shape 5"/>
          <p:cNvSpPr/>
          <p:nvPr/>
        </p:nvSpPr>
        <p:spPr>
          <a:xfrm>
            <a:off x="4343400" y="1920240"/>
            <a:ext cx="3429000" cy="3291840"/>
          </a:xfrm>
          <a:prstGeom prst="roundRect">
            <a:avLst>
              <a:gd name="adj" fmla="val 2778"/>
            </a:avLst>
          </a:prstGeom>
          <a:solidFill>
            <a:srgbClr val="EEF4F6"/>
          </a:solidFill>
          <a:ln/>
        </p:spPr>
        <p:txBody>
          <a:bodyPr/>
          <a:lstStyle/>
          <a:p>
            <a:endParaRPr lang="pt-PT" noProof="0" dirty="0"/>
          </a:p>
        </p:txBody>
      </p:sp>
      <p:sp>
        <p:nvSpPr>
          <p:cNvPr id="9" name="Text 6"/>
          <p:cNvSpPr/>
          <p:nvPr/>
        </p:nvSpPr>
        <p:spPr>
          <a:xfrm>
            <a:off x="4599432" y="2148840"/>
            <a:ext cx="2926080" cy="548640"/>
          </a:xfrm>
          <a:prstGeom prst="rect">
            <a:avLst/>
          </a:prstGeom>
          <a:noFill/>
          <a:ln/>
        </p:spPr>
        <p:txBody>
          <a:bodyPr wrap="square" rtlCol="0" anchor="ctr"/>
          <a:lstStyle/>
          <a:p>
            <a:pPr marL="0" indent="0">
              <a:buNone/>
            </a:pPr>
            <a:r>
              <a:rPr lang="pt-PT" sz="1700" b="1" noProof="0" dirty="0">
                <a:solidFill>
                  <a:srgbClr val="065A82"/>
                </a:solidFill>
                <a:latin typeface="Cambria" pitchFamily="34" charset="0"/>
                <a:ea typeface="Cambria" pitchFamily="34" charset="-122"/>
                <a:cs typeface="Cambria" pitchFamily="34" charset="-120"/>
              </a:rPr>
              <a:t>Transferência de massa</a:t>
            </a:r>
            <a:endParaRPr lang="pt-PT" sz="1700" noProof="0" dirty="0"/>
          </a:p>
        </p:txBody>
      </p:sp>
      <p:sp>
        <p:nvSpPr>
          <p:cNvPr id="10" name="Text 7"/>
          <p:cNvSpPr/>
          <p:nvPr/>
        </p:nvSpPr>
        <p:spPr>
          <a:xfrm>
            <a:off x="4599432" y="2788920"/>
            <a:ext cx="2926080" cy="2194560"/>
          </a:xfrm>
          <a:prstGeom prst="rect">
            <a:avLst/>
          </a:prstGeom>
          <a:noFill/>
          <a:ln/>
        </p:spPr>
        <p:txBody>
          <a:bodyPr wrap="square" rtlCol="0" anchor="ctr"/>
          <a:lstStyle/>
          <a:p>
            <a:pPr marL="0" indent="0">
              <a:lnSpc>
                <a:spcPts val="1700"/>
              </a:lnSpc>
              <a:buNone/>
            </a:pPr>
            <a:r>
              <a:rPr lang="pt-PT" sz="1200" noProof="0" dirty="0">
                <a:solidFill>
                  <a:srgbClr val="182A32"/>
                </a:solidFill>
                <a:latin typeface="Calibri" pitchFamily="34" charset="0"/>
                <a:ea typeface="Calibri" pitchFamily="34" charset="-122"/>
                <a:cs typeface="Calibri" pitchFamily="34" charset="-120"/>
              </a:rPr>
              <a:t>Lei de </a:t>
            </a:r>
            <a:r>
              <a:rPr lang="pt-PT" sz="1200" noProof="0" dirty="0" err="1">
                <a:solidFill>
                  <a:srgbClr val="182A32"/>
                </a:solidFill>
                <a:latin typeface="Calibri" pitchFamily="34" charset="0"/>
                <a:ea typeface="Calibri" pitchFamily="34" charset="-122"/>
                <a:cs typeface="Calibri" pitchFamily="34" charset="-120"/>
              </a:rPr>
              <a:t>Fick</a:t>
            </a:r>
            <a:r>
              <a:rPr lang="pt-PT" sz="1200" noProof="0" dirty="0">
                <a:solidFill>
                  <a:srgbClr val="182A32"/>
                </a:solidFill>
                <a:latin typeface="Calibri" pitchFamily="34" charset="0"/>
                <a:ea typeface="Calibri" pitchFamily="34" charset="-122"/>
                <a:cs typeface="Calibri" pitchFamily="34" charset="-120"/>
              </a:rPr>
              <a:t> — estrutura matemática análoga à convecção de calor (difusão + advecção).</a:t>
            </a:r>
            <a:endParaRPr lang="pt-PT" sz="1200" noProof="0" dirty="0"/>
          </a:p>
        </p:txBody>
      </p:sp>
      <p:sp>
        <p:nvSpPr>
          <p:cNvPr id="11" name="Shape 8"/>
          <p:cNvSpPr/>
          <p:nvPr/>
        </p:nvSpPr>
        <p:spPr>
          <a:xfrm>
            <a:off x="8046720" y="1920240"/>
            <a:ext cx="3429000" cy="3291840"/>
          </a:xfrm>
          <a:prstGeom prst="roundRect">
            <a:avLst>
              <a:gd name="adj" fmla="val 2778"/>
            </a:avLst>
          </a:prstGeom>
          <a:solidFill>
            <a:srgbClr val="EEF4F6"/>
          </a:solidFill>
          <a:ln/>
        </p:spPr>
        <p:txBody>
          <a:bodyPr/>
          <a:lstStyle/>
          <a:p>
            <a:endParaRPr lang="pt-PT" noProof="0" dirty="0"/>
          </a:p>
        </p:txBody>
      </p:sp>
      <p:sp>
        <p:nvSpPr>
          <p:cNvPr id="12" name="Text 9"/>
          <p:cNvSpPr/>
          <p:nvPr/>
        </p:nvSpPr>
        <p:spPr>
          <a:xfrm>
            <a:off x="8302752" y="2148840"/>
            <a:ext cx="2926080" cy="548640"/>
          </a:xfrm>
          <a:prstGeom prst="rect">
            <a:avLst/>
          </a:prstGeom>
          <a:noFill/>
          <a:ln/>
        </p:spPr>
        <p:txBody>
          <a:bodyPr wrap="square" rtlCol="0" anchor="ctr"/>
          <a:lstStyle/>
          <a:p>
            <a:pPr marL="0" indent="0">
              <a:buNone/>
            </a:pPr>
            <a:r>
              <a:rPr lang="pt-PT" sz="1700" b="1" noProof="0" dirty="0">
                <a:solidFill>
                  <a:srgbClr val="065A82"/>
                </a:solidFill>
                <a:latin typeface="Cambria" pitchFamily="34" charset="0"/>
                <a:ea typeface="Cambria" pitchFamily="34" charset="-122"/>
                <a:cs typeface="Cambria" pitchFamily="34" charset="-120"/>
              </a:rPr>
              <a:t>Análise dimensional</a:t>
            </a:r>
            <a:endParaRPr lang="pt-PT" sz="1700" noProof="0" dirty="0"/>
          </a:p>
        </p:txBody>
      </p:sp>
      <p:sp>
        <p:nvSpPr>
          <p:cNvPr id="13" name="Text 10"/>
          <p:cNvSpPr/>
          <p:nvPr/>
        </p:nvSpPr>
        <p:spPr>
          <a:xfrm>
            <a:off x="8302752" y="2788920"/>
            <a:ext cx="2926080" cy="2194560"/>
          </a:xfrm>
          <a:prstGeom prst="rect">
            <a:avLst/>
          </a:prstGeom>
          <a:noFill/>
          <a:ln/>
        </p:spPr>
        <p:txBody>
          <a:bodyPr wrap="square" rtlCol="0" anchor="ctr"/>
          <a:lstStyle/>
          <a:p>
            <a:pPr marL="0" indent="0">
              <a:lnSpc>
                <a:spcPts val="1700"/>
              </a:lnSpc>
              <a:buNone/>
            </a:pPr>
            <a:r>
              <a:rPr lang="pt-PT" sz="1200" noProof="0" dirty="0">
                <a:solidFill>
                  <a:srgbClr val="182A32"/>
                </a:solidFill>
                <a:latin typeface="Calibri" pitchFamily="34" charset="0"/>
                <a:ea typeface="Calibri" pitchFamily="34" charset="-122"/>
                <a:cs typeface="Calibri" pitchFamily="34" charset="-120"/>
              </a:rPr>
              <a:t>Teorema de Buckingham (</a:t>
            </a:r>
            <a:r>
              <a:rPr lang="pt-PT" sz="1200" noProof="0" dirty="0" err="1">
                <a:solidFill>
                  <a:srgbClr val="182A32"/>
                </a:solidFill>
                <a:latin typeface="Calibri" pitchFamily="34" charset="0"/>
                <a:ea typeface="Calibri" pitchFamily="34" charset="-122"/>
                <a:cs typeface="Calibri" pitchFamily="34" charset="-120"/>
              </a:rPr>
              <a:t>Π</a:t>
            </a:r>
            <a:r>
              <a:rPr lang="pt-PT" sz="1200" noProof="0" dirty="0">
                <a:solidFill>
                  <a:srgbClr val="182A32"/>
                </a:solidFill>
                <a:latin typeface="Calibri" pitchFamily="34" charset="0"/>
                <a:ea typeface="Calibri" pitchFamily="34" charset="-122"/>
                <a:cs typeface="Calibri" pitchFamily="34" charset="-120"/>
              </a:rPr>
              <a:t>), já mencionado hoje como base para as correlações de h.</a:t>
            </a:r>
            <a:endParaRPr lang="pt-PT" sz="1200" noProof="0" dirty="0"/>
          </a:p>
        </p:txBody>
      </p:sp>
      <p:sp>
        <p:nvSpPr>
          <p:cNvPr id="14" name="Text 11"/>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15" name="Text 12"/>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Fechamento</a:t>
            </a:r>
            <a:endParaRPr lang="pt-PT" sz="950" noProof="0" dirty="0"/>
          </a:p>
        </p:txBody>
      </p:sp>
      <p:sp>
        <p:nvSpPr>
          <p:cNvPr id="16" name="Text 13"/>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26</a:t>
            </a:r>
            <a:endParaRPr lang="pt-PT" sz="950" noProof="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40080" y="411480"/>
            <a:ext cx="7315200" cy="320040"/>
          </a:xfrm>
          <a:prstGeom prst="rect">
            <a:avLst/>
          </a:prstGeom>
          <a:noFill/>
          <a:ln/>
        </p:spPr>
        <p:txBody>
          <a:bodyPr wrap="square" rtlCol="0" anchor="ctr"/>
          <a:lstStyle/>
          <a:p>
            <a:pPr marL="0" indent="0">
              <a:buNone/>
            </a:pPr>
            <a:r>
              <a:rPr lang="pt-PT" sz="1300" b="1" kern="0" spc="150" noProof="0" dirty="0">
                <a:solidFill>
                  <a:srgbClr val="E8602C"/>
                </a:solidFill>
                <a:latin typeface="Calibri" pitchFamily="34" charset="0"/>
                <a:ea typeface="Calibri" pitchFamily="34" charset="-122"/>
                <a:cs typeface="Calibri" pitchFamily="34" charset="-120"/>
              </a:rPr>
              <a:t>REFERÊNCIAS</a:t>
            </a:r>
            <a:endParaRPr lang="pt-PT" sz="1300" noProof="0" dirty="0"/>
          </a:p>
        </p:txBody>
      </p:sp>
      <p:sp>
        <p:nvSpPr>
          <p:cNvPr id="4" name="Text 1"/>
          <p:cNvSpPr/>
          <p:nvPr/>
        </p:nvSpPr>
        <p:spPr>
          <a:xfrm>
            <a:off x="640080" y="713232"/>
            <a:ext cx="10881360" cy="822960"/>
          </a:xfrm>
          <a:prstGeom prst="rect">
            <a:avLst/>
          </a:prstGeom>
          <a:noFill/>
          <a:ln/>
        </p:spPr>
        <p:txBody>
          <a:bodyPr wrap="square" rtlCol="0" anchor="ctr"/>
          <a:lstStyle/>
          <a:p>
            <a:pPr marL="0" indent="0">
              <a:buNone/>
            </a:pPr>
            <a:r>
              <a:rPr lang="pt-PT" sz="3200" b="1" noProof="0" dirty="0">
                <a:solidFill>
                  <a:srgbClr val="0B2545"/>
                </a:solidFill>
                <a:latin typeface="Cambria" pitchFamily="34" charset="0"/>
                <a:ea typeface="Cambria" pitchFamily="34" charset="-122"/>
                <a:cs typeface="Cambria" pitchFamily="34" charset="-120"/>
              </a:rPr>
              <a:t>Bibliografia</a:t>
            </a:r>
            <a:endParaRPr lang="pt-PT" sz="3200" noProof="0" dirty="0"/>
          </a:p>
        </p:txBody>
      </p:sp>
      <p:sp>
        <p:nvSpPr>
          <p:cNvPr id="5" name="Text 2"/>
          <p:cNvSpPr/>
          <p:nvPr/>
        </p:nvSpPr>
        <p:spPr>
          <a:xfrm>
            <a:off x="640080" y="1783080"/>
            <a:ext cx="10881360" cy="365760"/>
          </a:xfrm>
          <a:prstGeom prst="rect">
            <a:avLst/>
          </a:prstGeom>
          <a:noFill/>
          <a:ln/>
        </p:spPr>
        <p:txBody>
          <a:bodyPr wrap="square" rtlCol="0" anchor="ctr"/>
          <a:lstStyle/>
          <a:p>
            <a:pPr marL="0" indent="0">
              <a:buNone/>
            </a:pPr>
            <a:r>
              <a:rPr lang="pt-PT" sz="1300" b="1" noProof="0" dirty="0">
                <a:solidFill>
                  <a:srgbClr val="065A82"/>
                </a:solidFill>
                <a:latin typeface="Calibri" pitchFamily="34" charset="0"/>
                <a:ea typeface="Calibri" pitchFamily="34" charset="-122"/>
                <a:cs typeface="Calibri" pitchFamily="34" charset="-120"/>
              </a:rPr>
              <a:t>Referências básicas</a:t>
            </a:r>
            <a:endParaRPr lang="pt-PT" sz="1300" noProof="0" dirty="0"/>
          </a:p>
        </p:txBody>
      </p:sp>
      <p:sp>
        <p:nvSpPr>
          <p:cNvPr id="6" name="Text 3"/>
          <p:cNvSpPr/>
          <p:nvPr/>
        </p:nvSpPr>
        <p:spPr>
          <a:xfrm>
            <a:off x="640080" y="2148840"/>
            <a:ext cx="10881360" cy="1554480"/>
          </a:xfrm>
          <a:prstGeom prst="rect">
            <a:avLst/>
          </a:prstGeom>
          <a:noFill/>
          <a:ln/>
        </p:spPr>
        <p:txBody>
          <a:bodyPr wrap="square" rtlCol="0" anchor="ctr"/>
          <a:lstStyle/>
          <a:p>
            <a:pPr marL="342900" indent="-342900">
              <a:lnSpc>
                <a:spcPts val="2000"/>
              </a:lnSpc>
              <a:spcAft>
                <a:spcPts val="600"/>
              </a:spcAft>
              <a:buSzPct val="100000"/>
              <a:buFontTx/>
              <a:buChar char="•"/>
            </a:pPr>
            <a:r>
              <a:rPr lang="pt-PT" sz="1150" dirty="0">
                <a:solidFill>
                  <a:srgbClr val="182A32"/>
                </a:solidFill>
                <a:latin typeface="Calibri" pitchFamily="34" charset="0"/>
                <a:ea typeface="Calibri" pitchFamily="34" charset="-122"/>
                <a:cs typeface="Calibri" pitchFamily="34" charset="-120"/>
              </a:rPr>
              <a:t>INCROPERA, F. P. Fundamentos de transferência de calor e de massa. 8. ed. Rio de Janeiro: LTC, 2019.</a:t>
            </a:r>
            <a:endParaRPr lang="pt-PT" sz="1150" noProof="0" dirty="0">
              <a:solidFill>
                <a:srgbClr val="182A32"/>
              </a:solidFill>
              <a:latin typeface="Calibri" pitchFamily="34" charset="0"/>
              <a:ea typeface="Calibri" pitchFamily="34" charset="-122"/>
              <a:cs typeface="Calibri" pitchFamily="34" charset="-120"/>
            </a:endParaRPr>
          </a:p>
          <a:p>
            <a:pPr marL="342900" indent="-342900">
              <a:lnSpc>
                <a:spcPts val="2000"/>
              </a:lnSpc>
              <a:spcAft>
                <a:spcPts val="600"/>
              </a:spcAft>
              <a:buSzPct val="100000"/>
              <a:buChar char="•"/>
            </a:pPr>
            <a:r>
              <a:rPr lang="pt-PT" sz="1150" noProof="0" dirty="0">
                <a:solidFill>
                  <a:srgbClr val="182A32"/>
                </a:solidFill>
                <a:latin typeface="Calibri" pitchFamily="34" charset="0"/>
                <a:ea typeface="Calibri" pitchFamily="34" charset="-122"/>
                <a:cs typeface="Calibri" pitchFamily="34" charset="-120"/>
              </a:rPr>
              <a:t>ÇENGEL, Y. A.; CIMBALA, J. M. Mecânica dos Fluidos. 3. ed. São Paulo: AMGH, 2015.</a:t>
            </a:r>
            <a:endParaRPr lang="pt-PT" sz="1150" noProof="0" dirty="0"/>
          </a:p>
          <a:p>
            <a:pPr marL="342900" indent="-342900">
              <a:lnSpc>
                <a:spcPts val="2000"/>
              </a:lnSpc>
              <a:spcAft>
                <a:spcPts val="600"/>
              </a:spcAft>
              <a:buSzPct val="100000"/>
              <a:buChar char="•"/>
            </a:pPr>
            <a:r>
              <a:rPr lang="pt-PT" sz="1150" noProof="0" dirty="0">
                <a:solidFill>
                  <a:srgbClr val="182A32"/>
                </a:solidFill>
                <a:latin typeface="Calibri" pitchFamily="34" charset="0"/>
                <a:ea typeface="Calibri" pitchFamily="34" charset="-122"/>
                <a:cs typeface="Calibri" pitchFamily="34" charset="-120"/>
              </a:rPr>
              <a:t>FOX, R. W. Introdução à mecânica dos fluidos. 8. ed. Rio de Janeiro: LTC, 2014.</a:t>
            </a:r>
            <a:endParaRPr lang="pt-PT" sz="1150" noProof="0" dirty="0"/>
          </a:p>
          <a:p>
            <a:pPr marL="342900" indent="-342900">
              <a:lnSpc>
                <a:spcPts val="2000"/>
              </a:lnSpc>
              <a:spcAft>
                <a:spcPts val="600"/>
              </a:spcAft>
              <a:buSzPct val="100000"/>
              <a:buChar char="•"/>
            </a:pPr>
            <a:r>
              <a:rPr lang="pt-PT" sz="1150" noProof="0" dirty="0">
                <a:solidFill>
                  <a:srgbClr val="182A32"/>
                </a:solidFill>
                <a:latin typeface="Calibri" pitchFamily="34" charset="0"/>
                <a:ea typeface="Calibri" pitchFamily="34" charset="-122"/>
                <a:cs typeface="Calibri" pitchFamily="34" charset="-120"/>
              </a:rPr>
              <a:t>ÇENGEL, Y. A. Transferência de calor e massa: uma abordagem prática. 4. ed. Porto Alegre: AMGH, 2012.</a:t>
            </a:r>
            <a:endParaRPr lang="pt-PT" sz="1150" noProof="0" dirty="0"/>
          </a:p>
        </p:txBody>
      </p:sp>
      <p:sp>
        <p:nvSpPr>
          <p:cNvPr id="7" name="Text 4"/>
          <p:cNvSpPr/>
          <p:nvPr/>
        </p:nvSpPr>
        <p:spPr>
          <a:xfrm>
            <a:off x="640080" y="3794760"/>
            <a:ext cx="10881360" cy="365760"/>
          </a:xfrm>
          <a:prstGeom prst="rect">
            <a:avLst/>
          </a:prstGeom>
          <a:noFill/>
          <a:ln/>
        </p:spPr>
        <p:txBody>
          <a:bodyPr wrap="square" rtlCol="0" anchor="ctr"/>
          <a:lstStyle/>
          <a:p>
            <a:pPr marL="0" indent="0">
              <a:buNone/>
            </a:pPr>
            <a:r>
              <a:rPr lang="pt-PT" sz="1300" b="1" noProof="0" dirty="0">
                <a:solidFill>
                  <a:srgbClr val="065A82"/>
                </a:solidFill>
                <a:latin typeface="Calibri" pitchFamily="34" charset="0"/>
                <a:ea typeface="Calibri" pitchFamily="34" charset="-122"/>
                <a:cs typeface="Calibri" pitchFamily="34" charset="-120"/>
              </a:rPr>
              <a:t>Referências complementares</a:t>
            </a:r>
            <a:endParaRPr lang="pt-PT" sz="1300" noProof="0" dirty="0"/>
          </a:p>
        </p:txBody>
      </p:sp>
      <p:sp>
        <p:nvSpPr>
          <p:cNvPr id="8" name="Text 5"/>
          <p:cNvSpPr/>
          <p:nvPr/>
        </p:nvSpPr>
        <p:spPr>
          <a:xfrm>
            <a:off x="640080" y="4160520"/>
            <a:ext cx="10881360" cy="1554480"/>
          </a:xfrm>
          <a:prstGeom prst="rect">
            <a:avLst/>
          </a:prstGeom>
          <a:noFill/>
          <a:ln/>
        </p:spPr>
        <p:txBody>
          <a:bodyPr wrap="square" rtlCol="0" anchor="ctr"/>
          <a:lstStyle/>
          <a:p>
            <a:pPr marL="342900" indent="-342900">
              <a:lnSpc>
                <a:spcPts val="2000"/>
              </a:lnSpc>
              <a:spcAft>
                <a:spcPts val="600"/>
              </a:spcAft>
              <a:buSzPct val="100000"/>
              <a:buChar char="•"/>
            </a:pPr>
            <a:r>
              <a:rPr lang="pt-PT" sz="1150" noProof="0" dirty="0">
                <a:solidFill>
                  <a:srgbClr val="182A32"/>
                </a:solidFill>
                <a:latin typeface="Calibri" pitchFamily="34" charset="0"/>
                <a:ea typeface="Calibri" pitchFamily="34" charset="-122"/>
                <a:cs typeface="Calibri" pitchFamily="34" charset="-120"/>
              </a:rPr>
              <a:t>BRUNETTI, F. Mecânica dos fluidos. 2. ed. São Paulo: Prentice-Hall, 2008.</a:t>
            </a:r>
            <a:endParaRPr lang="pt-PT" sz="1150" noProof="0" dirty="0"/>
          </a:p>
          <a:p>
            <a:pPr marL="342900" indent="-342900">
              <a:lnSpc>
                <a:spcPts val="2000"/>
              </a:lnSpc>
              <a:spcAft>
                <a:spcPts val="600"/>
              </a:spcAft>
              <a:buSzPct val="100000"/>
              <a:buChar char="•"/>
            </a:pPr>
            <a:r>
              <a:rPr lang="pt-PT" sz="1150" noProof="0" dirty="0">
                <a:solidFill>
                  <a:srgbClr val="182A32"/>
                </a:solidFill>
                <a:latin typeface="Calibri" pitchFamily="34" charset="0"/>
                <a:ea typeface="Calibri" pitchFamily="34" charset="-122"/>
                <a:cs typeface="Calibri" pitchFamily="34" charset="-120"/>
              </a:rPr>
              <a:t>POTTER, M. C. Mecânica dos fluidos. São Paulo: </a:t>
            </a:r>
            <a:r>
              <a:rPr lang="pt-PT" sz="1150" noProof="0" dirty="0" err="1">
                <a:solidFill>
                  <a:srgbClr val="182A32"/>
                </a:solidFill>
                <a:latin typeface="Calibri" pitchFamily="34" charset="0"/>
                <a:ea typeface="Calibri" pitchFamily="34" charset="-122"/>
                <a:cs typeface="Calibri" pitchFamily="34" charset="-120"/>
              </a:rPr>
              <a:t>Cengage</a:t>
            </a:r>
            <a:r>
              <a:rPr lang="pt-PT" sz="1150" noProof="0" dirty="0">
                <a:solidFill>
                  <a:srgbClr val="182A32"/>
                </a:solidFill>
                <a:latin typeface="Calibri" pitchFamily="34" charset="0"/>
                <a:ea typeface="Calibri" pitchFamily="34" charset="-122"/>
                <a:cs typeface="Calibri" pitchFamily="34" charset="-120"/>
              </a:rPr>
              <a:t> </a:t>
            </a:r>
            <a:r>
              <a:rPr lang="pt-PT" sz="1150" noProof="0" dirty="0" err="1">
                <a:solidFill>
                  <a:srgbClr val="182A32"/>
                </a:solidFill>
                <a:latin typeface="Calibri" pitchFamily="34" charset="0"/>
                <a:ea typeface="Calibri" pitchFamily="34" charset="-122"/>
                <a:cs typeface="Calibri" pitchFamily="34" charset="-120"/>
              </a:rPr>
              <a:t>Learning</a:t>
            </a:r>
            <a:r>
              <a:rPr lang="pt-PT" sz="1150" noProof="0" dirty="0">
                <a:solidFill>
                  <a:srgbClr val="182A32"/>
                </a:solidFill>
                <a:latin typeface="Calibri" pitchFamily="34" charset="0"/>
                <a:ea typeface="Calibri" pitchFamily="34" charset="-122"/>
                <a:cs typeface="Calibri" pitchFamily="34" charset="-120"/>
              </a:rPr>
              <a:t>, 2015.</a:t>
            </a:r>
            <a:endParaRPr lang="pt-PT" sz="1150" noProof="0" dirty="0"/>
          </a:p>
          <a:p>
            <a:pPr marL="342900" indent="-342900">
              <a:lnSpc>
                <a:spcPts val="2000"/>
              </a:lnSpc>
              <a:spcAft>
                <a:spcPts val="600"/>
              </a:spcAft>
              <a:buSzPct val="100000"/>
              <a:buChar char="•"/>
            </a:pPr>
            <a:r>
              <a:rPr lang="pt-PT" sz="1150" noProof="0" dirty="0">
                <a:solidFill>
                  <a:srgbClr val="182A32"/>
                </a:solidFill>
                <a:latin typeface="Calibri" pitchFamily="34" charset="0"/>
                <a:ea typeface="Calibri" pitchFamily="34" charset="-122"/>
                <a:cs typeface="Calibri" pitchFamily="34" charset="-120"/>
              </a:rPr>
              <a:t>WELTY, J. R. Fundamentals </a:t>
            </a:r>
            <a:r>
              <a:rPr lang="pt-PT" sz="1150" noProof="0" dirty="0" err="1">
                <a:solidFill>
                  <a:srgbClr val="182A32"/>
                </a:solidFill>
                <a:latin typeface="Calibri" pitchFamily="34" charset="0"/>
                <a:ea typeface="Calibri" pitchFamily="34" charset="-122"/>
                <a:cs typeface="Calibri" pitchFamily="34" charset="-120"/>
              </a:rPr>
              <a:t>of</a:t>
            </a:r>
            <a:r>
              <a:rPr lang="pt-PT" sz="1150" noProof="0" dirty="0">
                <a:solidFill>
                  <a:srgbClr val="182A32"/>
                </a:solidFill>
                <a:latin typeface="Calibri" pitchFamily="34" charset="0"/>
                <a:ea typeface="Calibri" pitchFamily="34" charset="-122"/>
                <a:cs typeface="Calibri" pitchFamily="34" charset="-120"/>
              </a:rPr>
              <a:t> </a:t>
            </a:r>
            <a:r>
              <a:rPr lang="pt-PT" sz="1150" noProof="0" dirty="0" err="1">
                <a:solidFill>
                  <a:srgbClr val="182A32"/>
                </a:solidFill>
                <a:latin typeface="Calibri" pitchFamily="34" charset="0"/>
                <a:ea typeface="Calibri" pitchFamily="34" charset="-122"/>
                <a:cs typeface="Calibri" pitchFamily="34" charset="-120"/>
              </a:rPr>
              <a:t>momentum</a:t>
            </a:r>
            <a:r>
              <a:rPr lang="pt-PT" sz="1150" noProof="0" dirty="0">
                <a:solidFill>
                  <a:srgbClr val="182A32"/>
                </a:solidFill>
                <a:latin typeface="Calibri" pitchFamily="34" charset="0"/>
                <a:ea typeface="Calibri" pitchFamily="34" charset="-122"/>
                <a:cs typeface="Calibri" pitchFamily="34" charset="-120"/>
              </a:rPr>
              <a:t>, </a:t>
            </a:r>
            <a:r>
              <a:rPr lang="pt-PT" sz="1150" noProof="0" dirty="0" err="1">
                <a:solidFill>
                  <a:srgbClr val="182A32"/>
                </a:solidFill>
                <a:latin typeface="Calibri" pitchFamily="34" charset="0"/>
                <a:ea typeface="Calibri" pitchFamily="34" charset="-122"/>
                <a:cs typeface="Calibri" pitchFamily="34" charset="-120"/>
              </a:rPr>
              <a:t>heat</a:t>
            </a:r>
            <a:r>
              <a:rPr lang="pt-PT" sz="1150" noProof="0" dirty="0">
                <a:solidFill>
                  <a:srgbClr val="182A32"/>
                </a:solidFill>
                <a:latin typeface="Calibri" pitchFamily="34" charset="0"/>
                <a:ea typeface="Calibri" pitchFamily="34" charset="-122"/>
                <a:cs typeface="Calibri" pitchFamily="34" charset="-120"/>
              </a:rPr>
              <a:t>, </a:t>
            </a:r>
            <a:r>
              <a:rPr lang="pt-PT" sz="1150" noProof="0" dirty="0" err="1">
                <a:solidFill>
                  <a:srgbClr val="182A32"/>
                </a:solidFill>
                <a:latin typeface="Calibri" pitchFamily="34" charset="0"/>
                <a:ea typeface="Calibri" pitchFamily="34" charset="-122"/>
                <a:cs typeface="Calibri" pitchFamily="34" charset="-120"/>
              </a:rPr>
              <a:t>and</a:t>
            </a:r>
            <a:r>
              <a:rPr lang="pt-PT" sz="1150" noProof="0" dirty="0">
                <a:solidFill>
                  <a:srgbClr val="182A32"/>
                </a:solidFill>
                <a:latin typeface="Calibri" pitchFamily="34" charset="0"/>
                <a:ea typeface="Calibri" pitchFamily="34" charset="-122"/>
                <a:cs typeface="Calibri" pitchFamily="34" charset="-120"/>
              </a:rPr>
              <a:t> </a:t>
            </a:r>
            <a:r>
              <a:rPr lang="pt-PT" sz="1150" noProof="0" dirty="0" err="1">
                <a:solidFill>
                  <a:srgbClr val="182A32"/>
                </a:solidFill>
                <a:latin typeface="Calibri" pitchFamily="34" charset="0"/>
                <a:ea typeface="Calibri" pitchFamily="34" charset="-122"/>
                <a:cs typeface="Calibri" pitchFamily="34" charset="-120"/>
              </a:rPr>
              <a:t>mass</a:t>
            </a:r>
            <a:r>
              <a:rPr lang="pt-PT" sz="1150" noProof="0" dirty="0">
                <a:solidFill>
                  <a:srgbClr val="182A32"/>
                </a:solidFill>
                <a:latin typeface="Calibri" pitchFamily="34" charset="0"/>
                <a:ea typeface="Calibri" pitchFamily="34" charset="-122"/>
                <a:cs typeface="Calibri" pitchFamily="34" charset="-120"/>
              </a:rPr>
              <a:t> </a:t>
            </a:r>
            <a:r>
              <a:rPr lang="pt-PT" sz="1150" noProof="0" dirty="0" err="1">
                <a:solidFill>
                  <a:srgbClr val="182A32"/>
                </a:solidFill>
                <a:latin typeface="Calibri" pitchFamily="34" charset="0"/>
                <a:ea typeface="Calibri" pitchFamily="34" charset="-122"/>
                <a:cs typeface="Calibri" pitchFamily="34" charset="-120"/>
              </a:rPr>
              <a:t>transfer</a:t>
            </a:r>
            <a:r>
              <a:rPr lang="pt-PT" sz="1150" noProof="0" dirty="0">
                <a:solidFill>
                  <a:srgbClr val="182A32"/>
                </a:solidFill>
                <a:latin typeface="Calibri" pitchFamily="34" charset="0"/>
                <a:ea typeface="Calibri" pitchFamily="34" charset="-122"/>
                <a:cs typeface="Calibri" pitchFamily="34" charset="-120"/>
              </a:rPr>
              <a:t>. 6th ed. </a:t>
            </a:r>
            <a:r>
              <a:rPr lang="pt-PT" sz="1150" noProof="0" dirty="0" err="1">
                <a:solidFill>
                  <a:srgbClr val="182A32"/>
                </a:solidFill>
                <a:latin typeface="Calibri" pitchFamily="34" charset="0"/>
                <a:ea typeface="Calibri" pitchFamily="34" charset="-122"/>
                <a:cs typeface="Calibri" pitchFamily="34" charset="-120"/>
              </a:rPr>
              <a:t>Hoboken</a:t>
            </a:r>
            <a:r>
              <a:rPr lang="pt-PT" sz="1150" noProof="0" dirty="0">
                <a:solidFill>
                  <a:srgbClr val="182A32"/>
                </a:solidFill>
                <a:latin typeface="Calibri" pitchFamily="34" charset="0"/>
                <a:ea typeface="Calibri" pitchFamily="34" charset="-122"/>
                <a:cs typeface="Calibri" pitchFamily="34" charset="-120"/>
              </a:rPr>
              <a:t>: </a:t>
            </a:r>
            <a:r>
              <a:rPr lang="pt-PT" sz="1150" noProof="0" dirty="0" err="1">
                <a:solidFill>
                  <a:srgbClr val="182A32"/>
                </a:solidFill>
                <a:latin typeface="Calibri" pitchFamily="34" charset="0"/>
                <a:ea typeface="Calibri" pitchFamily="34" charset="-122"/>
                <a:cs typeface="Calibri" pitchFamily="34" charset="-120"/>
              </a:rPr>
              <a:t>Wiley</a:t>
            </a:r>
            <a:r>
              <a:rPr lang="pt-PT" sz="1150" noProof="0" dirty="0">
                <a:solidFill>
                  <a:srgbClr val="182A32"/>
                </a:solidFill>
                <a:latin typeface="Calibri" pitchFamily="34" charset="0"/>
                <a:ea typeface="Calibri" pitchFamily="34" charset="-122"/>
                <a:cs typeface="Calibri" pitchFamily="34" charset="-120"/>
              </a:rPr>
              <a:t>, 2015.</a:t>
            </a:r>
            <a:endParaRPr lang="pt-PT" sz="1150" noProof="0" dirty="0"/>
          </a:p>
          <a:p>
            <a:pPr marL="342900" indent="-342900">
              <a:lnSpc>
                <a:spcPts val="2000"/>
              </a:lnSpc>
              <a:spcAft>
                <a:spcPts val="600"/>
              </a:spcAft>
              <a:buSzPct val="100000"/>
              <a:buChar char="•"/>
            </a:pPr>
            <a:r>
              <a:rPr lang="pt-PT" sz="1150" noProof="0" dirty="0">
                <a:solidFill>
                  <a:srgbClr val="182A32"/>
                </a:solidFill>
                <a:latin typeface="Calibri" pitchFamily="34" charset="0"/>
                <a:ea typeface="Calibri" pitchFamily="34" charset="-122"/>
                <a:cs typeface="Calibri" pitchFamily="34" charset="-120"/>
              </a:rPr>
              <a:t>WHITE, F. M. Mecânica dos fluidos. 8. ed. Porto Alegre: AMGH, 2018.</a:t>
            </a:r>
            <a:endParaRPr lang="pt-PT" sz="1150" noProof="0" dirty="0"/>
          </a:p>
        </p:txBody>
      </p:sp>
      <p:sp>
        <p:nvSpPr>
          <p:cNvPr id="9" name="Text 6"/>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10" name="Text 7"/>
          <p:cNvSpPr/>
          <p:nvPr/>
        </p:nvSpPr>
        <p:spPr>
          <a:xfrm>
            <a:off x="5943600" y="6473952"/>
            <a:ext cx="41148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Fechamento</a:t>
            </a:r>
            <a:endParaRPr lang="pt-PT" sz="950" noProof="0" dirty="0"/>
          </a:p>
        </p:txBody>
      </p:sp>
      <p:sp>
        <p:nvSpPr>
          <p:cNvPr id="11" name="Text 8"/>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26</a:t>
            </a:r>
            <a:endParaRPr lang="pt-PT" sz="950" noProof="0" dirty="0"/>
          </a:p>
        </p:txBody>
      </p:sp>
      <p:pic>
        <p:nvPicPr>
          <p:cNvPr id="14" name="Picture 13" descr="A screenshot of a computer&#10;&#10;AI-generated content may be incorrect.">
            <a:extLst>
              <a:ext uri="{FF2B5EF4-FFF2-40B4-BE49-F238E27FC236}">
                <a16:creationId xmlns:a16="http://schemas.microsoft.com/office/drawing/2014/main" id="{BF01BEFD-2F42-0220-6CB2-B5EACE6B653F}"/>
              </a:ext>
            </a:extLst>
          </p:cNvPr>
          <p:cNvPicPr>
            <a:picLocks noChangeAspect="1"/>
          </p:cNvPicPr>
          <p:nvPr/>
        </p:nvPicPr>
        <p:blipFill>
          <a:blip r:embed="rId3"/>
          <a:srcRect l="6483" r="19180"/>
          <a:stretch>
            <a:fillRect/>
          </a:stretch>
        </p:blipFill>
        <p:spPr>
          <a:xfrm>
            <a:off x="8124159" y="146442"/>
            <a:ext cx="3701776" cy="2093838"/>
          </a:xfrm>
          <a:prstGeom prst="rect">
            <a:avLst/>
          </a:prstGeom>
        </p:spPr>
      </p:pic>
      <p:pic>
        <p:nvPicPr>
          <p:cNvPr id="18" name="Picture 17" descr="A screenshot of a book&#10;&#10;AI-generated content may be incorrect.">
            <a:extLst>
              <a:ext uri="{FF2B5EF4-FFF2-40B4-BE49-F238E27FC236}">
                <a16:creationId xmlns:a16="http://schemas.microsoft.com/office/drawing/2014/main" id="{DF3A36A1-68A6-0BD4-4325-4B87B8C069CB}"/>
              </a:ext>
            </a:extLst>
          </p:cNvPr>
          <p:cNvPicPr>
            <a:picLocks noChangeAspect="1"/>
          </p:cNvPicPr>
          <p:nvPr/>
        </p:nvPicPr>
        <p:blipFill>
          <a:blip r:embed="rId4"/>
          <a:stretch>
            <a:fillRect/>
          </a:stretch>
        </p:blipFill>
        <p:spPr>
          <a:xfrm>
            <a:off x="8124159" y="4251960"/>
            <a:ext cx="3714624" cy="2093838"/>
          </a:xfrm>
          <a:prstGeom prst="rect">
            <a:avLst/>
          </a:prstGeom>
        </p:spPr>
      </p:pic>
      <p:pic>
        <p:nvPicPr>
          <p:cNvPr id="20" name="Picture 19" descr="A blue and white card with text&#10;&#10;AI-generated content may be incorrect.">
            <a:extLst>
              <a:ext uri="{FF2B5EF4-FFF2-40B4-BE49-F238E27FC236}">
                <a16:creationId xmlns:a16="http://schemas.microsoft.com/office/drawing/2014/main" id="{4C0D8E87-38CD-633A-D0BF-EA1D160AC326}"/>
              </a:ext>
            </a:extLst>
          </p:cNvPr>
          <p:cNvPicPr>
            <a:picLocks noChangeAspect="1"/>
          </p:cNvPicPr>
          <p:nvPr/>
        </p:nvPicPr>
        <p:blipFill>
          <a:blip r:embed="rId5"/>
          <a:stretch>
            <a:fillRect/>
          </a:stretch>
        </p:blipFill>
        <p:spPr>
          <a:xfrm>
            <a:off x="8125959" y="2296995"/>
            <a:ext cx="3699975" cy="192024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7">
    <p:bg>
      <p:bgPr>
        <a:solidFill>
          <a:srgbClr val="0B2545"/>
        </a:solidFill>
        <a:effectLst/>
      </p:bgPr>
    </p:bg>
    <p:spTree>
      <p:nvGrpSpPr>
        <p:cNvPr id="1" name=""/>
        <p:cNvGrpSpPr/>
        <p:nvPr/>
      </p:nvGrpSpPr>
      <p:grpSpPr>
        <a:xfrm>
          <a:off x="0" y="0"/>
          <a:ext cx="0" cy="0"/>
          <a:chOff x="0" y="0"/>
          <a:chExt cx="0" cy="0"/>
        </a:xfrm>
      </p:grpSpPr>
      <p:sp>
        <p:nvSpPr>
          <p:cNvPr id="3" name="Shape 0"/>
          <p:cNvSpPr/>
          <p:nvPr/>
        </p:nvSpPr>
        <p:spPr>
          <a:xfrm>
            <a:off x="-2286000" y="-1828800"/>
            <a:ext cx="5486400" cy="5486400"/>
          </a:xfrm>
          <a:prstGeom prst="ellipse">
            <a:avLst/>
          </a:prstGeom>
          <a:solidFill>
            <a:srgbClr val="10345C"/>
          </a:solidFill>
          <a:ln/>
        </p:spPr>
        <p:txBody>
          <a:bodyPr/>
          <a:lstStyle/>
          <a:p>
            <a:endParaRPr lang="pt-PT" noProof="0" dirty="0"/>
          </a:p>
        </p:txBody>
      </p:sp>
      <p:sp>
        <p:nvSpPr>
          <p:cNvPr id="4" name="Text 1"/>
          <p:cNvSpPr/>
          <p:nvPr/>
        </p:nvSpPr>
        <p:spPr>
          <a:xfrm>
            <a:off x="822960" y="2743200"/>
            <a:ext cx="10515600" cy="914400"/>
          </a:xfrm>
          <a:prstGeom prst="rect">
            <a:avLst/>
          </a:prstGeom>
          <a:noFill/>
          <a:ln/>
        </p:spPr>
        <p:txBody>
          <a:bodyPr wrap="square" rtlCol="0" anchor="ctr"/>
          <a:lstStyle/>
          <a:p>
            <a:pPr marL="0" indent="0">
              <a:buNone/>
            </a:pPr>
            <a:r>
              <a:rPr lang="pt-PT" sz="3400" b="1" noProof="0" dirty="0">
                <a:solidFill>
                  <a:srgbClr val="FFFFFF"/>
                </a:solidFill>
                <a:latin typeface="Cambria" pitchFamily="34" charset="0"/>
                <a:ea typeface="Cambria" pitchFamily="34" charset="-122"/>
                <a:cs typeface="Cambria" pitchFamily="34" charset="-120"/>
              </a:rPr>
              <a:t>Obrigada pela atenção!</a:t>
            </a:r>
            <a:endParaRPr lang="pt-PT" sz="3400" noProof="0" dirty="0"/>
          </a:p>
        </p:txBody>
      </p:sp>
      <p:sp>
        <p:nvSpPr>
          <p:cNvPr id="5" name="Text 2"/>
          <p:cNvSpPr/>
          <p:nvPr/>
        </p:nvSpPr>
        <p:spPr>
          <a:xfrm>
            <a:off x="822960" y="3520440"/>
            <a:ext cx="10058400" cy="457200"/>
          </a:xfrm>
          <a:prstGeom prst="rect">
            <a:avLst/>
          </a:prstGeom>
          <a:noFill/>
          <a:ln/>
        </p:spPr>
        <p:txBody>
          <a:bodyPr wrap="square" rtlCol="0" anchor="ctr"/>
          <a:lstStyle/>
          <a:p>
            <a:pPr marL="0" indent="0">
              <a:buNone/>
            </a:pPr>
            <a:r>
              <a:rPr lang="pt-PT" sz="1300" i="1" noProof="0" dirty="0">
                <a:solidFill>
                  <a:srgbClr val="0FA3B1"/>
                </a:solidFill>
                <a:latin typeface="Calibri" pitchFamily="34" charset="0"/>
                <a:ea typeface="Calibri" pitchFamily="34" charset="-122"/>
                <a:cs typeface="Calibri" pitchFamily="34" charset="-120"/>
              </a:rPr>
              <a:t>Transferência de Calor por Convecção · Lei de Resfriamento de Newton · Coeficientes Convectivos</a:t>
            </a:r>
            <a:endParaRPr lang="pt-PT" sz="1300" noProof="0" dirty="0"/>
          </a:p>
        </p:txBody>
      </p:sp>
      <p:sp>
        <p:nvSpPr>
          <p:cNvPr id="6" name="Text 3"/>
          <p:cNvSpPr/>
          <p:nvPr/>
        </p:nvSpPr>
        <p:spPr>
          <a:xfrm>
            <a:off x="822960" y="4206240"/>
            <a:ext cx="4572000" cy="1824170"/>
          </a:xfrm>
          <a:prstGeom prst="rect">
            <a:avLst/>
          </a:prstGeom>
          <a:noFill/>
          <a:ln/>
        </p:spPr>
        <p:txBody>
          <a:bodyPr wrap="square" rtlCol="0" anchor="ctr"/>
          <a:lstStyle/>
          <a:p>
            <a:pPr marL="0" indent="0">
              <a:buNone/>
            </a:pPr>
            <a:r>
              <a:rPr lang="pt-PT" sz="1600" noProof="0" dirty="0">
                <a:solidFill>
                  <a:srgbClr val="CFE3EC"/>
                </a:solidFill>
                <a:latin typeface="Calibri" pitchFamily="34" charset="0"/>
                <a:ea typeface="Calibri" pitchFamily="34" charset="-122"/>
                <a:cs typeface="Calibri" pitchFamily="34" charset="-120"/>
              </a:rPr>
              <a:t>Perguntas?</a:t>
            </a:r>
          </a:p>
          <a:p>
            <a:pPr marL="0" indent="0">
              <a:buNone/>
            </a:pPr>
            <a:endParaRPr lang="pt-PT" sz="1600" noProof="0" dirty="0">
              <a:solidFill>
                <a:srgbClr val="CFE3EC"/>
              </a:solidFill>
              <a:latin typeface="Calibri" pitchFamily="34" charset="0"/>
              <a:cs typeface="Calibri" pitchFamily="34" charset="-120"/>
            </a:endParaRPr>
          </a:p>
          <a:p>
            <a:pPr marL="0" indent="0">
              <a:buNone/>
            </a:pPr>
            <a:r>
              <a:rPr lang="pt-PT" sz="1600" noProof="0" dirty="0">
                <a:solidFill>
                  <a:srgbClr val="CFE3EC"/>
                </a:solidFill>
                <a:latin typeface="Calibri" pitchFamily="34" charset="0"/>
                <a:cs typeface="Calibri" pitchFamily="34" charset="-120"/>
                <a:hlinkClick r:id="rId3"/>
              </a:rPr>
              <a:t>fonseca@unicamp.br</a:t>
            </a:r>
            <a:endParaRPr lang="pt-PT" sz="1600" noProof="0" dirty="0">
              <a:solidFill>
                <a:srgbClr val="CFE3EC"/>
              </a:solidFill>
              <a:latin typeface="Calibri" pitchFamily="34" charset="0"/>
              <a:cs typeface="Calibri" pitchFamily="34" charset="-120"/>
            </a:endParaRPr>
          </a:p>
          <a:p>
            <a:pPr marL="0" indent="0">
              <a:buNone/>
            </a:pPr>
            <a:endParaRPr lang="pt-PT" sz="1600" noProof="0" dirty="0">
              <a:solidFill>
                <a:srgbClr val="CFE3EC"/>
              </a:solidFill>
              <a:latin typeface="Calibri" pitchFamily="34" charset="0"/>
              <a:cs typeface="Calibri" pitchFamily="34" charset="-120"/>
            </a:endParaRPr>
          </a:p>
          <a:p>
            <a:pPr marL="0" indent="0">
              <a:buNone/>
            </a:pPr>
            <a:r>
              <a:rPr lang="pt-PT" sz="1600" noProof="0" dirty="0">
                <a:solidFill>
                  <a:srgbClr val="CFE3EC"/>
                </a:solidFill>
                <a:latin typeface="Calibri" pitchFamily="34" charset="0"/>
                <a:cs typeface="Calibri" pitchFamily="34" charset="-120"/>
              </a:rPr>
              <a:t>PAD: eb402-pad2026@unicamp.br</a:t>
            </a:r>
          </a:p>
          <a:p>
            <a:r>
              <a:rPr lang="pt-PT" sz="1600" noProof="0" dirty="0">
                <a:solidFill>
                  <a:srgbClr val="CFE3EC"/>
                </a:solidFill>
                <a:latin typeface="Calibri" pitchFamily="34" charset="0"/>
                <a:cs typeface="Calibri" pitchFamily="34" charset="-120"/>
              </a:rPr>
              <a:t>PED</a:t>
            </a:r>
            <a:r>
              <a:rPr lang="pt-PT" sz="1600" dirty="0">
                <a:solidFill>
                  <a:srgbClr val="CFE3EC"/>
                </a:solidFill>
                <a:latin typeface="Calibri" pitchFamily="34" charset="0"/>
                <a:cs typeface="Calibri" pitchFamily="34" charset="-120"/>
              </a:rPr>
              <a:t>: eb402-ped2026@unicamp.br</a:t>
            </a:r>
          </a:p>
        </p:txBody>
      </p:sp>
      <p:sp>
        <p:nvSpPr>
          <p:cNvPr id="7" name="Text 4"/>
          <p:cNvSpPr/>
          <p:nvPr/>
        </p:nvSpPr>
        <p:spPr>
          <a:xfrm>
            <a:off x="457200" y="6473952"/>
            <a:ext cx="6400800" cy="274320"/>
          </a:xfrm>
          <a:prstGeom prst="rect">
            <a:avLst/>
          </a:prstGeom>
          <a:noFill/>
          <a:ln/>
        </p:spPr>
        <p:txBody>
          <a:bodyPr wrap="square" rtlCol="0" anchor="ctr"/>
          <a:lstStyle/>
          <a:p>
            <a:pPr marL="0" indent="0" algn="l">
              <a:buNone/>
            </a:pPr>
            <a:r>
              <a:rPr lang="pt-PT" sz="950" noProof="0" dirty="0">
                <a:solidFill>
                  <a:srgbClr val="57707A"/>
                </a:solidFill>
                <a:latin typeface="Calibri" pitchFamily="34" charset="0"/>
                <a:ea typeface="Calibri" pitchFamily="34" charset="-122"/>
                <a:cs typeface="Calibri" pitchFamily="34" charset="-120"/>
              </a:rPr>
              <a:t>Fenômenos de Transporte  ·  Engenharia Ambiental</a:t>
            </a:r>
            <a:endParaRPr lang="pt-PT" sz="950" noProof="0" dirty="0"/>
          </a:p>
        </p:txBody>
      </p:sp>
      <p:sp>
        <p:nvSpPr>
          <p:cNvPr id="8" name="Text 5"/>
          <p:cNvSpPr/>
          <p:nvPr/>
        </p:nvSpPr>
        <p:spPr>
          <a:xfrm>
            <a:off x="11368735" y="6473952"/>
            <a:ext cx="457200" cy="274320"/>
          </a:xfrm>
          <a:prstGeom prst="rect">
            <a:avLst/>
          </a:prstGeom>
          <a:noFill/>
          <a:ln/>
        </p:spPr>
        <p:txBody>
          <a:bodyPr wrap="square" rtlCol="0" anchor="ctr"/>
          <a:lstStyle/>
          <a:p>
            <a:pPr marL="0" indent="0" algn="r">
              <a:buNone/>
            </a:pPr>
            <a:r>
              <a:rPr lang="pt-PT" sz="950" noProof="0" dirty="0">
                <a:solidFill>
                  <a:srgbClr val="57707A"/>
                </a:solidFill>
                <a:latin typeface="Calibri" pitchFamily="34" charset="0"/>
                <a:ea typeface="Calibri" pitchFamily="34" charset="-122"/>
                <a:cs typeface="Calibri" pitchFamily="34" charset="-120"/>
              </a:rPr>
              <a:t>26</a:t>
            </a:r>
            <a:endParaRPr lang="pt-PT" sz="95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766</TotalTime>
  <Words>8696</Words>
  <Application>Microsoft Macintosh PowerPoint</Application>
  <PresentationFormat>Widescreen</PresentationFormat>
  <Paragraphs>736</Paragraphs>
  <Slides>48</Slides>
  <Notes>48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Aptos</vt:lpstr>
      <vt:lpstr>Arial</vt:lpstr>
      <vt:lpstr>Calibri</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Camila Fonseca</cp:lastModifiedBy>
  <cp:revision>27</cp:revision>
  <dcterms:created xsi:type="dcterms:W3CDTF">2026-08-16T17:27:34Z</dcterms:created>
  <dcterms:modified xsi:type="dcterms:W3CDTF">2026-08-19T00:03:26Z</dcterms:modified>
</cp:coreProperties>
</file>